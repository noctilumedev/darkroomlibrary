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1d3ae7887449f3" /><Relationship Type="http://schemas.openxmlformats.org/officeDocument/2006/relationships/extended-properties" Target="/docProps/app.xml" Id="R42dc0b46ab204e89" /><Relationship Type="http://schemas.openxmlformats.org/officeDocument/2006/relationships/officeDocument" Target="/ppt/presentation.xml" Id="Rb7b4aac6692b417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16b8c3d2fd4f00"/>
  </p:sldMasterIdLst>
  <p:notesMasterIdLst>
    <p:notesMasterId xmlns:r="http://schemas.openxmlformats.org/officeDocument/2006/relationships" r:id="R62d9f24388194c9e"/>
  </p:notesMasterIdLst>
  <p:sldIdLst>
    <p:sldId xmlns:r="http://schemas.openxmlformats.org/officeDocument/2006/relationships" id="256" r:id="R1cc1f9039bba4785"/>
    <p:sldId xmlns:r="http://schemas.openxmlformats.org/officeDocument/2006/relationships" id="257" r:id="R759d18af8e054d15"/>
    <p:sldId xmlns:r="http://schemas.openxmlformats.org/officeDocument/2006/relationships" id="258" r:id="Rcd76ffb2262d448a"/>
    <p:sldId xmlns:r="http://schemas.openxmlformats.org/officeDocument/2006/relationships" id="259" r:id="R244fb08764d843c6"/>
    <p:sldId xmlns:r="http://schemas.openxmlformats.org/officeDocument/2006/relationships" id="260" r:id="Rf96aa154cbd84dca"/>
    <p:sldId xmlns:r="http://schemas.openxmlformats.org/officeDocument/2006/relationships" id="261" r:id="R2ea5d3817646449b"/>
    <p:sldId xmlns:r="http://schemas.openxmlformats.org/officeDocument/2006/relationships" id="262" r:id="R4cac7e5a9c7b46ed"/>
    <p:sldId xmlns:r="http://schemas.openxmlformats.org/officeDocument/2006/relationships" id="263" r:id="Rb46ec3902fd745f1"/>
    <p:sldId xmlns:r="http://schemas.openxmlformats.org/officeDocument/2006/relationships" id="264" r:id="R9a4dc988c39f4625"/>
    <p:sldId xmlns:r="http://schemas.openxmlformats.org/officeDocument/2006/relationships" id="265" r:id="Rbe0c8185e37a42db"/>
    <p:sldId xmlns:r="http://schemas.openxmlformats.org/officeDocument/2006/relationships" id="266" r:id="Re17db2f73a5741f2"/>
    <p:sldId xmlns:r="http://schemas.openxmlformats.org/officeDocument/2006/relationships" id="267" r:id="R92c335e95e6243f0"/>
    <p:sldId xmlns:r="http://schemas.openxmlformats.org/officeDocument/2006/relationships" id="268" r:id="Raf9dad356a40479b"/>
    <p:sldId xmlns:r="http://schemas.openxmlformats.org/officeDocument/2006/relationships" id="269" r:id="R009906468faa4ce4"/>
    <p:sldId xmlns:r="http://schemas.openxmlformats.org/officeDocument/2006/relationships" id="270" r:id="R59a64dc801eb42c6"/>
    <p:sldId xmlns:r="http://schemas.openxmlformats.org/officeDocument/2006/relationships" id="271" r:id="R4695e4c865c3497b"/>
    <p:sldId xmlns:r="http://schemas.openxmlformats.org/officeDocument/2006/relationships" id="272" r:id="R6be5e7dfa0ff4431"/>
    <p:sldId xmlns:r="http://schemas.openxmlformats.org/officeDocument/2006/relationships" id="273" r:id="R8fda87d4ec39484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fb8160307444151" /><Relationship Type="http://schemas.openxmlformats.org/officeDocument/2006/relationships/slideMaster" Target="/ppt/slideMasters/slideMaster1.xml" Id="R4016b8c3d2fd4f00" /><Relationship Type="http://schemas.openxmlformats.org/officeDocument/2006/relationships/notesMaster" Target="/ppt/notesMasters/notesMaster1.xml" Id="R62d9f24388194c9e" /><Relationship Type="http://schemas.openxmlformats.org/officeDocument/2006/relationships/presProps" Target="/ppt/presProps.xml" Id="R9ab7f0b2768942e4" /><Relationship Type="http://schemas.openxmlformats.org/officeDocument/2006/relationships/viewProps" Target="/ppt/viewProps.xml" Id="R2ac50ee37bf24aec" /><Relationship Type="http://schemas.openxmlformats.org/officeDocument/2006/relationships/tableStyles" Target="/ppt/tableStyles.xml" Id="Re591e52c18944ff1" /><Relationship Type="http://schemas.openxmlformats.org/officeDocument/2006/relationships/slide" Target="/ppt/slides/slide1.xml" Id="R1cc1f9039bba4785" /><Relationship Type="http://schemas.openxmlformats.org/officeDocument/2006/relationships/slide" Target="/ppt/slides/slide2.xml" Id="R759d18af8e054d15" /><Relationship Type="http://schemas.openxmlformats.org/officeDocument/2006/relationships/slide" Target="/ppt/slides/slide3.xml" Id="Rcd76ffb2262d448a" /><Relationship Type="http://schemas.openxmlformats.org/officeDocument/2006/relationships/slide" Target="/ppt/slides/slide4.xml" Id="R244fb08764d843c6" /><Relationship Type="http://schemas.openxmlformats.org/officeDocument/2006/relationships/slide" Target="/ppt/slides/slide5.xml" Id="Rf96aa154cbd84dca" /><Relationship Type="http://schemas.openxmlformats.org/officeDocument/2006/relationships/slide" Target="/ppt/slides/slide6.xml" Id="R2ea5d3817646449b" /><Relationship Type="http://schemas.openxmlformats.org/officeDocument/2006/relationships/slide" Target="/ppt/slides/slide7.xml" Id="R4cac7e5a9c7b46ed" /><Relationship Type="http://schemas.openxmlformats.org/officeDocument/2006/relationships/slide" Target="/ppt/slides/slide8.xml" Id="Rb46ec3902fd745f1" /><Relationship Type="http://schemas.openxmlformats.org/officeDocument/2006/relationships/slide" Target="/ppt/slides/slide9.xml" Id="R9a4dc988c39f4625" /><Relationship Type="http://schemas.openxmlformats.org/officeDocument/2006/relationships/slide" Target="/ppt/slides/slide10.xml" Id="Rbe0c8185e37a42db" /><Relationship Type="http://schemas.openxmlformats.org/officeDocument/2006/relationships/slide" Target="/ppt/slides/slide11.xml" Id="Re17db2f73a5741f2" /><Relationship Type="http://schemas.openxmlformats.org/officeDocument/2006/relationships/slide" Target="/ppt/slides/slide12.xml" Id="R92c335e95e6243f0" /><Relationship Type="http://schemas.openxmlformats.org/officeDocument/2006/relationships/slide" Target="/ppt/slides/slide13.xml" Id="Raf9dad356a40479b" /><Relationship Type="http://schemas.openxmlformats.org/officeDocument/2006/relationships/slide" Target="/ppt/slides/slide14.xml" Id="R009906468faa4ce4" /><Relationship Type="http://schemas.openxmlformats.org/officeDocument/2006/relationships/slide" Target="/ppt/slides/slide15.xml" Id="R59a64dc801eb42c6" /><Relationship Type="http://schemas.openxmlformats.org/officeDocument/2006/relationships/slide" Target="/ppt/slides/slide16.xml" Id="R4695e4c865c3497b" /><Relationship Type="http://schemas.openxmlformats.org/officeDocument/2006/relationships/slide" Target="/ppt/slides/slide17.xml" Id="R6be5e7dfa0ff4431" /><Relationship Type="http://schemas.openxmlformats.org/officeDocument/2006/relationships/slide" Target="/ppt/slides/slide18.xml" Id="R8fda87d4ec39484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54b81d10fe40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82fe8191a44879" /><Relationship Type="http://schemas.openxmlformats.org/officeDocument/2006/relationships/notesMaster" Target="/ppt/notesMasters/notesMaster1.xml" Id="R585a27f59fc34c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9cf66a2b874202" /><Relationship Type="http://schemas.openxmlformats.org/officeDocument/2006/relationships/notesMaster" Target="/ppt/notesMasters/notesMaster1.xml" Id="R931b39c929d64fc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6b5f242671e4166" /><Relationship Type="http://schemas.openxmlformats.org/officeDocument/2006/relationships/notesMaster" Target="/ppt/notesMasters/notesMaster1.xml" Id="R63482a73fc8544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eac965832c2422f" /><Relationship Type="http://schemas.openxmlformats.org/officeDocument/2006/relationships/notesMaster" Target="/ppt/notesMasters/notesMaster1.xml" Id="Re143338973e6454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ffd47a6f6f4f34" /><Relationship Type="http://schemas.openxmlformats.org/officeDocument/2006/relationships/notesMaster" Target="/ppt/notesMasters/notesMaster1.xml" Id="Rb004440a40aa49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9464752bcc4f9a" /><Relationship Type="http://schemas.openxmlformats.org/officeDocument/2006/relationships/notesMaster" Target="/ppt/notesMasters/notesMaster1.xml" Id="R4bcd4ffba72048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faa809984f48f4" /><Relationship Type="http://schemas.openxmlformats.org/officeDocument/2006/relationships/notesMaster" Target="/ppt/notesMasters/notesMaster1.xml" Id="R27f6d79ac4a349a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57731fd8308477a" /><Relationship Type="http://schemas.openxmlformats.org/officeDocument/2006/relationships/notesMaster" Target="/ppt/notesMasters/notesMaster1.xml" Id="Rdbc9e154213047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5085c3e016744a3" /><Relationship Type="http://schemas.openxmlformats.org/officeDocument/2006/relationships/notesMaster" Target="/ppt/notesMasters/notesMaster1.xml" Id="R5c3a5d96e55e42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f6a447c0c514566" /><Relationship Type="http://schemas.openxmlformats.org/officeDocument/2006/relationships/notesMaster" Target="/ppt/notesMasters/notesMaster1.xml" Id="Rb58677c7e63d473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d652e8ecb5e4225" /><Relationship Type="http://schemas.openxmlformats.org/officeDocument/2006/relationships/notesMaster" Target="/ppt/notesMasters/notesMaster1.xml" Id="R730440f937394ae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043a382c0544b74" /><Relationship Type="http://schemas.openxmlformats.org/officeDocument/2006/relationships/notesMaster" Target="/ppt/notesMasters/notesMaster1.xml" Id="R18decbe1a4cc4e0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4af215964c40ea" /><Relationship Type="http://schemas.openxmlformats.org/officeDocument/2006/relationships/notesMaster" Target="/ppt/notesMasters/notesMaster1.xml" Id="R3cc29808728347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70831481624def" /><Relationship Type="http://schemas.openxmlformats.org/officeDocument/2006/relationships/notesMaster" Target="/ppt/notesMasters/notesMaster1.xml" Id="R2f82a0f335b045d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4da020529584951" /><Relationship Type="http://schemas.openxmlformats.org/officeDocument/2006/relationships/notesMaster" Target="/ppt/notesMasters/notesMaster1.xml" Id="R255b1192eb1b46b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a9885ceefab4dc4" /><Relationship Type="http://schemas.openxmlformats.org/officeDocument/2006/relationships/notesMaster" Target="/ppt/notesMasters/notesMaster1.xml" Id="Rd547568a250e450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7ab098ee4ca48be" /><Relationship Type="http://schemas.openxmlformats.org/officeDocument/2006/relationships/notesMaster" Target="/ppt/notesMasters/notesMaster1.xml" Id="Ra37581377f3048b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63a7b512add4a48" /><Relationship Type="http://schemas.openxmlformats.org/officeDocument/2006/relationships/notesMaster" Target="/ppt/notesMasters/notesMaster1.xml" Id="R22bc528bf25d46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开场先说明：项目想法始于 2026 年 5 月；7 月短学期提供了集中实现机会，课程提交后继续在暑假独立重构。早期课程版本很简单，当前公开基线已统一为 Vue 3 + Vite 和 Spring Boot 3，并覆盖借阅、归还、预约、采购补货、内容审核、系统审计和中间件降级。Git 在项目中途引入，因此仓库从审查后的公开基线开始；截图使用当前前端和固定的虚构演示数据生成。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- Project history: docs/project-history.md.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给非技术观众一个最简单的定义：系统处理的是书的完整生命周期，而不是数据库里的一行记录。四条链路分别对应读者使用、社区互动、馆藏供应和系统治理。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重点解释角色边界。系统保留 5 个基础角色码，但验收时区分 6 个固定权限身份：超级管理员、馆务协调员、普通管理员、读者、采购员和物流员。馆务协调员由超级管理员授予管理员能力标记，既允许跨管理员协调采购，又不引入第六套角色码，也不会越过文件治理和全局导出边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读者端不是传统左侧菜单后台。首次进入保留暗室与灯火意象，登录后仍提供明确的找书、借阅、收藏和留言入口。书名、作者、评论和封面均使用项目专用的虚构演示数据。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这里是系统最重要的技术点。库存扣减和借阅记录写入在同一个数据库事务中，通过条件更新解决并发竞争。测试已经覆盖库存为 1、多线程同时借阅时只能成功一人的场景。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这页解释为什么系统不是简单的借还表。续借受次数、时间窗口和预约队列限制；预约遵循先来先服务；罚款有封顶，避免无限增长。通知属于旁路，不影响核心事务。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读者可以查看最新或最热书评、点赞、取消点赞、回复和举报。管理员在内容审核中选择隐藏违规内容或忽略无效举报，这些操作会进入审计日志。演示评论和用户名均为重新编写的虚构内容。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采购闭环从低库存开始：管理员提出需求，采购员认领并推进，物流员只处理分配给自己的任务。入库状态触发库存补充，状态条件防止重复入库。超级管理员可以查看全局记录。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这里强调纵深防护。前端隐藏菜单只是体验层；后端权限 AOP 判断角色和馆务协调权限，Service 继续判断目标用户、订单和文件的数据范围。用户名唯一约束、资料校验和敏感导出过滤共同守住边界。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系统使用清晰的单体分层。当前基线为 Spring Boot 3.5.16、MyBatis-Plus 3.5.17、Vue 3.5.40 和 Vite 8.1.5。Controller 不直连 Mapper；Service 管理事务和业务规则；Redis、MQ、邮件和文件系统通过适配层接入。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Technical versions: README.md and backend/frontend dependency manifests.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数据表按业务域分组。比如点赞和预约使用唯一约束防止重复，采购与物流用状态字段限制非法跳转，文件表同时记录物理文件、业务类型、引用编号和生命周期状态。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Redis 不可用时，验证码和登录失败计数切到本机内存，缓存查询直接访问数据库；Redis 恢复前会先回放删除意图，避免旧验证码或登录锁定键重新生效。RabbitMQ 不可用时，借还、预约等 MySQL 核心事务仍可提交，通知任务保留在数据库中并由定时任务补偿。操作审计不依赖 RabbitMQ，而是在业务提交后通过独立事务尽力写入；进程恰好在两次提交之间崩溃时，可能少一条审计记录。邮件失败只保留待重试任务，不回滚借还和预约。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 review: docs/architecture-review.md.</a:t>
            </a:r>
          </a:p>
          <a:p xmlns:a="http://schemas.openxmlformats.org/drawingml/2006/main">
            <a:r>
              <a:t>- Verification report: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注册页面在输入密码时动态显示规则，后端仍会再次验证密码强度。文件上传同时检查扩展名、MIME、大小和文件头，HTML 只能下载，私有附件需要登录和数据权限。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screenshot: tests/e2e/docs-screenshots.mjs, generated 2026-07-26.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读者端强调进入和阅读的氛围，但核心按钮保持清楚；个人资料弹窗沿用登录页的纸面底色、提示语和输入逻辑，保存按钮使用封蜡红。管理端优先信息密度和长期操作。最终浏览器诊断覆盖 116 个路由、396 次 API 响应和 5,362 次总网络响应，没有 Console、页面、网络或横向溢出异常；另完成 116 个页面和 21 个关键弹层的布局审查。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screenshots: tests/e2e/docs-screenshots.mjs, generated 2026-07-26.</a:t>
            </a:r>
          </a:p>
          <a:p xmlns:a="http://schemas.openxmlformats.org/drawingml/2006/main">
            <a:r>
              <a:t>- Browser evidence: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数字来自 2026-07-27 最终干净回归：后端 226 项、前端 31 项全部通过；6 个固定权限身份完成 78 次真实 API 响应；三个后端实例共享 MySQL，按 96、128、160 突发量分三批执行，每批 8 个一致性场景，三批共 1,986 次场景请求，最大场景 P95 为 461 ms；浏览器完成 116 个路由检查、396 次 API 响应和 5,362 次总网络响应，并完成 116 个页面和 21 个关键弹层的布局审查。27 个外键关系、领域不变量、Redis TTL、Redis/RabbitMQ 故障恢复与队列消费均通过。最终并发套件保留 2 条发送到虚构 .local 地址的可补偿通知任务，用于验证邮件失败恢复路径。当前数字是正确性与一致性证据，不是容量基准。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Verification summary: docs/verification-report.md.</a:t>
            </a:r>
          </a:p>
          <a:p xmlns:a="http://schemas.openxmlformats.org/drawingml/2006/main">
            <a:r>
              <a:t>- Multi-instance concurrency: frontend/dark-room-library-web/tests/e2e/multi-instance-consistency.mjs; summary: docs/verification-report.md.</a:t>
            </a:r>
          </a:p>
          <a:p xmlns:a="http://schemas.openxmlformats.org/drawingml/2006/main">
            <a:r>
              <a:t>- Browser diagnostics: frontend/dark-room-library-web/tests/e2e/browser-diagnostics.mjs; summary: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交付包不包含依赖和本地数据。新环境执行 sql/init-dark-room-library.sql，后端默认监听 20606，前端监听 5175。统一演示密码写在 README 与初始化 SQL 中，仅用于本地验收；面向公网部署前必须删除演示账号或逐个改密。中间件默认关闭，可在核心功能跑通后通过环境变量启用。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 and sql/init-dark-room-library.sql.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这页说明系统级取舍。当前代码已经统一为 Vue 3 + Vite 和 Spring Boot 3，并保留模块化单体与单库本地事务；不为了叙事拆微服务，也不在没有收益时强上 TCC 或 Elasticsearch。若未来真正拆分跨服务流程，再引入 transactional outbox、幂等消费和显式补偿。Git 在项目中途加入，因此首次提交明确标记为审查后的公开基线，不伪造课程阶段和暑假早期的提交。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 review: docs/architecture-review.md.</a:t>
            </a:r>
          </a:p>
          <a:p xmlns:a="http://schemas.openxmlformats.org/drawingml/2006/main">
            <a:r>
              <a:t>- Project history: docs/project-history.md.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结尾回到开场：项目的价值不是罗列 Controller 或数据表，而是业务、权限、数据和基础设施形成闭环；一致性边界、降级限制和测试证据都公开写清。当前版本可以运行、测试、解释和交付，历史说明只记录真实发生的中途 Git 采用、课程实现机会和暑假重构。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documentation: README.md, docs/project-history.md, docs/architecture-review.md, docs/verification-report.md.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21b0076c3341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be0f6380144eb8" /><Relationship Type="http://schemas.openxmlformats.org/officeDocument/2006/relationships/slideLayout" Target="/ppt/slideLayouts/slideLayout1.xml" Id="R9bbf7078b34848f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bf7078b34848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ba7a498e144f9c" /><Relationship Type="http://schemas.openxmlformats.org/officeDocument/2006/relationships/image" Target="/ppt/media/image.png" Id="R329c25c71aa84f51" /><Relationship Type="http://schemas.openxmlformats.org/officeDocument/2006/relationships/notesSlide" Target="/ppt/notesSlides/notesSlide1.xml" Id="R5d4df76748774b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6e916b0f74db7" /><Relationship Type="http://schemas.openxmlformats.org/officeDocument/2006/relationships/image" Target="/ppt/media/image2.png" Id="R7c18e7baab714d98" /><Relationship Type="http://schemas.openxmlformats.org/officeDocument/2006/relationships/notesSlide" Target="/ppt/notesSlides/notesSlide2.xml" Id="R536f47ec5e51401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bef635b5546c6" /><Relationship Type="http://schemas.openxmlformats.org/officeDocument/2006/relationships/notesSlide" Target="/ppt/notesSlides/notesSlide3.xml" Id="Ra3bc88b9083648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ac91d17cb4f8c" /><Relationship Type="http://schemas.openxmlformats.org/officeDocument/2006/relationships/image" Target="/ppt/media/image3.png" Id="Rf672c24940a243ab" /><Relationship Type="http://schemas.openxmlformats.org/officeDocument/2006/relationships/notesSlide" Target="/ppt/notesSlides/notesSlide4.xml" Id="R44d55c0e64af49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1397369d04cec" /><Relationship Type="http://schemas.openxmlformats.org/officeDocument/2006/relationships/notesSlide" Target="/ppt/notesSlides/notesSlide5.xml" Id="R769cd20ce256494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3773a86b6444a" /><Relationship Type="http://schemas.openxmlformats.org/officeDocument/2006/relationships/notesSlide" Target="/ppt/notesSlides/notesSlide6.xml" Id="R434154a9b57349f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64a5f3316b482b" /><Relationship Type="http://schemas.openxmlformats.org/officeDocument/2006/relationships/image" Target="/ppt/media/image4.png" Id="Rfa1a2f30eac4458d" /><Relationship Type="http://schemas.openxmlformats.org/officeDocument/2006/relationships/notesSlide" Target="/ppt/notesSlides/notesSlide7.xml" Id="Rc5876d2b8bc046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8432b0527849cc" /><Relationship Type="http://schemas.openxmlformats.org/officeDocument/2006/relationships/image" Target="/ppt/media/image5.png" Id="Rc3b46f1ef8984b91" /><Relationship Type="http://schemas.openxmlformats.org/officeDocument/2006/relationships/notesSlide" Target="/ppt/notesSlides/notesSlide8.xml" Id="R69908eb65580422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707e286bdd4156" /><Relationship Type="http://schemas.openxmlformats.org/officeDocument/2006/relationships/image" Target="/ppt/media/image6.png" Id="R2ac3bd47e5f34315" /><Relationship Type="http://schemas.openxmlformats.org/officeDocument/2006/relationships/notesSlide" Target="/ppt/notesSlides/notesSlide9.xml" Id="R68bd4061d89147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ac53271cc74b3d" /><Relationship Type="http://schemas.openxmlformats.org/officeDocument/2006/relationships/notesSlide" Target="/ppt/notesSlides/notesSlide10.xml" Id="R8ef92c7dec9249a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a16a5676424bce" /><Relationship Type="http://schemas.openxmlformats.org/officeDocument/2006/relationships/notesSlide" Target="/ppt/notesSlides/notesSlide11.xml" Id="Rdbd5c2652ce04a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e11f597684338" /><Relationship Type="http://schemas.openxmlformats.org/officeDocument/2006/relationships/notesSlide" Target="/ppt/notesSlides/notesSlide12.xml" Id="R572b6624cec1466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135c7b886a468a" /><Relationship Type="http://schemas.openxmlformats.org/officeDocument/2006/relationships/image" Target="/ppt/media/image7.png" Id="R0f2165dd41d146ad" /><Relationship Type="http://schemas.openxmlformats.org/officeDocument/2006/relationships/notesSlide" Target="/ppt/notesSlides/notesSlide13.xml" Id="R0b851997f196485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de3f46944d4d81" /><Relationship Type="http://schemas.openxmlformats.org/officeDocument/2006/relationships/image" Target="/ppt/media/image8.png" Id="Rdc5cb4ee62cf432f" /><Relationship Type="http://schemas.openxmlformats.org/officeDocument/2006/relationships/image" Target="/ppt/media/image9.png" Id="Re9212fba9eff45ab" /><Relationship Type="http://schemas.openxmlformats.org/officeDocument/2006/relationships/notesSlide" Target="/ppt/notesSlides/notesSlide14.xml" Id="R52ad15cd4616453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cf685875f14065" /><Relationship Type="http://schemas.openxmlformats.org/officeDocument/2006/relationships/notesSlide" Target="/ppt/notesSlides/notesSlide15.xml" Id="Rff5e20b2839149f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7995380f74d5f" /><Relationship Type="http://schemas.openxmlformats.org/officeDocument/2006/relationships/notesSlide" Target="/ppt/notesSlides/notesSlide16.xml" Id="Rc9457a44e8f9445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3fd36ed42543fe" /><Relationship Type="http://schemas.openxmlformats.org/officeDocument/2006/relationships/notesSlide" Target="/ppt/notesSlides/notesSlide17.xml" Id="R628d026052d34f5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ee69a37ab64fcb" /><Relationship Type="http://schemas.openxmlformats.org/officeDocument/2006/relationships/notesSlide" Target="/ppt/notesSlides/notesSlide18.xml" Id="R3dd3124ef547476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9c25c71aa84f5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B33812A-61BA-4AC7-A5DD-0B576025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0D0A">
              <a:alpha val="5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B6E9BF81-5867-4C72-8752-330B16B8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90650"/>
            <a:ext cx="47625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4A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BDF4BBD-A213-486E-BD9F-68F58636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485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SPRING BOOT 3 × VUE 3 + VITE</a:t>
            </a:r>
          </a:p>
        </p:txBody>
      </p:sp>
      <p:sp>
        <p:nvSpPr>
          <p:cNvPr id="5" name="deck-title">
            <a:extLst xmlns:a="http://schemas.openxmlformats.org/drawingml/2006/main">
              <a:ext uri="{FF2B5EF4-FFF2-40B4-BE49-F238E27FC236}">
                <a16:creationId xmlns:a16="http://schemas.microsoft.com/office/drawing/2014/main" id="{8A00A333-9E0B-4AD0-A14D-7953AB13A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43100"/>
            <a:ext cx="590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7F3EA"/>
                </a:solidFill>
              </a:defRPr>
            </a:pPr>
            <a:r>
              <a:rPr sz="4350" b="1">
                <a:solidFill>
                  <a:srgbClr val="F7F3EA"/>
                </a:solidFill>
              </a:rPr>
              <a:t>暗室藏书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43386FA-F542-4BA0-B66F-CCB457956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14650"/>
            <a:ext cx="676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D8DDD8"/>
                </a:solidFill>
              </a:defRPr>
            </a:pPr>
            <a:r>
              <a:rPr sz="1725" b="0">
                <a:solidFill>
                  <a:srgbClr val="D8DDD8"/>
                </a:solidFill>
              </a:rPr>
              <a:t>一套把借阅、互动、采购、审计与降级真正连起来的图书管理系统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4921BA7-4E32-411C-9BAC-FE9F9261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8671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项目介绍 · 2026.08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D2271C3-72EE-4282-B555-06EB9C1C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5924550"/>
            <a:ext cx="857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F7F3EA"/>
                </a:solidFill>
              </a:defRPr>
            </a:pPr>
            <a:r>
              <a:rPr sz="1650" b="1">
                <a:solidFill>
                  <a:srgbClr val="F7F3EA"/>
                </a:solidFill>
              </a:rPr>
              <a:t>DRL</a:t>
            </a:r>
          </a:p>
        </p:txBody>
      </p:sp>
    </p:spTree>
    <p:extLst>
      <p:ext uri="{BB962C8B-B14F-4D97-AF65-F5344CB8AC3E}">
        <p14:creationId xmlns:p14="http://schemas.microsoft.com/office/powerpoint/2010/main" val="17334976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97FD35A-A532-4AED-8473-E9A8DEDEC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01 · WHAT IT IS</a:t>
            </a:r>
          </a:p>
        </p:txBody>
      </p:sp>
      <p:sp>
        <p:nvSpPr>
          <p:cNvPr id="3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E4881083-F6FB-4C64-AB3B-73A1CD43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它不止管理书，还管理一条完整链路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C17208F-6D3F-4390-BD53-2EE1BB5C1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前台让读者愿意停留，后台让每一次流转都有结果。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5651ABA7-56A7-40D8-8570-AF262536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3E98B65-C8EE-42AA-8E5F-AF2DE183A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CCC7333-257B-42BC-AFC7-F23216E7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30A7C90-AE73-46C5-8323-213E728A1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A74A3C"/>
                </a:solidFill>
              </a:defRPr>
            </a:pPr>
            <a:r>
              <a:rPr sz="1650" b="1">
                <a:solidFill>
                  <a:srgbClr val="A74A3C"/>
                </a:solidFill>
              </a:rPr>
              <a:t>流通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661C3D1-3FE9-4996-8197-225EC573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431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借书、归还、续借、预约与罚款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09A55226-564B-42C2-9BF8-13DA272D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8AF4663-A6E5-484A-8AD2-2BF5C980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432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5E8074"/>
                </a:solidFill>
              </a:defRPr>
            </a:pPr>
            <a:r>
              <a:rPr sz="165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73E202F-D4E0-41CC-A9F7-05C869C0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622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书评、点赞、回复、举报与审核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350D179C-AE10-4AC5-A4C1-7A061E69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5277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5729B6C-9789-43E1-BB67-39010CEE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供应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1D07DC44-6710-4F8B-9F4B-1B5AEF5FE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814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低库存、采购、物流、入库补货</a:t>
            </a: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5D129417-3B5C-42E5-AA72-547758BE8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7192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5348D64-815C-425B-9B5B-78576AA88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8150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6352F"/>
                </a:solidFill>
              </a:defRPr>
            </a:pPr>
            <a:r>
              <a:rPr sz="1650" b="1">
                <a:solidFill>
                  <a:srgbClr val="26352F"/>
                </a:solidFill>
              </a:rPr>
              <a:t>治理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F2712BB-EE51-42FE-A19D-6CEAAC8F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0055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权限、文件、通知、日志与导出</a:t>
            </a: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8232C1BF-3097-452D-9BE7-B1AF08E69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0E1397E9-3FA1-4A5D-85FD-8744EA69A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714500"/>
            <a:ext cx="6076950" cy="428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43" name="图片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8e7baab714d9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84521" y="1771650"/>
            <a:ext cx="4928308" cy="4171950"/>
          </a:xfrm>
          <a:prstGeom xmlns:a="http://schemas.openxmlformats.org/drawingml/2006/main" prst="rect">
            <a:avLst/>
          </a:prstGeom>
        </p:spPr>
      </p:pic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9B0BDFE9-9024-4C33-8E4D-F88ACDA2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A74A3C"/>
                </a:solidFill>
              </a:defRPr>
            </a:pPr>
            <a:r>
              <a:rPr sz="975" b="1">
                <a:solidFill>
                  <a:srgbClr val="A74A3C"/>
                </a:solidFill>
              </a:rPr>
              <a:t>一句话理解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E38C2F8-7B2F-4AC0-8B35-EA9C3DEEF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E766F"/>
                </a:solidFill>
              </a:defRPr>
            </a:pPr>
            <a:r>
              <a:rPr sz="1350" b="0">
                <a:solidFill>
                  <a:srgbClr val="6E766F"/>
                </a:solidFill>
              </a:rPr>
              <a:t>让一本书从“被发现”到“被归还、被补货、被审计”都有明确去处。</a:t>
            </a:r>
          </a:p>
        </p:txBody>
      </p:sp>
    </p:spTree>
    <p:extLst>
      <p:ext uri="{BB962C8B-B14F-4D97-AF65-F5344CB8AC3E}">
        <p14:creationId xmlns:p14="http://schemas.microsoft.com/office/powerpoint/2010/main" val="2993194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FA370F-E4F8-4B9C-99CF-740CD2DE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02 · PEOPLE</a:t>
            </a:r>
          </a:p>
        </p:txBody>
      </p:sp>
      <p:sp>
        <p:nvSpPr>
          <p:cNvPr id="3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87E4F04A-B9D2-4221-998E-01785BDB8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六个固定权限身份共同完成一件事：让书真正流动起来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9146707C-47CA-489B-BE3C-10960AA5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每个人只看见职责范围内的数据，跨岗位协作必须留痕。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01891EF9-1723-44BE-8AA3-467B5B4B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A7E17CE5-2D96-4843-A394-405EEFCB2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A9629E5-CEAB-4792-86F2-E77390A4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03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143DFCFC-8320-4AE3-A994-A93AECF0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876F8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读者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借阅互动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提出真实需求</a:t>
            </a:r>
          </a:p>
        </p:txBody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10D0E0AC-C5FC-4C03-83B3-B4CBB430F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管理员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馆藏流通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内容与需求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87EA3270-910F-4BE0-8FC1-BD6ACB6D9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采购员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认领采购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连接物流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88D18DC7-3398-417B-9992-5E1D940E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73869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物流员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运输到馆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完成入库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79930E11-4364-4ED8-8515-1D6801D89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2190750"/>
            <a:ext cx="1733550" cy="139065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超级管理员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全局控制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7F3EA"/>
                </a:solidFill>
              </a:defRPr>
            </a:pPr>
            <a:r>
              <a:rPr sz="1350" b="1">
                <a:solidFill>
                  <a:srgbClr val="F7F3EA"/>
                </a:solidFill>
              </a:rPr>
              <a:t>审计与授权</a:t>
            </a:r>
          </a:p>
        </p:txBody>
      </p:sp>
      <p:cxnSp>
        <p:nvCxnSpPr>
          <p:cNvPr id="195" name="直接箭头连接符 29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5745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96" name="直接箭头连接符 30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468630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97" name="直接箭头连接符 31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691515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cxnSp>
        <p:nvCxnSpPr>
          <p:cNvPr id="198" name="直接箭头连接符 32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9144000" y="288607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8776F"/>
            </a:solidFill>
            <a:prstDash val="solid"/>
            <a:tailEnd type="arrow" w="med" len="med"/>
          </a:ln>
        </p:spPr>
      </p:cxn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08227B39-8C9A-46F7-9D30-73AE85CA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10668000" cy="10668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B5B53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C377E67-47D5-40F7-BD8A-16797AED0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10075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8A55"/>
                </a:solidFill>
              </a:defRPr>
            </a:pPr>
            <a:r>
              <a:rPr sz="1650" b="1">
                <a:solidFill>
                  <a:srgbClr val="B48A55"/>
                </a:solidFill>
              </a:rPr>
              <a:t>五个角色码，六个固定权限身份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D7DADD3-F31E-409B-AAAF-F452D1EC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33875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它是超级管理员授予普通管理员的协调能力：可以跨管理员处理采购事项，但仍不能触碰文件治理、完整导出和超级管理员权限。</a:t>
            </a:r>
          </a:p>
        </p:txBody>
      </p:sp>
    </p:spTree>
    <p:extLst>
      <p:ext uri="{BB962C8B-B14F-4D97-AF65-F5344CB8AC3E}">
        <p14:creationId xmlns:p14="http://schemas.microsoft.com/office/powerpoint/2010/main" val="10724125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47C0439-460E-4F25-9211-3C672030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03 · READER JOURNEY</a:t>
            </a:r>
          </a:p>
        </p:txBody>
      </p:sp>
      <p:sp>
        <p:nvSpPr>
          <p:cNvPr id="3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7129F6D9-48E2-4F07-8853-AFBE32A1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读者看到的是一间书房，背后是一套完整服务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8FA8660-57EF-4303-B838-F1BB2123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氛围负责邀请用户进入，清晰的操作负责让用户留下。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857013A9-C5C3-4F5B-971E-3584483C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80A3F90-C988-48ED-B784-5C490E1F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86C89773-A600-4EED-A307-74016BA2B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04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56258AC5-A622-46D8-9F13-EF2E8390A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95450"/>
            <a:ext cx="6934200" cy="42672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6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72c24940a243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752600"/>
            <a:ext cx="6819900" cy="4152900"/>
          </a:xfrm>
          <a:prstGeom xmlns:a="http://schemas.openxmlformats.org/drawingml/2006/main" prst="rect">
            <a:avLst/>
          </a:prstGeom>
        </p:spPr>
      </p:pic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B2AE068-7249-41EA-9F3A-BD5AB4B9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621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找书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6D6DBC2-48BF-490B-B3C7-E1017302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7167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检索、分类筛选、详情与库存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4E8D6E9-11BB-4FE9-AFDC-72FD0C56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575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借书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7B58C28-369F-4CFA-8468-FB2BE10B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8670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并发保护、配额与预约归属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9958170-B40B-462C-A4D8-317A5F65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5285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管理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3AC383A-DCB4-4DB3-A598-09DD16FE3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76237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我的借阅、续借、预约、收藏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17A3464-5E50-48D7-BB12-539EE5792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648200"/>
            <a:ext cx="876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交流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8012DFA8-C552-477D-BAA9-D267E1B1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6577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留言附件、书评、点赞与回复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0EA0B6B-413F-4C27-BD39-5FB3B944D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6197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E8074"/>
                </a:solidFill>
              </a:defRPr>
            </a:pPr>
            <a:r>
              <a:rPr sz="1200" b="1">
                <a:solidFill>
                  <a:srgbClr val="5E8074"/>
                </a:solidFill>
              </a:rPr>
              <a:t>夜间沉浸 / 白天清朗</a:t>
            </a:r>
          </a:p>
        </p:txBody>
      </p:sp>
    </p:spTree>
    <p:extLst>
      <p:ext uri="{BB962C8B-B14F-4D97-AF65-F5344CB8AC3E}">
        <p14:creationId xmlns:p14="http://schemas.microsoft.com/office/powerpoint/2010/main" val="8544325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CF5173-78BB-4C48-A782-B16920E4B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04 · CORE TRANSACTION</a:t>
            </a:r>
          </a:p>
        </p:txBody>
      </p:sp>
      <p:sp>
        <p:nvSpPr>
          <p:cNvPr id="3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237765C0-179A-4AA6-A91A-0234EEFA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借阅正确性的核心只有一句：库存永不为负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8505E79-F727-40FF-8E1A-EDE81D9A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最终库存只认 MySQL；Redis 不保存最终库存。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EED9747E-5FFF-4B9E-BBFA-55939498F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6663B35-6951-4FA6-B3B3-A50E4CA9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51202FE-44F4-4FE1-A2C7-FE540926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05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DE1B3C8C-15CC-4ACA-AE13-31C91F1E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811F1D7-F882-437B-85B0-621DA2D0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1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143B422-442E-4981-A70D-4299A2C3D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校验读者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AF0EB43-9819-4891-92F4-98156C97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账号状态、配额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45E3CA50-AEE0-4E2C-B1FD-A2A39CF4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66BAF92-6644-4C2D-9846-4587E51CB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2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06ED3AF-CCD7-4761-B3C4-5EDD9930D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校验图书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817A4BA-4685-40A3-AB08-E409F945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在架、预约归属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37F10B21-DF84-4CB3-84E2-2769AD70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E1E470E5-B412-44CF-AB5F-8ACB6A0C6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B2DFF0-A325-4262-A391-A0C9A64F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条件扣库存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4166F19-4C5B-478F-9D97-F4BF2EE59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available_num &gt; 0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51DC0006-9F31-4F56-89EA-D20AB79D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86000"/>
            <a:ext cx="21526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1B2822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D509C32-AC19-4304-A96C-D57C9D63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19350"/>
            <a:ext cx="400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24ECA6C-313C-4CE2-B4E0-54378F43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67025"/>
            <a:ext cx="1790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写借阅记录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910817BC-6B85-498D-A293-C1DC283A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267075"/>
            <a:ext cx="179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同一事务提交</a:t>
            </a:r>
          </a:p>
        </p:txBody>
      </p:sp>
      <p:cxnSp>
        <p:nvCxnSpPr>
          <p:cNvPr id="326" name="直接箭头连接符 50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9337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327" name="直接箭头连接符 51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6388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328" name="直接箭头连接符 52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343900" y="3000375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93071747-095F-49AD-8E58-D19948A1E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10267950" cy="990600"/>
          </a:xfrm>
          <a:prstGeom xmlns:a="http://schemas.openxmlformats.org/drawingml/2006/main" prst="roundRect">
            <a:avLst>
              <a:gd name="adj" fmla="val 4808"/>
            </a:avLst>
          </a:prstGeom>
          <a:solidFill xmlns:a="http://schemas.openxmlformats.org/drawingml/2006/main">
            <a:srgbClr val="0D1310"/>
          </a:solidFill>
          <a:ln xmlns:a="http://schemas.openxmlformats.org/drawingml/2006/main" w="9525">
            <a:solidFill>
              <a:srgbClr val="3E4D45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21D3ECEE-E705-40E3-9DC9-D37AD04EA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19625"/>
            <a:ext cx="969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B9D6CB"/>
                </a:solidFill>
              </a:defRPr>
            </a:pPr>
            <a:r>
              <a:rPr sz="1275" b="1">
                <a:solidFill>
                  <a:srgbClr val="B9D6CB"/>
                </a:solidFill>
              </a:rPr>
              <a:t>UPDATE book SET available_num = available_num - 1 WHERE id = ? AND available_num &gt; 0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4AE05E1-1029-4CBC-8BE2-3E4AC49F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895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多个读者同时抢最后一本时，只有一条更新会成功；失败请求不会产生借阅记录。</a:t>
            </a:r>
          </a:p>
        </p:txBody>
      </p:sp>
    </p:spTree>
    <p:extLst>
      <p:ext uri="{BB962C8B-B14F-4D97-AF65-F5344CB8AC3E}">
        <p14:creationId xmlns:p14="http://schemas.microsoft.com/office/powerpoint/2010/main" val="86945497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FCA43761-8D48-466C-A5C7-5CC0248C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05 · AFTER BORROWING</a:t>
            </a:r>
          </a:p>
        </p:txBody>
      </p:sp>
      <p:sp>
        <p:nvSpPr>
          <p:cNvPr id="3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2D8343C9-CAE0-4027-AF54-1494D88A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预约、续借、罚款补上了借书之后的空白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AEAC354-3ABE-4783-8BEA-13CA9B40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规则不隐藏在代码里，而是形成可解释、可验收的状态。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8E7D40E5-56CB-4035-9A3B-B0037631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70382AB-B9E9-4115-8548-F9006A9C9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6F64254-D6BB-4831-967D-511818C4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06</a:t>
            </a:r>
          </a:p>
        </p:txBody>
      </p:sp>
      <p:sp>
        <p:nvSpPr>
          <p:cNvPr id="8" name="直接连接符 7">
            <a:extLst xmlns:a="http://schemas.openxmlformats.org/drawingml/2006/main">
              <a:ext uri="{FF2B5EF4-FFF2-40B4-BE49-F238E27FC236}">
                <a16:creationId xmlns:a16="http://schemas.microsoft.com/office/drawing/2014/main" id="{D8C1D4EE-3FAC-4224-847C-146FFD666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5E4866F-C910-4C72-B820-FCFDF2ED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A74A3C"/>
                </a:solidFill>
              </a:defRPr>
            </a:pPr>
            <a:r>
              <a:rPr sz="2025" b="1">
                <a:solidFill>
                  <a:srgbClr val="A74A3C"/>
                </a:solidFill>
              </a:rPr>
              <a:t>预约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9E4B70A-E3F9-43C3-BD08-E81D568A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无库存才进入 FIFO 队列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每位读者有有效预约上限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归还后通知最早预约人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48 小时未取自动过期</a:t>
            </a: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E0E0A986-5947-49AA-979B-541A1AA95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E8074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6EA6223-9EFA-4539-8D06-52DBDBD5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5E8074"/>
                </a:solidFill>
              </a:defRPr>
            </a:pPr>
            <a:r>
              <a:rPr sz="2025" b="1">
                <a:solidFill>
                  <a:srgbClr val="5E8074"/>
                </a:solidFill>
              </a:rPr>
              <a:t>续借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ABCFA3B-16C9-4CC0-8927-B082B5D6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每条借阅最多一次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仅到期前三天开放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存在预约队列时禁止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当天发送一次邮件提醒</a:t>
            </a: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048E569D-EE42-49A0-902D-518EE9794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859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48A55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82B1E31-1E40-4ACD-B585-88FA59FF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955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B48A55"/>
                </a:solidFill>
              </a:defRPr>
            </a:pPr>
            <a:r>
              <a:rPr sz="2025" b="1">
                <a:solidFill>
                  <a:srgbClr val="B48A55"/>
                </a:solidFill>
              </a:rPr>
              <a:t>逾期罚款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6DDA5E20-B1A8-4494-93A3-A6B8DD901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724150"/>
            <a:ext cx="3143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按逾期天数计算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金额不超过图书价格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归还时恢复库存</a:t>
            </a:r>
          </a:p>
          <a:p xmlns:a="http://schemas.openxmlformats.org/drawingml/2006/main">
            <a:endParaRPr sz="135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17201C"/>
                </a:solidFill>
              </a:defRPr>
            </a:pPr>
            <a:r>
              <a:rPr sz="1350" b="0">
                <a:solidFill>
                  <a:srgbClr val="17201C"/>
                </a:solidFill>
              </a:rPr>
              <a:t>• 邮件失败不回滚还书</a:t>
            </a: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42D7AF35-F6B1-4D67-9D3E-4E9D3641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0668000" cy="5905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520C8E93-E86A-42A4-804D-7B9C827F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591175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预约状态：等待 → 已通知 → 已借阅 / 已取消 / 已过期</a:t>
            </a:r>
          </a:p>
        </p:txBody>
      </p:sp>
    </p:spTree>
    <p:extLst>
      <p:ext uri="{BB962C8B-B14F-4D97-AF65-F5344CB8AC3E}">
        <p14:creationId xmlns:p14="http://schemas.microsoft.com/office/powerpoint/2010/main" val="19626549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44B08A0-E8EB-44A2-87BC-0E4B31910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06 · COMMUNITY</a:t>
            </a:r>
          </a:p>
        </p:txBody>
      </p:sp>
      <p:sp>
        <p:nvSpPr>
          <p:cNvPr id="3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F79C0D5E-42AD-4DD9-B280-D0DDF287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读者之间可以互动，但内容必须有人负责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3A0353C-0A0F-432D-BA84-77AFA79B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书评从发表到审核形成闭环，而不是只多一张评论表。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A7038410-4C1B-4EFC-8733-61BB463E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8F34E8E-BE3A-4B5A-9383-89B3050F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DBC03552-5927-4200-BA53-F3252A9D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07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9E577C0-A967-4359-BFDF-D150B9976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526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B48A55"/>
                </a:solidFill>
              </a:defRPr>
            </a:pPr>
            <a:r>
              <a:rPr sz="1800" b="1">
                <a:solidFill>
                  <a:srgbClr val="B48A55"/>
                </a:solidFill>
              </a:rPr>
              <a:t>发表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ABE2181-A3FE-4C16-B093-1C3537F2D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050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书评与评分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F657B8F3-10CB-454B-8EC1-5C510540D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43225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D5D55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9B43D02-AF07-4487-9C76-7E9B92E9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互动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8858871-B23F-4C98-A2DE-713ED456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最新 / 最热 · 点赞 · 回复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76DDAC35-8AA9-4584-B05B-C291067C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0050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D5D55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80A1760-0586-4935-99D7-17542EB03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治理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F1CB118-1E15-4DA0-A635-B5E3D8C1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962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举报 · 隐藏 · 忽略 · 审计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51F8413D-A136-4312-9805-C3345B6FB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95450"/>
            <a:ext cx="7239000" cy="43243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33" name="图片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1a2f30eac4458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29100" y="1752600"/>
            <a:ext cx="7124700" cy="4210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8090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8BBF4D8-BA1E-42C5-A508-6AB584E1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07 · SUPPLY CHAIN</a:t>
            </a:r>
          </a:p>
        </p:txBody>
      </p:sp>
      <p:sp>
        <p:nvSpPr>
          <p:cNvPr id="3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E6C652ED-5E78-4B6D-98B2-6BEE6142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低库存不再只是告警，它会走到真正入库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D3ACF8D-8BE8-47BB-9CD2-2A004E21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采购与物流使用同一订单状态，但通信通道严格隔离。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17B50031-B95D-42B1-93AA-B19894D4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80A248E-8D4B-40D0-9E94-57388778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C986D8F-B97A-461C-B282-A118F49B2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08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F1680FE7-CFA1-4C78-926D-74DDF8B7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1638300"/>
            <a:ext cx="6343650" cy="45529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02" name="图片 2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b46f1ef8984b9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81600" y="1697732"/>
            <a:ext cx="6229350" cy="4434086"/>
          </a:xfrm>
          <a:prstGeom xmlns:a="http://schemas.openxmlformats.org/drawingml/2006/main" prst="rect">
            <a:avLst/>
          </a:prstGeom>
        </p:spPr>
      </p:pic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7DDEE3BD-8F4E-484E-BEF4-A259760C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8F5ED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管理员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创建需求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80C7E089-916F-4354-8EE5-57A74B6E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采购员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认领 / 下单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84239045-4797-43FB-8B31-7C0988FE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290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F8F5ED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物流员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运输 / 到馆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88301D48-2F53-45C4-8C58-96FCEA0FC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1771650" cy="723900"/>
          </a:xfrm>
          <a:prstGeom xmlns:a="http://schemas.openxmlformats.org/drawingml/2006/main" prst="roundRect">
            <a:avLst>
              <a:gd name="adj" fmla="val 6579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系统</a:t>
            </a:r>
          </a:p>
          <a:p xmlns:a="http://schemas.openxmlformats.org/drawingml/2006/main">
            <a:pPr algn="ctr">
              <a:buNone/>
              <a:defRPr sz="1200" b="1">
                <a:solidFill>
                  <a:srgbClr val="17201C"/>
                </a:solidFill>
              </a:defRPr>
            </a:pPr>
            <a:r>
              <a:rPr sz="1200" b="1">
                <a:solidFill>
                  <a:srgbClr val="17201C"/>
                </a:solidFill>
              </a:rPr>
              <a:t>入库补库存</a:t>
            </a:r>
          </a:p>
        </p:txBody>
      </p:sp>
      <p:cxnSp>
        <p:nvCxnSpPr>
          <p:cNvPr id="207" name="直接箭头连接符 3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1628775" y="25717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08" name="直接箭头连接符 31"/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1628775" y="35623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09" name="直接箭头连接符 32"/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1628775" y="45529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F318BF1-DF20-47AE-B11E-89FD9872A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955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通信隔离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84C9AC58-59D3-4CF7-871E-8BFF45552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76500"/>
            <a:ext cx="19431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管理员 ↔ 采购员</a:t>
            </a:r>
          </a:p>
          <a:p xmlns:a="http://schemas.openxmlformats.org/drawingml/2006/main">
            <a:endParaRPr sz="120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采购员 ↔ 物流员</a:t>
            </a:r>
          </a:p>
          <a:p xmlns:a="http://schemas.openxmlformats.org/drawingml/2006/main">
            <a:endParaRPr sz="1200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200" b="0">
                <a:solidFill>
                  <a:srgbClr val="17201C"/>
                </a:solidFill>
              </a:defRPr>
            </a:pPr>
            <a:r>
              <a:rPr sz="1200" b="0">
                <a:solidFill>
                  <a:srgbClr val="17201C"/>
                </a:solidFill>
              </a:rPr>
              <a:t>物流员不能直接调度管理员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6603B62B-F5F3-4FA3-8F62-B8734B48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4152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每次状态变化记录操作者、时间、前后状态和备注；重复入库不会重复增加库存。</a:t>
            </a:r>
          </a:p>
        </p:txBody>
      </p:sp>
    </p:spTree>
    <p:extLst>
      <p:ext uri="{BB962C8B-B14F-4D97-AF65-F5344CB8AC3E}">
        <p14:creationId xmlns:p14="http://schemas.microsoft.com/office/powerpoint/2010/main" val="2140442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ECE2044-7ABA-452A-AE94-FC7A40038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08 · AUTHORITY</a:t>
            </a:r>
          </a:p>
        </p:txBody>
      </p:sp>
      <p:sp>
        <p:nvSpPr>
          <p:cNvPr id="3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057A180B-44BC-4027-A32D-AE0BE175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效率可以提升，但权力必须与责任一起留下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044C959-77CC-4F46-82C1-AE6C2FA3E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权限不是只藏在前端菜单里：接口、Service 和数据范围都会再次校验。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496B1C98-0F18-4B3D-B4F3-EE041E4E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B89A17A-6F8F-47B8-9750-B4BF78FCF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5492A8E-28AF-4581-83A5-678A8CF7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09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C5C05B52-1403-458D-8B7B-E8ECCC9B9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04975"/>
            <a:ext cx="6934200" cy="42862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25" name="图片 2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c3bd47e5f3431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97942" y="1762125"/>
            <a:ext cx="5995617" cy="4171950"/>
          </a:xfrm>
          <a:prstGeom xmlns:a="http://schemas.openxmlformats.org/drawingml/2006/main" prst="rect">
            <a:avLst/>
          </a:prstGeom>
        </p:spPr>
      </p:pic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D899F80-A67D-4096-B06C-1275B74D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859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74A3C"/>
                </a:solidFill>
              </a:defRPr>
            </a:pPr>
            <a:r>
              <a:rPr sz="1425" b="1">
                <a:solidFill>
                  <a:srgbClr val="A74A3C"/>
                </a:solidFill>
              </a:rPr>
              <a:t>超级管理员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5908CBA-CB98-470F-BEA0-DE2C6CBC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0980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任免角色与馆务协调权限、查看全局审计、治理文件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CE637198-5F93-4F16-9D31-5F716091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88607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B48A55"/>
                </a:solidFill>
              </a:defRPr>
            </a:pPr>
            <a:r>
              <a:rPr sz="1425" b="1">
                <a:solidFill>
                  <a:srgbClr val="B48A55"/>
                </a:solidFill>
              </a:rPr>
              <a:t>普通管理员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59CBEC9-F460-426B-97A8-C79322F61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20992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不能修改同级、馆务协调员或超级管理员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285AD9B-4806-48DE-87CF-140968B8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862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5E8074"/>
                </a:solidFill>
              </a:defRPr>
            </a:pPr>
            <a:r>
              <a:rPr sz="1425" b="1">
                <a:solidFill>
                  <a:srgbClr val="5E8074"/>
                </a:solidFill>
              </a:rPr>
              <a:t>馆务协调员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415E875-6F66-49AF-9EDF-7DCC00E6E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10050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可跨管理员协调采购，但没有超级管理员专权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09BF28F-08E6-451C-954D-9266DD9B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8863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A99BB2"/>
                </a:solidFill>
              </a:defRPr>
            </a:pPr>
            <a:r>
              <a:rPr sz="1425" b="1">
                <a:solidFill>
                  <a:srgbClr val="A99BB2"/>
                </a:solidFill>
              </a:rPr>
              <a:t>岗位人员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D619F7F-B358-436A-816F-F9A673C09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210175"/>
            <a:ext cx="333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采购员与物流员只能访问自己的任务和通信</a:t>
            </a:r>
          </a:p>
        </p:txBody>
      </p:sp>
    </p:spTree>
    <p:extLst>
      <p:ext uri="{BB962C8B-B14F-4D97-AF65-F5344CB8AC3E}">
        <p14:creationId xmlns:p14="http://schemas.microsoft.com/office/powerpoint/2010/main" val="11803377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CA44914-235F-4E9B-BA55-6C3FCF24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09 · ARCHITECTURE</a:t>
            </a:r>
          </a:p>
        </p:txBody>
      </p:sp>
      <p:sp>
        <p:nvSpPr>
          <p:cNvPr id="3" name="slide-10-title">
            <a:extLst xmlns:a="http://schemas.openxmlformats.org/drawingml/2006/main">
              <a:ext uri="{FF2B5EF4-FFF2-40B4-BE49-F238E27FC236}">
                <a16:creationId xmlns:a16="http://schemas.microsoft.com/office/drawing/2014/main" id="{5ED12232-B151-4D5C-9B5D-79F3AABA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单体不等于耦合：边界清楚比服务数量更重要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92F52D88-99B3-48EA-95A6-C2806EC9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业务规则留在 Service，中间件通过适配层接入。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7F2CF919-34E5-4680-A36E-876FEFD5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DBA710-E542-4016-BB9C-FB3DA5BB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22FE610-50DE-46FC-B87D-F0583050D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10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1BCAD837-62FE-4F10-8CDE-52E42605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526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D9E4D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6945B31-967F-494C-9277-A689AFC9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764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Vue 3 + Vite 表现层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6CCB7107-B65C-43A0-ABB1-F20658267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8954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读者端 / 管理端 / 采购物流工作台</a:t>
            </a:r>
          </a:p>
        </p:txBody>
      </p:sp>
      <p:sp>
        <p:nvSpPr>
          <p:cNvPr id="11" name="圆角矩形 10">
            <a:extLst xmlns:a="http://schemas.openxmlformats.org/drawingml/2006/main">
              <a:ext uri="{FF2B5EF4-FFF2-40B4-BE49-F238E27FC236}">
                <a16:creationId xmlns:a16="http://schemas.microsoft.com/office/drawing/2014/main" id="{5E21B785-C79B-4F08-BFB2-DFF926D9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9DFC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121D11A-2913-4103-B243-F098B2219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146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Controller 接入层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1B40F65-37EE-4BFB-9CA0-AD96EA536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7336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参数校验 / JWT / 限流 / 权限注解</a:t>
            </a: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546CB68F-85BD-4A13-8160-99FCCB343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E5D5CF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33551DA4-3636-43C1-AFF7-25B860F0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528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Service 应用与领域层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73AF1BD-4F7F-4318-8B13-9BF766E8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718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事务 / 状态 / 角色边界 / 业务编排</a:t>
            </a:r>
          </a:p>
        </p:txBody>
      </p: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0091F5D5-5DDE-480B-B9D3-7F5B94D2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672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D7E0E5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DE9C47A-5952-450B-B997-BDF248A8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910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Mapper 数据访问层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6A574B-2173-465C-B0F0-BA7EE978B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100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MyBatis-Plus 3.5 / Mapper XML / 条件更新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5CC9928E-178E-4C38-997B-61F377524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105400"/>
            <a:ext cx="6667500" cy="62865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CCD8D1"/>
          </a:solidFill>
          <a:ln xmlns:a="http://schemas.openxmlformats.org/drawingml/2006/main" w="9525">
            <a:solidFill>
              <a:srgbClr val="A9A192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BF330426-D1B8-45F3-8874-9DB0DEBA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1C"/>
                </a:solidFill>
              </a:defRPr>
            </a:pPr>
            <a:r>
              <a:rPr sz="1425" b="1">
                <a:solidFill>
                  <a:srgbClr val="17201C"/>
                </a:solidFill>
              </a:rPr>
              <a:t>MySQL 最终事实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0902680-0913-4F56-91B5-045F757F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248275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24 张表 / 34 外键 / 唯一约束 / 审计</a:t>
            </a:r>
          </a:p>
        </p:txBody>
      </p:sp>
      <p:cxnSp>
        <p:nvCxnSpPr>
          <p:cNvPr id="326" name="直接箭头连接符 50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4152900" y="23812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327" name="直接箭头连接符 51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4152900" y="32194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328" name="直接箭头连接符 52"/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4152900" y="40576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cxnSp>
        <p:nvCxnSpPr>
          <p:cNvPr id="329" name="直接箭头连接符 53"/>
          <p:cNvCxnSpPr>
            <a:stCxn xmlns:a="http://schemas.openxmlformats.org/drawingml/2006/main" id="16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4152900" y="4895850"/>
            <a:ext cx="0" cy="2095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0948A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3FA0D864-B686-4582-B35A-182CA7E4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19300"/>
            <a:ext cx="3257550" cy="2781300"/>
          </a:xfrm>
          <a:prstGeom xmlns:a="http://schemas.openxmlformats.org/drawingml/2006/main" prst="roundRect">
            <a:avLst>
              <a:gd name="adj" fmla="val 2055"/>
            </a:avLst>
          </a:prstGeom>
          <a:solidFill xmlns:a="http://schemas.openxmlformats.org/drawingml/2006/main">
            <a:srgbClr val="FAF7F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0990A7F0-5DDC-4020-8AD1-F22C885F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6695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基础设施适配层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BCF5853-DF0E-4419-B460-4ECA8BE5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781300"/>
            <a:ext cx="26098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Redis 缓存</a:t>
            </a:r>
          </a:p>
          <a:p xmlns:a="http://schemas.openxmlformats.org/drawingml/2006/main">
            <a:endParaRPr sz="1275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RabbitMQ 事件</a:t>
            </a:r>
          </a:p>
          <a:p xmlns:a="http://schemas.openxmlformats.org/drawingml/2006/main">
            <a:endParaRPr sz="1275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邮件与补偿任务</a:t>
            </a:r>
          </a:p>
          <a:p xmlns:a="http://schemas.openxmlformats.org/drawingml/2006/main">
            <a:endParaRPr sz="1275" b="0">
              <a:solidFill>
                <a:srgbClr val="17201C"/>
              </a:solidFill>
            </a:endParaRPr>
          </a:p>
          <a:p xmlns:a="http://schemas.openxmlformats.org/drawingml/2006/main">
            <a:pPr algn="l">
              <a:buNone/>
              <a:defRPr sz="1275" b="0">
                <a:solidFill>
                  <a:srgbClr val="17201C"/>
                </a:solidFill>
              </a:defRPr>
            </a:pPr>
            <a:r>
              <a:rPr sz="1275" b="0">
                <a:solidFill>
                  <a:srgbClr val="17201C"/>
                </a:solidFill>
              </a:rPr>
              <a:t>文件存储与定时清理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4B43334-DFE5-4B10-848E-F00F1C74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43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E8074"/>
                </a:solidFill>
              </a:defRPr>
            </a:pPr>
            <a:r>
              <a:rPr sz="1350" b="1">
                <a:solidFill>
                  <a:srgbClr val="5E8074"/>
                </a:solidFill>
              </a:rPr>
              <a:t>可替换 · 可关闭 · 可测试</a:t>
            </a:r>
          </a:p>
        </p:txBody>
      </p:sp>
    </p:spTree>
    <p:extLst>
      <p:ext uri="{BB962C8B-B14F-4D97-AF65-F5344CB8AC3E}">
        <p14:creationId xmlns:p14="http://schemas.microsoft.com/office/powerpoint/2010/main" val="12836180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92C1574-14BC-4698-9821-7A8DC348B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10 · DATA MODEL</a:t>
            </a:r>
          </a:p>
        </p:txBody>
      </p:sp>
      <p:sp>
        <p:nvSpPr>
          <p:cNvPr id="3" name="slide-11-title">
            <a:extLst xmlns:a="http://schemas.openxmlformats.org/drawingml/2006/main">
              <a:ext uri="{FF2B5EF4-FFF2-40B4-BE49-F238E27FC236}">
                <a16:creationId xmlns:a16="http://schemas.microsoft.com/office/drawing/2014/main" id="{1F09AB70-5C88-4935-BB57-70793A69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24 张物理表不是堆出来的，它们按责任分组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61F8D16F-8CE5-43F8-BECD-F3BAB57C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外键负责引用完整性，唯一约束和状态字段阻止重复动作。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EE35BE11-53DE-40EB-A7A7-888E2E20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BD0A504-406F-4421-BF34-48063F53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779EEE8-130D-4FC7-AAAD-ED0CA50E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11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43262B01-D6A9-4FBA-A898-E7841527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2476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6300" b="1">
                <a:solidFill>
                  <a:srgbClr val="A74A3C"/>
                </a:solidFill>
              </a:defRPr>
            </a:pPr>
            <a:r>
              <a:rPr sz="6300" b="1">
                <a:solidFill>
                  <a:srgbClr val="A74A3C"/>
                </a:solidFill>
              </a:rPr>
              <a:t>24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B9726F0-8782-4044-A0AB-062CA5686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48A55"/>
                </a:solidFill>
              </a:defRPr>
            </a:pPr>
            <a:r>
              <a:rPr sz="1050" b="1">
                <a:solidFill>
                  <a:srgbClr val="B48A55"/>
                </a:solidFill>
              </a:rPr>
              <a:t>PHYSICAL TABLES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C74D357-EB2A-4597-8520-42050335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34 条外键约束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8C1BA"/>
                </a:solidFill>
              </a:defRPr>
            </a:pPr>
            <a:r>
              <a:rPr sz="1275" b="0">
                <a:solidFill>
                  <a:srgbClr val="B8C1BA"/>
                </a:solidFill>
              </a:rPr>
              <a:t>流通、推荐、互动、供应、文件与技术控制各自有表</a:t>
            </a:r>
          </a:p>
        </p:txBody>
      </p:sp>
      <p:sp>
        <p:nvSpPr>
          <p:cNvPr id="11" name="直接连接符 10">
            <a:extLst xmlns:a="http://schemas.openxmlformats.org/drawingml/2006/main">
              <a:ext uri="{FF2B5EF4-FFF2-40B4-BE49-F238E27FC236}">
                <a16:creationId xmlns:a16="http://schemas.microsoft.com/office/drawing/2014/main" id="{2D933558-87C0-4B53-A5DF-B04F562C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8097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74A3C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A32C1E6-01F4-4506-BEE7-BE11017C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9812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用户与馆藏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AEEC0AE-E685-4424-AC09-0C8FCA0A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3622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user · category · bookshelf · book</a:t>
            </a:r>
          </a:p>
        </p:txBody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8CB4C22E-EF35-4C12-830A-112CC34A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8097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74A3C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C9AAA90-E1A0-47E2-B082-A689426C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812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流通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F7B665D-4C65-49A3-B3DA-3AFB8345B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622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borrow_record · favorite · reservation</a:t>
            </a:r>
          </a:p>
        </p:txBody>
      </p:sp>
      <p:sp>
        <p:nvSpPr>
          <p:cNvPr id="17" name="直接连接符 16">
            <a:extLst xmlns:a="http://schemas.openxmlformats.org/drawingml/2006/main">
              <a:ext uri="{FF2B5EF4-FFF2-40B4-BE49-F238E27FC236}">
                <a16:creationId xmlns:a16="http://schemas.microsoft.com/office/drawing/2014/main" id="{A525E785-F79D-4C17-B643-5470B5B9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670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E8074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C2A6355-4302-46F8-8301-D329831A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238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内容与审计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B5AD8EBB-8F6A-4ECF-8756-00860FC5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6195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notice · review · report · message · operation_log</a:t>
            </a:r>
          </a:p>
        </p:txBody>
      </p:sp>
      <p:sp>
        <p:nvSpPr>
          <p:cNvPr id="20" name="直接连接符 19">
            <a:extLst xmlns:a="http://schemas.openxmlformats.org/drawingml/2006/main">
              <a:ext uri="{FF2B5EF4-FFF2-40B4-BE49-F238E27FC236}">
                <a16:creationId xmlns:a16="http://schemas.microsoft.com/office/drawing/2014/main" id="{FA1A3E51-C4B4-4D76-98D3-92731E45B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0670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E8074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6F9499A-9F70-40B1-BD71-DD87FC6E0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38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可解释荐书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FBC06C47-C55C-4167-85EB-FCCF1C27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6195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setting · batch · item · event</a:t>
            </a:r>
          </a:p>
        </p:txBody>
      </p:sp>
      <p:sp>
        <p:nvSpPr>
          <p:cNvPr id="23" name="直接连接符 22">
            <a:extLst xmlns:a="http://schemas.openxmlformats.org/drawingml/2006/main">
              <a:ext uri="{FF2B5EF4-FFF2-40B4-BE49-F238E27FC236}">
                <a16:creationId xmlns:a16="http://schemas.microsoft.com/office/drawing/2014/main" id="{4D76E0F0-1EE7-4428-A19C-EC94059F1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8A55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201C5A43-1412-44D8-894B-CFDDDBFEA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495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采购物流</a:t>
            </a:r>
          </a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105ED9C-B964-4455-9FF1-B7F1F180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768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order · logistics · procurement_message</a:t>
            </a:r>
          </a:p>
        </p:txBody>
      </p:sp>
      <p:sp>
        <p:nvSpPr>
          <p:cNvPr id="26" name="直接连接符 25">
            <a:extLst xmlns:a="http://schemas.openxmlformats.org/drawingml/2006/main">
              <a:ext uri="{FF2B5EF4-FFF2-40B4-BE49-F238E27FC236}">
                <a16:creationId xmlns:a16="http://schemas.microsoft.com/office/drawing/2014/main" id="{C6C7DB6E-B4DF-456A-B65E-5EE9F83D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24350"/>
            <a:ext cx="3143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8A55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51BF9E7C-3178-426E-A5FB-3E01B676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95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7F3EA"/>
                </a:solidFill>
              </a:defRPr>
            </a:pPr>
            <a:r>
              <a:rPr sz="1500" b="1">
                <a:solidFill>
                  <a:srgbClr val="F7F3EA"/>
                </a:solidFill>
              </a:rPr>
              <a:t>文件与技术控制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D8275012-B658-44DD-956C-B4E117CF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87680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B8C1BA"/>
                </a:solidFill>
              </a:defRPr>
            </a:pPr>
            <a:r>
              <a:rPr sz="1050" b="0">
                <a:solidFill>
                  <a:srgbClr val="B8C1BA"/>
                </a:solidFill>
              </a:rPr>
              <a:t>stored_file · user_email_quota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C4CF95F6-98C2-4BEA-B608-5F441BAF4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MySQL 是最终事实来源</a:t>
            </a:r>
          </a:p>
        </p:txBody>
      </p:sp>
    </p:spTree>
    <p:extLst>
      <p:ext uri="{BB962C8B-B14F-4D97-AF65-F5344CB8AC3E}">
        <p14:creationId xmlns:p14="http://schemas.microsoft.com/office/powerpoint/2010/main" val="10087222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BF3A707-E2BC-43E8-BF80-AACEC16FC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11 · RELIABILITY</a:t>
            </a:r>
          </a:p>
        </p:txBody>
      </p:sp>
      <p:sp>
        <p:nvSpPr>
          <p:cNvPr id="3" name="slide-12-title">
            <a:extLst xmlns:a="http://schemas.openxmlformats.org/drawingml/2006/main">
              <a:ext uri="{FF2B5EF4-FFF2-40B4-BE49-F238E27FC236}">
                <a16:creationId xmlns:a16="http://schemas.microsoft.com/office/drawing/2014/main" id="{1D4BD8DB-7F9D-489F-9D92-F43D75A89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中间件能加速系统，但不能决定系统能否工作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37296520-2561-41CA-9DA7-B7E7ED7D1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正常时走增强路径，故障时自动回到 MySQL、内存或补偿任务。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FA0BC44D-2250-41AF-AC1E-1019A605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8A4B315-BD14-4869-ADF1-B6C5EC23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8D834E7-7FB5-44F4-B4BA-709BF0521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12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EF3DF564-7982-42D7-BB00-5DFEC047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62150"/>
            <a:ext cx="3009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8E4DF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正常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验证码 TTL · 登录风控 · 查询缓存</a:t>
            </a:r>
          </a:p>
        </p:txBody>
      </p:sp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DD16A15A-1384-4984-9768-263BDBED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62150"/>
            <a:ext cx="3200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0E6DA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Redis 故障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内存验证码 · 内存计数 · 直接查 MySQL</a:t>
            </a:r>
          </a:p>
        </p:txBody>
      </p:sp>
      <p:sp>
        <p:nvSpPr>
          <p:cNvPr id="10" name="圆角矩形 9">
            <a:extLst xmlns:a="http://schemas.openxmlformats.org/drawingml/2006/main">
              <a:ext uri="{FF2B5EF4-FFF2-40B4-BE49-F238E27FC236}">
                <a16:creationId xmlns:a16="http://schemas.microsoft.com/office/drawing/2014/main" id="{A8D3DB76-D5B6-43BA-88D0-2EDA90692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152650"/>
            <a:ext cx="2628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核心登录与查询继续</a:t>
            </a:r>
          </a:p>
        </p:txBody>
      </p:sp>
      <p:cxnSp>
        <p:nvCxnSpPr>
          <p:cNvPr id="204" name="直接箭头连接符 27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752850" y="24765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05" name="直接箭头连接符 28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791450" y="24765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0CF06B12-0814-4B6E-B66D-9E75EEC6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30099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8E4DF"/>
          </a:solidFill>
          <a:ln xmlns:a="http://schemas.openxmlformats.org/drawingml/2006/main" w="9525">
            <a:solidFill>
              <a:srgbClr val="5E807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正常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预约事件 · 通知异步消费</a:t>
            </a:r>
          </a:p>
        </p:txBody>
      </p:sp>
      <p:sp>
        <p:nvSpPr>
          <p:cNvPr id="13" name="圆角矩形 12">
            <a:extLst xmlns:a="http://schemas.openxmlformats.org/drawingml/2006/main">
              <a:ext uri="{FF2B5EF4-FFF2-40B4-BE49-F238E27FC236}">
                <a16:creationId xmlns:a16="http://schemas.microsoft.com/office/drawing/2014/main" id="{886131E0-67CE-4565-9AF4-50733BC0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52850"/>
            <a:ext cx="3200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0E6DA"/>
          </a:solidFill>
          <a:ln xmlns:a="http://schemas.openxmlformats.org/drawingml/2006/main" w="9525">
            <a:solidFill>
              <a:srgbClr val="B48A55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RabbitMQ / 邮件故障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1C"/>
                </a:solidFill>
              </a:defRPr>
            </a:pPr>
            <a:r>
              <a:rPr sz="1275" b="1">
                <a:solidFill>
                  <a:srgbClr val="17201C"/>
                </a:solidFill>
              </a:rPr>
              <a:t>核心事务完成 · 通知任务补偿</a:t>
            </a:r>
          </a:p>
        </p:txBody>
      </p:sp>
      <p:sp>
        <p:nvSpPr>
          <p:cNvPr id="14" name="圆角矩形 13">
            <a:extLst xmlns:a="http://schemas.openxmlformats.org/drawingml/2006/main">
              <a:ext uri="{FF2B5EF4-FFF2-40B4-BE49-F238E27FC236}">
                <a16:creationId xmlns:a16="http://schemas.microsoft.com/office/drawing/2014/main" id="{EB0E313D-C208-44D2-8F37-22055FED0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43350"/>
            <a:ext cx="2628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6F2E9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借还与预约事务成功</a:t>
            </a:r>
          </a:p>
        </p:txBody>
      </p:sp>
      <p:cxnSp>
        <p:nvCxnSpPr>
          <p:cNvPr id="209" name="直接箭头连接符 32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752850" y="42672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E8074"/>
            </a:solidFill>
            <a:prstDash val="solid"/>
            <a:tailEnd type="arrow" w="med" len="med"/>
          </a:ln>
        </p:spPr>
      </p:cxnSp>
      <p:cxnSp>
        <p:nvCxnSpPr>
          <p:cNvPr id="210" name="直接箭头连接符 33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791450" y="4267200"/>
            <a:ext cx="838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74A3C"/>
            </a:solidFill>
            <a:prstDash val="solid"/>
            <a:tailEnd type="arrow" w="med" len="med"/>
          </a:ln>
        </p:spPr>
      </p:cxnSp>
      <p:sp>
        <p:nvSpPr>
          <p:cNvPr id="17" name="圆角矩形 16">
            <a:extLst xmlns:a="http://schemas.openxmlformats.org/drawingml/2006/main">
              <a:ext uri="{FF2B5EF4-FFF2-40B4-BE49-F238E27FC236}">
                <a16:creationId xmlns:a16="http://schemas.microsoft.com/office/drawing/2014/main" id="{295E8129-2A29-4D4E-BD0B-B8947C44F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0515600" cy="571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1CA5643-0B10-4D86-B9F2-5C9BBE0B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534025"/>
            <a:ext cx="975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6352F"/>
                </a:solidFill>
              </a:defRPr>
            </a:pPr>
            <a:r>
              <a:rPr sz="1350" b="1">
                <a:solidFill>
                  <a:srgbClr val="26352F"/>
                </a:solidFill>
              </a:rPr>
              <a:t>原则：消息通知可以晚到，但库存、借阅记录和权限判断不能失真。</a:t>
            </a:r>
          </a:p>
        </p:txBody>
      </p:sp>
    </p:spTree>
    <p:extLst>
      <p:ext uri="{BB962C8B-B14F-4D97-AF65-F5344CB8AC3E}">
        <p14:creationId xmlns:p14="http://schemas.microsoft.com/office/powerpoint/2010/main" val="20030891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9FB50D5E-0D47-4E1A-891C-67B1C5A6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12 · SAFETY</a:t>
            </a:r>
          </a:p>
        </p:txBody>
      </p:sp>
      <p:sp>
        <p:nvSpPr>
          <p:cNvPr id="3" name="slide-13-title">
            <a:extLst xmlns:a="http://schemas.openxmlformats.org/drawingml/2006/main">
              <a:ext uri="{FF2B5EF4-FFF2-40B4-BE49-F238E27FC236}">
                <a16:creationId xmlns:a16="http://schemas.microsoft.com/office/drawing/2014/main" id="{4D4222FB-8AA8-4F34-981E-9C7CB5C8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安全不是一个登录框，而是一组连续边界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E9D89D0-BDDD-46D8-AD0A-3B1305BF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身份、输入、文件、导出和关键操作都必须能够被追溯。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61989D46-4580-4B2E-A0F8-1764EF7F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A71F356-D77E-4944-841E-AD47A640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5073675-9259-4D74-B946-E31EBBAC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13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503A40F-9A01-4D97-BB11-3A5CA655B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身份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7E4B513-85E8-4BA9-873E-193EFF91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18383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BCrypt · JWT · 数学验证码 · 邮箱验证码用途隔离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E5C3C85-6B4B-4D81-B92B-72D0C803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48A55"/>
                </a:solidFill>
              </a:defRPr>
            </a:pPr>
            <a:r>
              <a:rPr sz="1500" b="1">
                <a:solidFill>
                  <a:srgbClr val="B48A55"/>
                </a:solidFill>
              </a:rPr>
              <a:t>风控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C99AE67-CAF0-405F-A313-CE8BD9950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1937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连续失败锁定 · 频率限制 · 可信代理显式开启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05CE02D-7222-441E-8241-9D82B508A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内容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1CA7BB7-52A6-49EE-91EF-5F728160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004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长度限制 · Jsoup 净化 · 富文本白名单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A34964C-EB08-440A-99BF-9EBF9C02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8296A8"/>
                </a:solidFill>
              </a:defRPr>
            </a:pPr>
            <a:r>
              <a:rPr sz="1500" b="1">
                <a:solidFill>
                  <a:srgbClr val="8296A8"/>
                </a:solidFill>
              </a:rPr>
              <a:t>文件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2FACB23A-0676-4218-A752-D7C119F0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18147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MIME/扩展名校验 · 权限下载 · HTML 强制下载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61DC641-D3F1-45ED-A134-F65C582B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997AD"/>
                </a:solidFill>
              </a:defRPr>
            </a:pPr>
            <a:r>
              <a:rPr sz="1500" b="1">
                <a:solidFill>
                  <a:srgbClr val="A997AD"/>
                </a:solidFill>
              </a:rPr>
              <a:t>审计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00238901-E7B6-4EE3-BCB9-CAFB8467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962525"/>
            <a:ext cx="4343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8C1BA"/>
                </a:solidFill>
              </a:defRPr>
            </a:pPr>
            <a:r>
              <a:rPr sz="1125" b="0">
                <a:solidFill>
                  <a:srgbClr val="B8C1BA"/>
                </a:solidFill>
              </a:rPr>
              <a:t>角色变化 · 内容审核 · 采购物流 · 文件清理留痕</a:t>
            </a:r>
          </a:p>
        </p:txBody>
      </p:sp>
      <p:sp>
        <p:nvSpPr>
          <p:cNvPr id="18" name="圆角矩形 17">
            <a:extLst xmlns:a="http://schemas.openxmlformats.org/drawingml/2006/main">
              <a:ext uri="{FF2B5EF4-FFF2-40B4-BE49-F238E27FC236}">
                <a16:creationId xmlns:a16="http://schemas.microsoft.com/office/drawing/2014/main" id="{4A9F5D93-9FC0-4C33-844F-13DA4DE8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76400"/>
            <a:ext cx="4914900" cy="440055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26322C"/>
          </a:solidFill>
          <a:ln xmlns:a="http://schemas.openxmlformats.org/drawingml/2006/main" w="9525">
            <a:solidFill>
              <a:srgbClr val="536259"/>
            </a:solidFill>
            <a:prstDash val="solid"/>
          </a:ln>
        </p:spPr>
      </p:sp>
      <p:pic>
        <p:nvPicPr>
          <p:cNvPr id="38" name="图片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2165dd41d146a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3200" y="2011442"/>
            <a:ext cx="4800600" cy="3730466"/>
          </a:xfrm>
          <a:prstGeom xmlns:a="http://schemas.openxmlformats.org/drawingml/2006/main" prst="rect">
            <a:avLst/>
          </a:prstGeom>
        </p:spPr>
      </p:pic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41E843D2-5A5C-4D2B-810F-2C409D73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753100"/>
            <a:ext cx="3657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B48A55"/>
                </a:solidFill>
              </a:defRPr>
            </a:pPr>
            <a:r>
              <a:rPr sz="1125" b="1">
                <a:solidFill>
                  <a:srgbClr val="B48A55"/>
                </a:solidFill>
              </a:rPr>
              <a:t>动态提示让隐性规则变得可见</a:t>
            </a:r>
          </a:p>
        </p:txBody>
      </p:sp>
    </p:spTree>
    <p:extLst>
      <p:ext uri="{BB962C8B-B14F-4D97-AF65-F5344CB8AC3E}">
        <p14:creationId xmlns:p14="http://schemas.microsoft.com/office/powerpoint/2010/main" val="4171595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5CBA93D-A295-4C92-B73C-70E9AF24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13 · INTERFACE</a:t>
            </a:r>
          </a:p>
        </p:txBody>
      </p:sp>
      <p:sp>
        <p:nvSpPr>
          <p:cNvPr id="3" name="slide-14-title">
            <a:extLst xmlns:a="http://schemas.openxmlformats.org/drawingml/2006/main">
              <a:ext uri="{FF2B5EF4-FFF2-40B4-BE49-F238E27FC236}">
                <a16:creationId xmlns:a16="http://schemas.microsoft.com/office/drawing/2014/main" id="{27D183DB-1AFA-4AAE-90C9-EAC6DA57B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前台有气质，后台有效率，两者不必长得一样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AF1C322-3863-4192-841D-68870A39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同一套书卷语言，用在不同任务上必须有不同密度。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B0236121-62B6-4AF1-866B-E69016CD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86369FEE-CF78-4EE2-80DD-A150B6BE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FD263D-4CAD-46EE-8948-20E56761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14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2E2E6B7B-8881-49E7-A1CD-AE20F46F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5219700" cy="38481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5" name="图片 2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5cb4ee62cf432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1752600"/>
            <a:ext cx="5105400" cy="3733800"/>
          </a:xfrm>
          <a:prstGeom xmlns:a="http://schemas.openxmlformats.org/drawingml/2006/main" prst="rect">
            <a:avLst/>
          </a:prstGeom>
        </p:spPr>
      </p:pic>
      <p:sp>
        <p:nvSpPr>
          <p:cNvPr id="9" name="圆角矩形 8">
            <a:extLst xmlns:a="http://schemas.openxmlformats.org/drawingml/2006/main">
              <a:ext uri="{FF2B5EF4-FFF2-40B4-BE49-F238E27FC236}">
                <a16:creationId xmlns:a16="http://schemas.microsoft.com/office/drawing/2014/main" id="{02F6B33D-AC00-4512-BCE6-D5E9F140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95450"/>
            <a:ext cx="5219700" cy="38481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pic>
        <p:nvPicPr>
          <p:cNvPr id="27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212fba9eff45a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84977" y="1752600"/>
            <a:ext cx="3098946" cy="3733800"/>
          </a:xfrm>
          <a:prstGeom xmlns:a="http://schemas.openxmlformats.org/drawingml/2006/main" prst="rect">
            <a:avLst/>
          </a:prstGeom>
        </p:spPr>
      </p:pic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A3AD8C2C-308C-46F8-8E8D-CDE01987C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72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A74A3C"/>
                </a:solidFill>
              </a:defRPr>
            </a:pPr>
            <a:r>
              <a:rPr sz="1500" b="1">
                <a:solidFill>
                  <a:srgbClr val="A74A3C"/>
                </a:solidFill>
              </a:rPr>
              <a:t>资料页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A2866DB6-1548-42FE-8992-52647847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7912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纸面表单、清楚提示、封蜡红保存按钮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61B583A-7803-4D5D-976C-1BCB7A831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772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8074"/>
                </a:solidFill>
              </a:defRPr>
            </a:pPr>
            <a:r>
              <a:rPr sz="1500" b="1">
                <a:solidFill>
                  <a:srgbClr val="5E8074"/>
                </a:solidFill>
              </a:rPr>
              <a:t>管理端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3C95CC4-A634-4BB1-8E58-8B98B14D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79120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E766F"/>
                </a:solidFill>
              </a:defRPr>
            </a:pPr>
            <a:r>
              <a:rPr sz="1125" b="0">
                <a:solidFill>
                  <a:srgbClr val="6E766F"/>
                </a:solidFill>
              </a:rPr>
              <a:t>顶部导航、宣纸/竹简主题、清晰表格与图表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18BF29F4-7EF7-4847-9AB7-36ACCD26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1912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B48A55"/>
                </a:solidFill>
              </a:defRPr>
            </a:pPr>
            <a:r>
              <a:rPr sz="975" b="1">
                <a:solidFill>
                  <a:srgbClr val="B48A55"/>
                </a:solidFill>
              </a:rPr>
              <a:t>Vite 8 · 116 路由零异常</a:t>
            </a:r>
          </a:p>
        </p:txBody>
      </p:sp>
    </p:spTree>
    <p:extLst>
      <p:ext uri="{BB962C8B-B14F-4D97-AF65-F5344CB8AC3E}">
        <p14:creationId xmlns:p14="http://schemas.microsoft.com/office/powerpoint/2010/main" val="62351758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BDE9199-9BD2-4DC7-9140-EDDFFF22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14 · EVIDENCE</a:t>
            </a:r>
          </a:p>
        </p:txBody>
      </p:sp>
      <p:sp>
        <p:nvSpPr>
          <p:cNvPr id="3" name="slide-15-title">
            <a:extLst xmlns:a="http://schemas.openxmlformats.org/drawingml/2006/main">
              <a:ext uri="{FF2B5EF4-FFF2-40B4-BE49-F238E27FC236}">
                <a16:creationId xmlns:a16="http://schemas.microsoft.com/office/drawing/2014/main" id="{E0B666C6-6F1B-4FA2-A136-70801B386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功能很多不等于可靠；可靠必须有可重复证据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E443F8DE-A6E4-48DE-8EA3-8D9FA983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自动测试、真实 API、并发、浏览器与数据库共同给出证据。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3A5BD1B0-49BA-44B9-8019-FCBDC29E3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D24DE98-A28C-4F0E-B7B3-D0D8BAD6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28B9C56-5326-4002-8684-3224F92F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15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3EDD833-5658-4D83-B616-ECD4AFAC4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A74A3C"/>
                </a:solidFill>
              </a:defRPr>
            </a:pPr>
            <a:r>
              <a:rPr sz="4200" b="1">
                <a:solidFill>
                  <a:srgbClr val="A74A3C"/>
                </a:solidFill>
              </a:rPr>
              <a:t>290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FD93A42-9E8B-4F2C-817D-ABF08F76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后端测试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B61C973-3120-42A9-84DF-4D6E7FE0A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5E8074"/>
                </a:solidFill>
              </a:defRPr>
            </a:pPr>
            <a:r>
              <a:rPr sz="4200" b="1">
                <a:solidFill>
                  <a:srgbClr val="5E8074"/>
                </a:solidFill>
              </a:rPr>
              <a:t>68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4150D68-E8BB-44C3-9BC5-7828DD23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前端单元测试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75EC211-B638-4CD6-9BA6-3A6DBC4B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B48A55"/>
                </a:solidFill>
              </a:defRPr>
            </a:pPr>
            <a:r>
              <a:rPr sz="4200" b="1">
                <a:solidFill>
                  <a:srgbClr val="B48A55"/>
                </a:solidFill>
              </a:rPr>
              <a:t>6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6FC9EC3-B6FA-4A9E-A359-60B0F4E5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固定 E2E 身份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33F6179-1ED1-4686-8725-37CE37EF4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809750"/>
            <a:ext cx="209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200" b="1">
                <a:solidFill>
                  <a:srgbClr val="8896A7"/>
                </a:solidFill>
              </a:defRPr>
            </a:pPr>
            <a:r>
              <a:rPr sz="4200" b="1">
                <a:solidFill>
                  <a:srgbClr val="8896A7"/>
                </a:solidFill>
              </a:rPr>
              <a:t>0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0FB65DA4-3ECD-4BE7-AE01-F6A03B9C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8C1BA"/>
                </a:solidFill>
              </a:defRPr>
            </a:pPr>
            <a:r>
              <a:rPr sz="1200" b="1">
                <a:solidFill>
                  <a:srgbClr val="B8C1BA"/>
                </a:solidFill>
              </a:rPr>
              <a:t>当前失败 / 错误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259076FD-87EF-4B02-8D29-F61EFFE7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90900"/>
            <a:ext cx="5086350" cy="21717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0D1310"/>
          </a:solidFill>
          <a:ln xmlns:a="http://schemas.openxmlformats.org/drawingml/2006/main" w="9525">
            <a:solidFill>
              <a:srgbClr val="3F5047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87414465-F454-4B52-B335-0BDC161B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已覆盖的关键风险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1396DAD3-BC1F-46FB-B0F9-032D3ED2B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95750"/>
            <a:ext cx="43243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库存为 1 的并发抢借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六身份权限绕过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文件类型与下载权限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预约、续借、罚款和重复入库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• 输入净化、推荐幂等与审计日志</a:t>
            </a:r>
          </a:p>
        </p:txBody>
      </p:sp>
      <p:sp>
        <p:nvSpPr>
          <p:cNvPr id="19" name="圆角矩形 18">
            <a:extLst xmlns:a="http://schemas.openxmlformats.org/drawingml/2006/main">
              <a:ext uri="{FF2B5EF4-FFF2-40B4-BE49-F238E27FC236}">
                <a16:creationId xmlns:a16="http://schemas.microsoft.com/office/drawing/2014/main" id="{38FF9071-CD9D-41EB-80B2-50E932FFC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90900"/>
            <a:ext cx="5048250" cy="2171700"/>
          </a:xfrm>
          <a:prstGeom xmlns:a="http://schemas.openxmlformats.org/drawingml/2006/main" prst="roundRect">
            <a:avLst>
              <a:gd name="adj" fmla="val 2632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B5B53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567B9646-F1F0-4DD6-BCD0-C0F9A9A4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638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7F3EA"/>
                </a:solidFill>
              </a:defRPr>
            </a:pPr>
            <a:r>
              <a:rPr sz="1575" b="1">
                <a:solidFill>
                  <a:srgbClr val="F7F3EA"/>
                </a:solidFill>
              </a:rPr>
              <a:t>真实环境还验证了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BF7F077B-6237-427F-B88C-E030518F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95750"/>
            <a:ext cx="4286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Redis AOF、故障恢复与队列消费通过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六身份于 v1.2.4 完成 70 次页面 API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独立并发：20 场景 / 393 请求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三实例：8 场景 / 176 请求（历史基线）</a:t>
            </a:r>
          </a:p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B8C1BA"/>
                </a:solidFill>
              </a:rPr>
              <a:t>116 路由 / 456 API / 6,114 网络响应，异常为 0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C360F6F1-A7FF-4222-A4E1-4A948335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59245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E7B74"/>
                </a:solidFill>
              </a:defRPr>
            </a:pPr>
            <a:r>
              <a:rPr sz="825" b="0">
                <a:solidFill>
                  <a:srgbClr val="6E7B74"/>
                </a:solidFill>
              </a:rPr>
              <a:t>公开基线：v1.2.7 · 2026-08-28</a:t>
            </a:r>
          </a:p>
        </p:txBody>
      </p:sp>
    </p:spTree>
    <p:extLst>
      <p:ext uri="{BB962C8B-B14F-4D97-AF65-F5344CB8AC3E}">
        <p14:creationId xmlns:p14="http://schemas.microsoft.com/office/powerpoint/2010/main" val="195121345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3EF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511BA75-F778-46C4-92FF-F51BCE5B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A74A3C"/>
                </a:solidFill>
              </a:defRPr>
            </a:pPr>
            <a:r>
              <a:rPr sz="900" b="1">
                <a:solidFill>
                  <a:srgbClr val="A74A3C"/>
                </a:solidFill>
              </a:rPr>
              <a:t>15 · DELIVERY</a:t>
            </a:r>
          </a:p>
        </p:txBody>
      </p:sp>
      <p:sp>
        <p:nvSpPr>
          <p:cNvPr id="3" name="slide-16-title">
            <a:extLst xmlns:a="http://schemas.openxmlformats.org/drawingml/2006/main">
              <a:ext uri="{FF2B5EF4-FFF2-40B4-BE49-F238E27FC236}">
                <a16:creationId xmlns:a16="http://schemas.microsoft.com/office/drawing/2014/main" id="{D93F7559-BCC2-4120-865F-6BEB09E6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01C"/>
                </a:solidFill>
              </a:defRPr>
            </a:pPr>
            <a:r>
              <a:rPr sz="2700" b="1">
                <a:solidFill>
                  <a:srgbClr val="17201C"/>
                </a:solidFill>
              </a:rPr>
              <a:t>运行环境准备好后，四步把系统跑起来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117646B-E383-4A52-AE0D-6ECA1550F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SQL 只有一个入口，中间件默认关闭，先跑通核心功能再启用增强。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9C9BB58D-7AAA-45F4-B081-DFEAE627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AAA294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CE0EC18-61C8-4994-8024-FAC1575F9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AAA294"/>
                </a:solidFill>
              </a:defRPr>
            </a:pPr>
            <a:r>
              <a:rPr sz="750" b="0">
                <a:solidFill>
                  <a:srgbClr val="AAA294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B5AE7B6-4E37-4A12-A507-57631880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AAA294"/>
                </a:solidFill>
              </a:defRPr>
            </a:pPr>
            <a:r>
              <a:rPr sz="825" b="1">
                <a:solidFill>
                  <a:srgbClr val="AAA294"/>
                </a:solidFill>
              </a:rPr>
              <a:t>16</a:t>
            </a:r>
          </a:p>
        </p:txBody>
      </p:sp>
      <p:sp>
        <p:nvSpPr>
          <p:cNvPr id="8" name="圆角矩形 7">
            <a:extLst xmlns:a="http://schemas.openxmlformats.org/drawingml/2006/main">
              <a:ext uri="{FF2B5EF4-FFF2-40B4-BE49-F238E27FC236}">
                <a16:creationId xmlns:a16="http://schemas.microsoft.com/office/drawing/2014/main" id="{27435937-EE20-4DD0-9882-5C9E0A7A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9F6EF"/>
          </a:solidFill>
          <a:ln xmlns:a="http://schemas.openxmlformats.org/drawingml/2006/main" w="9525">
            <a:solidFill>
              <a:srgbClr val="A74A3C"/>
            </a:solidFill>
            <a:prstDash val="solid"/>
          </a:ln>
        </p:spPr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4EA71342-8743-4675-87EB-177F0A13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A74A3C"/>
                </a:solidFill>
              </a:defRPr>
            </a:pPr>
            <a:r>
              <a:rPr sz="1800" b="1">
                <a:solidFill>
                  <a:srgbClr val="A74A3C"/>
                </a:solidFill>
              </a:rPr>
              <a:t>01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80E028C7-87DB-41C1-BA37-58572B82E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初始化 MySQL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35DCCDB9-C492-410D-B9E4-F4A357BE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执行 sql/init-dark-room-library.sql</a:t>
            </a:r>
          </a:p>
        </p:txBody>
      </p:sp>
      <p:sp>
        <p:nvSpPr>
          <p:cNvPr id="12" name="圆角矩形 11">
            <a:extLst xmlns:a="http://schemas.openxmlformats.org/drawingml/2006/main">
              <a:ext uri="{FF2B5EF4-FFF2-40B4-BE49-F238E27FC236}">
                <a16:creationId xmlns:a16="http://schemas.microsoft.com/office/drawing/2014/main" id="{F24CC804-216C-4994-ADD0-FE5B931CB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E6E0D3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DAF24671-7066-43C7-B7F0-6B16784A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02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B170AEB3-3773-472F-AF26-EB9F6A5F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启动后端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C1CAF7E-CD89-464C-B66D-9581778C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mvn spring-boot:run</a:t>
            </a:r>
          </a:p>
        </p:txBody>
      </p:sp>
      <p:sp>
        <p:nvSpPr>
          <p:cNvPr id="16" name="圆角矩形 15">
            <a:extLst xmlns:a="http://schemas.openxmlformats.org/drawingml/2006/main">
              <a:ext uri="{FF2B5EF4-FFF2-40B4-BE49-F238E27FC236}">
                <a16:creationId xmlns:a16="http://schemas.microsoft.com/office/drawing/2014/main" id="{57E339AF-F764-4045-A5AB-93B20524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F9F6EF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104C6C8-4A2A-492E-9DCA-7D5FF42F0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03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CAE8705-8D63-4599-82D3-C017A3478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启动前端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9A50E293-F7D9-4301-B723-6FAD4137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npm ci  /  npm run dev</a:t>
            </a:r>
          </a:p>
        </p:txBody>
      </p:sp>
      <p:sp>
        <p:nvSpPr>
          <p:cNvPr id="20" name="圆角矩形 19">
            <a:extLst xmlns:a="http://schemas.openxmlformats.org/drawingml/2006/main">
              <a:ext uri="{FF2B5EF4-FFF2-40B4-BE49-F238E27FC236}">
                <a16:creationId xmlns:a16="http://schemas.microsoft.com/office/drawing/2014/main" id="{CCBED471-DAB3-42D1-A96E-0BC607D6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209800" cy="1962150"/>
          </a:xfrm>
          <a:prstGeom xmlns:a="http://schemas.openxmlformats.org/drawingml/2006/main" prst="roundRect">
            <a:avLst>
              <a:gd name="adj" fmla="val 2913"/>
            </a:avLst>
          </a:prstGeom>
          <a:solidFill xmlns:a="http://schemas.openxmlformats.org/drawingml/2006/main">
            <a:srgbClr val="E6E0D3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F78566A-2553-4ACC-B247-11D460D7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66950"/>
            <a:ext cx="628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5E8074"/>
                </a:solidFill>
              </a:defRPr>
            </a:pPr>
            <a:r>
              <a:rPr sz="1800" b="1">
                <a:solidFill>
                  <a:srgbClr val="5E8074"/>
                </a:solidFill>
              </a:rPr>
              <a:t>04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FB70DCB-7B3E-4382-A2BF-36BD2B3F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00350"/>
            <a:ext cx="1790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1C"/>
                </a:solidFill>
              </a:defRPr>
            </a:pPr>
            <a:r>
              <a:rPr sz="1575" b="1">
                <a:solidFill>
                  <a:srgbClr val="17201C"/>
                </a:solidFill>
              </a:rPr>
              <a:t>打开浏览器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1E263418-AD41-4E52-95C0-F67856BF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337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E766F"/>
                </a:solidFill>
              </a:defRPr>
            </a:pPr>
            <a:r>
              <a:rPr sz="1050" b="0">
                <a:solidFill>
                  <a:srgbClr val="6E766F"/>
                </a:solidFill>
              </a:rPr>
              <a:t>http://localhost:5175</a:t>
            </a:r>
          </a:p>
        </p:txBody>
      </p:sp>
      <p:cxnSp>
        <p:nvCxnSpPr>
          <p:cNvPr id="326" name="直接箭头连接符 50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9337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327" name="直接箭头连接符 51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56388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cxnSp>
        <p:nvCxnSpPr>
          <p:cNvPr id="328" name="直接箭头连接符 52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343900" y="3057525"/>
            <a:ext cx="495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7978F"/>
            </a:solidFill>
            <a:prstDash val="solid"/>
            <a:tailEnd type="arrow" w="med" len="med"/>
          </a:ln>
        </p:spPr>
      </p:cxnSp>
      <p:sp>
        <p:nvSpPr>
          <p:cNvPr id="26" name="圆角矩形 25">
            <a:extLst xmlns:a="http://schemas.openxmlformats.org/drawingml/2006/main">
              <a:ext uri="{FF2B5EF4-FFF2-40B4-BE49-F238E27FC236}">
                <a16:creationId xmlns:a16="http://schemas.microsoft.com/office/drawing/2014/main" id="{0A26EF04-526E-4AE6-AF3C-84A99277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10477500" cy="1066800"/>
          </a:xfrm>
          <a:prstGeom xmlns:a="http://schemas.openxmlformats.org/drawingml/2006/main" prst="roundRect">
            <a:avLst>
              <a:gd name="adj" fmla="val 4464"/>
            </a:avLst>
          </a:prstGeom>
          <a:solidFill xmlns:a="http://schemas.openxmlformats.org/drawingml/2006/main">
            <a:srgbClr val="E4DED0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75F32353-6695-4DF0-B8BC-C87E843C1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9339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1C"/>
                </a:solidFill>
              </a:defRPr>
            </a:pPr>
            <a:r>
              <a:rPr sz="1350" b="1">
                <a:solidFill>
                  <a:srgbClr val="17201C"/>
                </a:solidFill>
              </a:rPr>
              <a:t>演示账号由初始化 SQL 写入，仅用于本地验收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47161739-F796-4985-9D27-C43C1478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790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E766F"/>
                </a:solidFill>
              </a:defRPr>
            </a:pPr>
            <a:r>
              <a:rPr sz="1200" b="0">
                <a:solidFill>
                  <a:srgbClr val="6E766F"/>
                </a:solidFill>
              </a:rPr>
              <a:t>统一密码见 README；公网部署前删除或改密，中间件按需启用。</a:t>
            </a:r>
          </a:p>
        </p:txBody>
      </p:sp>
    </p:spTree>
    <p:extLst>
      <p:ext uri="{BB962C8B-B14F-4D97-AF65-F5344CB8AC3E}">
        <p14:creationId xmlns:p14="http://schemas.microsoft.com/office/powerpoint/2010/main" val="173277803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6976000-7318-4459-96C4-812F17EA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B48A55"/>
                </a:solidFill>
              </a:defRPr>
            </a:pPr>
            <a:r>
              <a:rPr sz="900" b="1">
                <a:solidFill>
                  <a:srgbClr val="B48A55"/>
                </a:solidFill>
              </a:rPr>
              <a:t>16 · ENGINEERING JUDGMENT</a:t>
            </a:r>
          </a:p>
        </p:txBody>
      </p:sp>
      <p:sp>
        <p:nvSpPr>
          <p:cNvPr id="3" name="slide-17-title">
            <a:extLst xmlns:a="http://schemas.openxmlformats.org/drawingml/2006/main">
              <a:ext uri="{FF2B5EF4-FFF2-40B4-BE49-F238E27FC236}">
                <a16:creationId xmlns:a16="http://schemas.microsoft.com/office/drawing/2014/main" id="{96E20656-59DC-418D-A2EF-060A03D4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有意识地统一边界，才让项目保持可维护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9890EC38-B6BA-4061-8416-DBF12FEA1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76350"/>
            <a:ext cx="1028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技术选择、版本与公开说明都必须服从可验证事实。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40402E65-F78D-46B6-A222-9A2869C8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865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736C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3996E56-ED65-4B5B-8903-EE781FC31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6736C"/>
                </a:solidFill>
              </a:defRPr>
            </a:pPr>
            <a:r>
              <a:rPr sz="750" b="0">
                <a:solidFill>
                  <a:srgbClr val="66736C"/>
                </a:solidFill>
              </a:rPr>
              <a:t>DARKROOM LIBRARY · PROJECT OVERVIEW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572011-43E9-4741-9FD1-D7B5CA3FF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52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6736C"/>
                </a:solidFill>
              </a:defRPr>
            </a:pPr>
            <a:r>
              <a:rPr sz="825" b="1">
                <a:solidFill>
                  <a:srgbClr val="66736C"/>
                </a:solidFill>
              </a:rPr>
              <a:t>17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1BC2241-8219-4555-8D3F-A65139E7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74A3C"/>
                </a:solidFill>
              </a:defRPr>
            </a:pPr>
            <a:r>
              <a:rPr sz="1575" b="1">
                <a:solidFill>
                  <a:srgbClr val="A74A3C"/>
                </a:solidFill>
              </a:rPr>
              <a:t>不保留 Vue 2 双轨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5CBF9ED-E82A-4EDA-97B1-0EC798AC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192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前端统一到 Vue 3 + Vite，避免两套脚手架长期并存</a:t>
            </a:r>
          </a:p>
        </p:txBody>
      </p:sp>
      <p:sp>
        <p:nvSpPr>
          <p:cNvPr id="10" name="直接连接符 9">
            <a:extLst xmlns:a="http://schemas.openxmlformats.org/drawingml/2006/main">
              <a:ext uri="{FF2B5EF4-FFF2-40B4-BE49-F238E27FC236}">
                <a16:creationId xmlns:a16="http://schemas.microsoft.com/office/drawing/2014/main" id="{98E19BD7-9FAB-42D6-9EFC-7D245035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431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1ACD035-A970-404C-81CE-344ADA9F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479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B48A55"/>
                </a:solidFill>
              </a:defRPr>
            </a:pPr>
            <a:r>
              <a:rPr sz="1575" b="1">
                <a:solidFill>
                  <a:srgbClr val="B48A55"/>
                </a:solidFill>
              </a:rPr>
              <a:t>不伪造 Git 历史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C2EDFB0-6135-4A4D-89B0-9CE784ACD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6574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Git 中途加入，首次提交只代表审查后的公开基线</a:t>
            </a:r>
          </a:p>
        </p:txBody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6593C2DC-26E6-49AB-80E9-B4DBAC7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B83CB24-9AAB-42EC-9D0D-485002C0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5E8074"/>
                </a:solidFill>
              </a:defRPr>
            </a:pPr>
            <a:r>
              <a:rPr sz="1575" b="1">
                <a:solidFill>
                  <a:srgbClr val="5E8074"/>
                </a:solidFill>
              </a:rPr>
              <a:t>不引入 TCC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1E358DC-CC68-4AAB-988C-D83E2E8FD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4956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当前事务边界在单库内，补偿复杂度没有收益</a:t>
            </a:r>
          </a:p>
        </p:txBody>
      </p:sp>
      <p:sp>
        <p:nvSpPr>
          <p:cNvPr id="16" name="直接连接符 15">
            <a:extLst xmlns:a="http://schemas.openxmlformats.org/drawingml/2006/main">
              <a:ext uri="{FF2B5EF4-FFF2-40B4-BE49-F238E27FC236}">
                <a16:creationId xmlns:a16="http://schemas.microsoft.com/office/drawing/2014/main" id="{93EF9373-3696-4482-937E-07CDBAFC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195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7530AD72-9371-44ED-9258-7F2FC6CBE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8CA0B0"/>
                </a:solidFill>
              </a:defRPr>
            </a:pPr>
            <a:r>
              <a:rPr sz="1575" b="1">
                <a:solidFill>
                  <a:srgbClr val="8CA0B0"/>
                </a:solidFill>
              </a:rPr>
              <a:t>不强上 Elasticsearch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F09DC7B-C423-4799-A152-57C468D2D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338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现有数据规模用 MySQL 检索足够，先保留演进空间</a:t>
            </a:r>
          </a:p>
        </p:txBody>
      </p:sp>
      <p:sp>
        <p:nvSpPr>
          <p:cNvPr id="19" name="直接连接符 18">
            <a:extLst xmlns:a="http://schemas.openxmlformats.org/drawingml/2006/main">
              <a:ext uri="{FF2B5EF4-FFF2-40B4-BE49-F238E27FC236}">
                <a16:creationId xmlns:a16="http://schemas.microsoft.com/office/drawing/2014/main" id="{FDE6AB9B-313C-4938-ADC9-4A53BE54C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B05058B-CA93-4F59-816C-1548DFAB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625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AE9CB4"/>
                </a:solidFill>
              </a:defRPr>
            </a:pPr>
            <a:r>
              <a:rPr sz="1575" b="1">
                <a:solidFill>
                  <a:srgbClr val="AE9CB4"/>
                </a:solidFill>
              </a:rPr>
              <a:t>大模型不直写数据库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DA181EC-4D2C-43F6-A8EF-4DEED3FFC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72075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8C1BA"/>
                </a:solidFill>
              </a:defRPr>
            </a:pPr>
            <a:r>
              <a:rPr sz="1200" b="0">
                <a:solidFill>
                  <a:srgbClr val="B8C1BA"/>
                </a:solidFill>
              </a:rPr>
              <a:t>未来可做只读馆员助手，核心业务仍由确定性规则控制</a:t>
            </a:r>
          </a:p>
        </p:txBody>
      </p:sp>
      <p:sp>
        <p:nvSpPr>
          <p:cNvPr id="22" name="直接连接符 21">
            <a:extLst xmlns:a="http://schemas.openxmlformats.org/drawingml/2006/main">
              <a:ext uri="{FF2B5EF4-FFF2-40B4-BE49-F238E27FC236}">
                <a16:creationId xmlns:a16="http://schemas.microsoft.com/office/drawing/2014/main" id="{7D0DC997-27B8-4C70-A994-A57626E93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10325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34139"/>
            </a:solidFill>
            <a:prstDash val="solid"/>
          </a:ln>
        </p:spPr>
      </p:sp>
      <p:sp>
        <p:nvSpPr>
          <p:cNvPr id="23" name="圆角矩形 22">
            <a:extLst xmlns:a="http://schemas.openxmlformats.org/drawingml/2006/main">
              <a:ext uri="{FF2B5EF4-FFF2-40B4-BE49-F238E27FC236}">
                <a16:creationId xmlns:a16="http://schemas.microsoft.com/office/drawing/2014/main" id="{DA025B5C-ED0D-428E-8B07-89E93AC83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325100" cy="3429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202E27"/>
          </a:solidFill>
          <a:ln xmlns:a="http://schemas.openxmlformats.org/drawingml/2006/main" w="9525">
            <a:solidFill>
              <a:srgbClr val="46574E"/>
            </a:solidFill>
            <a:prstDash val="solid"/>
          </a:ln>
        </p:spPr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8256ED3-95D1-42D3-A2CD-DDC9E4651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86450"/>
            <a:ext cx="960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7F3EA"/>
                </a:solidFill>
              </a:defRPr>
            </a:pPr>
            <a:r>
              <a:rPr sz="1125" b="1">
                <a:solidFill>
                  <a:srgbClr val="F7F3EA"/>
                </a:solidFill>
              </a:rPr>
              <a:t>复杂度和叙事都必须服从可验证的事实。</a:t>
            </a:r>
          </a:p>
        </p:txBody>
      </p:sp>
    </p:spTree>
    <p:extLst>
      <p:ext uri="{BB962C8B-B14F-4D97-AF65-F5344CB8AC3E}">
        <p14:creationId xmlns:p14="http://schemas.microsoft.com/office/powerpoint/2010/main" val="126041119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118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D7BE3BAD-8569-487E-91A6-ADB90E92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4A3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108B63F-EAA2-4A87-824F-919088513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81050"/>
            <a:ext cx="4095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B48A55"/>
                </a:solidFill>
              </a:defRPr>
            </a:pPr>
            <a:r>
              <a:rPr sz="3150" b="1">
                <a:solidFill>
                  <a:srgbClr val="B48A55"/>
                </a:solidFill>
              </a:rPr>
              <a:t>暗室藏书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562E19D-D4FD-496D-9B6A-20AF42C5D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43100"/>
            <a:ext cx="8096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项目的价值，不是功能多，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F7F3EA"/>
                </a:solidFill>
              </a:defRPr>
            </a:pPr>
            <a:r>
              <a:rPr sz="2700" b="1">
                <a:solidFill>
                  <a:srgbClr val="F7F3EA"/>
                </a:solidFill>
              </a:rPr>
              <a:t>而是每条链路都有开始、有结果、有证据。</a:t>
            </a:r>
          </a:p>
        </p:txBody>
      </p:sp>
      <p:sp>
        <p:nvSpPr>
          <p:cNvPr id="5" name="直接连接符 4">
            <a:extLst xmlns:a="http://schemas.openxmlformats.org/drawingml/2006/main">
              <a:ext uri="{FF2B5EF4-FFF2-40B4-BE49-F238E27FC236}">
                <a16:creationId xmlns:a16="http://schemas.microsoft.com/office/drawing/2014/main" id="{D755A24F-1D08-43C2-B46C-9A86C8E8E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35B"/>
            </a:solidFill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64C0274-9B28-4723-89CF-A584E1AA6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A74A3C"/>
                </a:solidFill>
              </a:defRPr>
            </a:pPr>
            <a:r>
              <a:rPr sz="1725" b="1">
                <a:solidFill>
                  <a:srgbClr val="A74A3C"/>
                </a:solidFill>
              </a:rPr>
              <a:t>业务闭环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C74EA70-39EB-4FB9-8669-85119C265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E8074"/>
                </a:solidFill>
              </a:defRPr>
            </a:pPr>
            <a:r>
              <a:rPr sz="1725" b="1">
                <a:solidFill>
                  <a:srgbClr val="5E8074"/>
                </a:solidFill>
              </a:rPr>
              <a:t>可降级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8EB1699-24A9-4C75-9E99-975058B7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B48A55"/>
                </a:solidFill>
              </a:defRPr>
            </a:pPr>
            <a:r>
              <a:rPr sz="1725" b="1">
                <a:solidFill>
                  <a:srgbClr val="B48A55"/>
                </a:solidFill>
              </a:rPr>
              <a:t>可验证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713DD664-220D-410B-9F25-52965577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9AA8B8"/>
                </a:solidFill>
              </a:defRPr>
            </a:pPr>
            <a:r>
              <a:rPr sz="1725" b="1">
                <a:solidFill>
                  <a:srgbClr val="9AA8B8"/>
                </a:solidFill>
              </a:rPr>
              <a:t>可交付</a:t>
            </a:r>
          </a:p>
        </p:txBody>
      </p:sp>
      <p:sp>
        <p:nvSpPr>
          <p:cNvPr id="10" name="椭圆 9">
            <a:extLst xmlns:a="http://schemas.openxmlformats.org/drawingml/2006/main">
              <a:ext uri="{FF2B5EF4-FFF2-40B4-BE49-F238E27FC236}">
                <a16:creationId xmlns:a16="http://schemas.microsoft.com/office/drawing/2014/main" id="{29CE0E04-8195-48C6-857C-B8455BBA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790700"/>
            <a:ext cx="1428750" cy="14287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A74A3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DRL</a:t>
            </a:r>
          </a:p>
          <a:p xmlns:a="http://schemas.openxmlformats.org/drawingml/2006/main">
            <a:pPr algn="ctr">
              <a:buNone/>
              <a:defRPr sz="2250" b="1">
                <a:solidFill>
                  <a:srgbClr val="A74A3C"/>
                </a:solidFill>
              </a:defRPr>
            </a:pPr>
            <a:r>
              <a:rPr sz="2250" b="1">
                <a:solidFill>
                  <a:srgbClr val="A74A3C"/>
                </a:solidFill>
              </a:rPr>
              <a:t>完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7F46EAB-0AE3-4BCD-AAE7-F9B513E53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B8C1BA"/>
                </a:solidFill>
              </a:defRPr>
            </a:pPr>
            <a:r>
              <a:rPr sz="1500" b="0">
                <a:solidFill>
                  <a:srgbClr val="B8C1BA"/>
                </a:solidFill>
              </a:rPr>
              <a:t>一套能运行、能解释、能维护，也诚实说明来路的系统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EDF7D9-A938-4827-89F4-9962863B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4360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68756E"/>
                </a:solidFill>
              </a:defRPr>
            </a:pPr>
            <a:r>
              <a:rPr sz="975" b="0">
                <a:solidFill>
                  <a:srgbClr val="68756E"/>
                </a:solidFill>
              </a:rPr>
              <a:t>DarkRoomLibrary · 2026</a:t>
            </a:r>
          </a:p>
        </p:txBody>
      </p:sp>
    </p:spTree>
    <p:extLst>
      <p:ext uri="{BB962C8B-B14F-4D97-AF65-F5344CB8AC3E}">
        <p14:creationId xmlns:p14="http://schemas.microsoft.com/office/powerpoint/2010/main" val="15359434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2026-08-29T11:42:17.9770000Z</dcterms:created>
  <dcterms:modified xsi:type="dcterms:W3CDTF">2026-08-29T11:42:17.9770000Z</dcterms:modified>
</coreProperties>
</file>