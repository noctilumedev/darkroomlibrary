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b38215719149c3" /><Relationship Type="http://schemas.openxmlformats.org/officeDocument/2006/relationships/extended-properties" Target="/docProps/app.xml" Id="R328c6ddf13cf486f" /><Relationship Type="http://schemas.openxmlformats.org/officeDocument/2006/relationships/officeDocument" Target="/ppt/presentation.xml" Id="Rd6e0b658eaf341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f47db272bb437e"/>
  </p:sldMasterIdLst>
  <p:notesMasterIdLst>
    <p:notesMasterId xmlns:r="http://schemas.openxmlformats.org/officeDocument/2006/relationships" r:id="Rf9560b1c58164b27"/>
  </p:notesMasterIdLst>
  <p:sldIdLst>
    <p:sldId xmlns:r="http://schemas.openxmlformats.org/officeDocument/2006/relationships" id="256" r:id="R444999b5730e4e4b"/>
    <p:sldId xmlns:r="http://schemas.openxmlformats.org/officeDocument/2006/relationships" id="257" r:id="R5a5c56528dba4744"/>
    <p:sldId xmlns:r="http://schemas.openxmlformats.org/officeDocument/2006/relationships" id="258" r:id="R100375501ff84eb0"/>
    <p:sldId xmlns:r="http://schemas.openxmlformats.org/officeDocument/2006/relationships" id="259" r:id="R37c07b3287324636"/>
    <p:sldId xmlns:r="http://schemas.openxmlformats.org/officeDocument/2006/relationships" id="260" r:id="R50c589df7f054ac2"/>
    <p:sldId xmlns:r="http://schemas.openxmlformats.org/officeDocument/2006/relationships" id="261" r:id="R7e6d1dadb09d445c"/>
    <p:sldId xmlns:r="http://schemas.openxmlformats.org/officeDocument/2006/relationships" id="262" r:id="R52297495fa9c41ba"/>
    <p:sldId xmlns:r="http://schemas.openxmlformats.org/officeDocument/2006/relationships" id="263" r:id="R2a021cd877da4cae"/>
    <p:sldId xmlns:r="http://schemas.openxmlformats.org/officeDocument/2006/relationships" id="264" r:id="R1d9a758f015c4e93"/>
    <p:sldId xmlns:r="http://schemas.openxmlformats.org/officeDocument/2006/relationships" id="265" r:id="R99bf42f432b44a42"/>
    <p:sldId xmlns:r="http://schemas.openxmlformats.org/officeDocument/2006/relationships" id="266" r:id="Rdee730be1a8e44e7"/>
    <p:sldId xmlns:r="http://schemas.openxmlformats.org/officeDocument/2006/relationships" id="267" r:id="R990794cc9e634855"/>
    <p:sldId xmlns:r="http://schemas.openxmlformats.org/officeDocument/2006/relationships" id="268" r:id="R94406da15149485a"/>
    <p:sldId xmlns:r="http://schemas.openxmlformats.org/officeDocument/2006/relationships" id="269" r:id="Rbc0fdc245611493a"/>
    <p:sldId xmlns:r="http://schemas.openxmlformats.org/officeDocument/2006/relationships" id="270" r:id="R065337f815be4731"/>
    <p:sldId xmlns:r="http://schemas.openxmlformats.org/officeDocument/2006/relationships" id="271" r:id="R7691177175c84431"/>
    <p:sldId xmlns:r="http://schemas.openxmlformats.org/officeDocument/2006/relationships" id="272" r:id="R27aee1b5a72a4002"/>
    <p:sldId xmlns:r="http://schemas.openxmlformats.org/officeDocument/2006/relationships" id="273" r:id="Rb8d5eaf4c3214c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b6eac5842244f1" /><Relationship Type="http://schemas.openxmlformats.org/officeDocument/2006/relationships/slideMaster" Target="/ppt/slideMasters/slideMaster1.xml" Id="R15f47db272bb437e" /><Relationship Type="http://schemas.openxmlformats.org/officeDocument/2006/relationships/notesMaster" Target="/ppt/notesMasters/notesMaster1.xml" Id="Rf9560b1c58164b27" /><Relationship Type="http://schemas.openxmlformats.org/officeDocument/2006/relationships/presProps" Target="/ppt/presProps.xml" Id="R3c8b848c74df445a" /><Relationship Type="http://schemas.openxmlformats.org/officeDocument/2006/relationships/viewProps" Target="/ppt/viewProps.xml" Id="Rf127c586077a4de4" /><Relationship Type="http://schemas.openxmlformats.org/officeDocument/2006/relationships/tableStyles" Target="/ppt/tableStyles.xml" Id="Rce4d713688134ee0" /><Relationship Type="http://schemas.openxmlformats.org/officeDocument/2006/relationships/slide" Target="/ppt/slides/slide1.xml" Id="R444999b5730e4e4b" /><Relationship Type="http://schemas.openxmlformats.org/officeDocument/2006/relationships/slide" Target="/ppt/slides/slide2.xml" Id="R5a5c56528dba4744" /><Relationship Type="http://schemas.openxmlformats.org/officeDocument/2006/relationships/slide" Target="/ppt/slides/slide3.xml" Id="R100375501ff84eb0" /><Relationship Type="http://schemas.openxmlformats.org/officeDocument/2006/relationships/slide" Target="/ppt/slides/slide4.xml" Id="R37c07b3287324636" /><Relationship Type="http://schemas.openxmlformats.org/officeDocument/2006/relationships/slide" Target="/ppt/slides/slide5.xml" Id="R50c589df7f054ac2" /><Relationship Type="http://schemas.openxmlformats.org/officeDocument/2006/relationships/slide" Target="/ppt/slides/slide6.xml" Id="R7e6d1dadb09d445c" /><Relationship Type="http://schemas.openxmlformats.org/officeDocument/2006/relationships/slide" Target="/ppt/slides/slide7.xml" Id="R52297495fa9c41ba" /><Relationship Type="http://schemas.openxmlformats.org/officeDocument/2006/relationships/slide" Target="/ppt/slides/slide8.xml" Id="R2a021cd877da4cae" /><Relationship Type="http://schemas.openxmlformats.org/officeDocument/2006/relationships/slide" Target="/ppt/slides/slide9.xml" Id="R1d9a758f015c4e93" /><Relationship Type="http://schemas.openxmlformats.org/officeDocument/2006/relationships/slide" Target="/ppt/slides/slide10.xml" Id="R99bf42f432b44a42" /><Relationship Type="http://schemas.openxmlformats.org/officeDocument/2006/relationships/slide" Target="/ppt/slides/slide11.xml" Id="Rdee730be1a8e44e7" /><Relationship Type="http://schemas.openxmlformats.org/officeDocument/2006/relationships/slide" Target="/ppt/slides/slide12.xml" Id="R990794cc9e634855" /><Relationship Type="http://schemas.openxmlformats.org/officeDocument/2006/relationships/slide" Target="/ppt/slides/slide13.xml" Id="R94406da15149485a" /><Relationship Type="http://schemas.openxmlformats.org/officeDocument/2006/relationships/slide" Target="/ppt/slides/slide14.xml" Id="Rbc0fdc245611493a" /><Relationship Type="http://schemas.openxmlformats.org/officeDocument/2006/relationships/slide" Target="/ppt/slides/slide15.xml" Id="R065337f815be4731" /><Relationship Type="http://schemas.openxmlformats.org/officeDocument/2006/relationships/slide" Target="/ppt/slides/slide16.xml" Id="R7691177175c84431" /><Relationship Type="http://schemas.openxmlformats.org/officeDocument/2006/relationships/slide" Target="/ppt/slides/slide17.xml" Id="R27aee1b5a72a4002" /><Relationship Type="http://schemas.openxmlformats.org/officeDocument/2006/relationships/slide" Target="/ppt/slides/slide18.xml" Id="Rb8d5eaf4c3214c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760585096946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094a3bb6d24152" /><Relationship Type="http://schemas.openxmlformats.org/officeDocument/2006/relationships/notesMaster" Target="/ppt/notesMasters/notesMaster1.xml" Id="Rb99c59ebcdf14e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4be2d2b1a541a4" /><Relationship Type="http://schemas.openxmlformats.org/officeDocument/2006/relationships/notesMaster" Target="/ppt/notesMasters/notesMaster1.xml" Id="Rff8acc93dc994c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d40eeb9fe2423d" /><Relationship Type="http://schemas.openxmlformats.org/officeDocument/2006/relationships/notesMaster" Target="/ppt/notesMasters/notesMaster1.xml" Id="R1c11fdc31422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03c84965034b11" /><Relationship Type="http://schemas.openxmlformats.org/officeDocument/2006/relationships/notesMaster" Target="/ppt/notesMasters/notesMaster1.xml" Id="R5f2bb8ded2ee43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ce5671043c49b8" /><Relationship Type="http://schemas.openxmlformats.org/officeDocument/2006/relationships/notesMaster" Target="/ppt/notesMasters/notesMaster1.xml" Id="Rdf2468995f904d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e67a37a96546a2" /><Relationship Type="http://schemas.openxmlformats.org/officeDocument/2006/relationships/notesMaster" Target="/ppt/notesMasters/notesMaster1.xml" Id="R1ae83b8aa29c47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bd99d938d54426" /><Relationship Type="http://schemas.openxmlformats.org/officeDocument/2006/relationships/notesMaster" Target="/ppt/notesMasters/notesMaster1.xml" Id="Rf4d5cdb067774c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f2fdabea9b40dc" /><Relationship Type="http://schemas.openxmlformats.org/officeDocument/2006/relationships/notesMaster" Target="/ppt/notesMasters/notesMaster1.xml" Id="Rbf51724b002c4a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961ec322174967" /><Relationship Type="http://schemas.openxmlformats.org/officeDocument/2006/relationships/notesMaster" Target="/ppt/notesMasters/notesMaster1.xml" Id="R1d80cf6790cf47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7bdc2d0446422b" /><Relationship Type="http://schemas.openxmlformats.org/officeDocument/2006/relationships/notesMaster" Target="/ppt/notesMasters/notesMaster1.xml" Id="Rb97b04ea21fd4f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3b60ccd2004cc0" /><Relationship Type="http://schemas.openxmlformats.org/officeDocument/2006/relationships/notesMaster" Target="/ppt/notesMasters/notesMaster1.xml" Id="R5786cf0479ee44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3bd3a07b5c423d" /><Relationship Type="http://schemas.openxmlformats.org/officeDocument/2006/relationships/notesMaster" Target="/ppt/notesMasters/notesMaster1.xml" Id="R1b0feabc3fbf43a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ad4c4e744943c8" /><Relationship Type="http://schemas.openxmlformats.org/officeDocument/2006/relationships/notesMaster" Target="/ppt/notesMasters/notesMaster1.xml" Id="R388d7a8889c74c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540c085b7824640" /><Relationship Type="http://schemas.openxmlformats.org/officeDocument/2006/relationships/notesMaster" Target="/ppt/notesMasters/notesMaster1.xml" Id="R020ae15002ad401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319024810449f4" /><Relationship Type="http://schemas.openxmlformats.org/officeDocument/2006/relationships/notesMaster" Target="/ppt/notesMasters/notesMaster1.xml" Id="R60a2d23dac4d47f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e7dec1b922f4945" /><Relationship Type="http://schemas.openxmlformats.org/officeDocument/2006/relationships/notesMaster" Target="/ppt/notesMasters/notesMaster1.xml" Id="Ra0fec4fdce214c1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a893b76c97645bd" /><Relationship Type="http://schemas.openxmlformats.org/officeDocument/2006/relationships/notesMaster" Target="/ppt/notesMasters/notesMaster1.xml" Id="R8e09908d423549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7ab034d6b248ef" /><Relationship Type="http://schemas.openxmlformats.org/officeDocument/2006/relationships/notesMaster" Target="/ppt/notesMasters/notesMaster1.xml" Id="Ra63508fb016b4a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开场先说明：项目想法始于 2026 年 5 月；7 月短学期提供了集中实现机会，课程提交后继续在暑假独立重构。早期课程版本很简单，当前公开基线已统一为 Vue 3 + Vite 和 Spring Boot 3，并覆盖借阅、归还、预约、采购补货、内容审核、系统审计和中间件降级。Git 在项目中途引入，因此仓库从审查后的公开基线开始；截图使用当前前端和固定的虚构演示数据生成。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- Project history: docs/project-history.md.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给非技术观众一个最简单的定义：系统处理的是书的完整生命周期，而不是数据库里的一行记录。四条链路分别对应读者使用、社区互动、馆藏供应和系统治理。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重点解释角色边界。系统只有五个基础角色编码，馆务协调员只是管理员记录上的能力标记。这样既允许跨管理员协调采购，又避免产生难以维护的第六套权限体系。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读者端不是传统左侧菜单后台。首次进入保留暗室与灯火意象，登录后仍提供明确的找书、借阅、收藏和留言入口。书名、作者、评论和封面均使用项目专用的虚构演示数据。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这里是系统最重要的技术点。库存扣减和借阅记录写入在同一个数据库事务中，通过条件更新解决并发竞争。测试已经覆盖库存为 1、多线程同时借阅时只能成功一人的场景。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这页解释为什么系统不是简单的借还表。续借受次数、时间窗口和预约队列限制；预约遵循先来先服务；罚款有封顶，避免无限增长。通知属于旁路，不影响核心事务。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读者可以查看最新或最热书评、点赞、取消点赞、回复和举报。管理员在内容审核中选择隐藏违规内容或忽略无效举报，这些操作会进入审计日志。演示评论和用户名均为重新编写的虚构内容。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采购闭环从低库存开始：管理员提出需求，采购员认领并推进，物流员只处理分配给自己的任务。入库状态触发库存补充，状态条件防止重复入库。超级管理员可以查看全局记录。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这里强调纵深防护。前端隐藏菜单只是体验层；后端权限 AOP 判断角色和馆务协调权限，Service 继续判断目标用户、订单和文件的数据范围。用户名唯一约束、资料校验和敏感导出过滤共同守住边界。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系统使用清晰的单体分层。当前基线为 Spring Boot 3.5.16、MyBatis-Plus 3.5.17、Vue 3.5.40 和 Vite 8.1.5。Controller 不直连 Mapper；Service 管理事务和业务规则；Redis、MQ、邮件和文件系统通过适配层接入。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Technical versions: README.md and backend/frontend dependency manifests.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数据表按业务域分组。比如点赞和预约使用唯一约束防止重复，采购与物流用状态字段限制非法跳转，文件表同时记录物理文件、业务类型、引用编号和生命周期状态。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Redis 不可用时，验证码和登录失败计数切到本机内存，缓存查询直接访问数据库；Redis 恢复前会先回放删除意图，避免旧验证码或登录锁定键重新生效。RabbitMQ 不可用时，借还、预约等 MySQL 核心事务仍可提交，通知任务保留在数据库中并由定时任务补偿。操作审计不依赖 RabbitMQ，而是在业务提交后通过独立事务尽力写入；进程恰好在两次提交之间崩溃时，可能少一条审计记录。邮件失败只保留待重试任务，不回滚借还和预约。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review: docs/architecture-review.md.</a:t>
            </a:r>
          </a:p>
          <a:p xmlns:a="http://schemas.openxmlformats.org/drawingml/2006/main">
            <a:r>
              <a:t>- Verification report: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注册页面在输入密码时动态显示规则，后端仍会再次验证密码强度。文件上传同时检查扩展名、MIME、大小和文件头，HTML 只能下载，私有附件需要登录和数据权限。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读者端强调进入和阅读的氛围，但核心按钮保持清楚；个人资料弹窗沿用登录页的纸面底色、提示语和输入逻辑，保存按钮使用封蜡红。管理端优先信息密度和长期操作。最终浏览器诊断覆盖 86 个路由，没有 Console、页面、网络或横向溢出异常。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screenshots: tests/e2e/docs-screenshots.mjs, generated 2026-07-26.</a:t>
            </a:r>
          </a:p>
          <a:p xmlns:a="http://schemas.openxmlformats.org/drawingml/2006/main">
            <a:r>
              <a:t>- Browser evidence: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数字来自 2026-07-27 最终干净回归：后端 225 项、前端 31 项全部通过；五角色完成 75 次真实 API 响应；单实例并发一致性覆盖 20 个场景和 393 次请求，最大场景 P95 为 146 ms；双实例覆盖 6 个场景和 125 次请求，最大场景 P95 为 121 ms；浏览器完成 86 个路由检查、248 次 API 响应和 3968 次总网络响应。27 个外键关系、领域不变量、Redis TTL、Redis/RabbitMQ 故障恢复与队列消费均通过。最终并发套件保留 2 条发送到虚构 .local 地址的可补偿通知任务，用于验证邮件失败恢复路径。当前数字是正确性证据，不是容量基准；双实例证据不包含共享文件存储。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Verification summary: docs/verification-report.md.</a:t>
            </a:r>
          </a:p>
          <a:p xmlns:a="http://schemas.openxmlformats.org/drawingml/2006/main">
            <a:r>
              <a:t>- Single-instance concurrency: frontend/dark-room-library-web/test-results/concurrency/report.json.</a:t>
            </a:r>
          </a:p>
          <a:p xmlns:a="http://schemas.openxmlformats.org/drawingml/2006/main">
            <a:r>
              <a:t>- Multi-instance concurrency: frontend/dark-room-library-web/test-results/multi-instance/report.json.</a:t>
            </a:r>
          </a:p>
          <a:p xmlns:a="http://schemas.openxmlformats.org/drawingml/2006/main">
            <a:r>
              <a:t>- Browser diagnostics: frontend/dark-room-library-web/test-results/browser-diagnostics/report.json.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交付包不包含依赖和本地数据。新环境执行 sql/init-dark-room-library.sql，后端默认监听 20606，前端监听 5175。演示账号密码通过本地环境变量提供，不写入公开材料。中间件默认关闭，可在核心功能跑通后通过环境变量启用。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and sql/README.md.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这页说明系统级取舍。当前代码已经统一为 Vue 3 + Vite 和 Spring Boot 3，并保留模块化单体与单库本地事务；不为了叙事拆微服务，也不在没有收益时强上 TCC 或 Elasticsearch。若未来真正拆分跨服务流程，再引入 transactional outbox、幂等消费和显式补偿。Git 在项目中途加入，因此首次提交明确标记为审查后的公开基线，不伪造课程阶段和暑假早期的提交。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review: docs/architecture-review.md.</a:t>
            </a:r>
          </a:p>
          <a:p xmlns:a="http://schemas.openxmlformats.org/drawingml/2006/main">
            <a:r>
              <a:t>- Project history: docs/project-history.md.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结尾回到开场：项目的价值不是罗列 Controller 或数据表，而是业务、权限、数据和基础设施形成闭环；一致性边界、降级限制和测试证据都公开写清。当前版本可以运行、测试、解释和交付，历史说明只记录真实发生的中途 Git 采用、课程实现机会和暑假重构。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documentation: README.md, docs/project-history.md, docs/architecture-review.md,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2575e6eeca42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29daa1d4554ecb" /><Relationship Type="http://schemas.openxmlformats.org/officeDocument/2006/relationships/slideLayout" Target="/ppt/slideLayouts/slideLayout1.xml" Id="Rce53a51f8d7245c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53a51f8d7245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030a7b75b44f5" /><Relationship Type="http://schemas.openxmlformats.org/officeDocument/2006/relationships/image" Target="/ppt/media/image.png" Id="R0e0b789f978f4e2b" /><Relationship Type="http://schemas.openxmlformats.org/officeDocument/2006/relationships/notesSlide" Target="/ppt/notesSlides/notesSlide1.xml" Id="R3cc3a94e30a64b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a760a85514aa1" /><Relationship Type="http://schemas.openxmlformats.org/officeDocument/2006/relationships/image" Target="/ppt/media/image2.png" Id="Ra306565a5afa4681" /><Relationship Type="http://schemas.openxmlformats.org/officeDocument/2006/relationships/notesSlide" Target="/ppt/notesSlides/notesSlide2.xml" Id="R31ec41fa973d42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6356fb4a04c17" /><Relationship Type="http://schemas.openxmlformats.org/officeDocument/2006/relationships/notesSlide" Target="/ppt/notesSlides/notesSlide3.xml" Id="R1577c323a7cc44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956a68b604da0" /><Relationship Type="http://schemas.openxmlformats.org/officeDocument/2006/relationships/image" Target="/ppt/media/image3.png" Id="R2e7a115725494da5" /><Relationship Type="http://schemas.openxmlformats.org/officeDocument/2006/relationships/notesSlide" Target="/ppt/notesSlides/notesSlide4.xml" Id="Rb961a923df064d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570c3d6bd4091" /><Relationship Type="http://schemas.openxmlformats.org/officeDocument/2006/relationships/notesSlide" Target="/ppt/notesSlides/notesSlide5.xml" Id="R4ad98246dc334c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9c9bd2db04cbd" /><Relationship Type="http://schemas.openxmlformats.org/officeDocument/2006/relationships/notesSlide" Target="/ppt/notesSlides/notesSlide6.xml" Id="R42a8957e6a2542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14c2ac64b42de" /><Relationship Type="http://schemas.openxmlformats.org/officeDocument/2006/relationships/image" Target="/ppt/media/image4.png" Id="R8f68862f17564764" /><Relationship Type="http://schemas.openxmlformats.org/officeDocument/2006/relationships/notesSlide" Target="/ppt/notesSlides/notesSlide7.xml" Id="R31ae4904e74249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00cdcdc214a98" /><Relationship Type="http://schemas.openxmlformats.org/officeDocument/2006/relationships/image" Target="/ppt/media/image5.png" Id="R8bd9671d844d45e0" /><Relationship Type="http://schemas.openxmlformats.org/officeDocument/2006/relationships/notesSlide" Target="/ppt/notesSlides/notesSlide8.xml" Id="R057eb1232a9944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e3907919340a1" /><Relationship Type="http://schemas.openxmlformats.org/officeDocument/2006/relationships/image" Target="/ppt/media/image6.png" Id="Rfa738e00598f4e87" /><Relationship Type="http://schemas.openxmlformats.org/officeDocument/2006/relationships/notesSlide" Target="/ppt/notesSlides/notesSlide9.xml" Id="R09864241fc2c43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789689d9d44b0" /><Relationship Type="http://schemas.openxmlformats.org/officeDocument/2006/relationships/notesSlide" Target="/ppt/notesSlides/notesSlide10.xml" Id="R7d71070dd2934e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4cd8c97ed4d87" /><Relationship Type="http://schemas.openxmlformats.org/officeDocument/2006/relationships/notesSlide" Target="/ppt/notesSlides/notesSlide11.xml" Id="R2e308deb699a44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9900e208b4c19" /><Relationship Type="http://schemas.openxmlformats.org/officeDocument/2006/relationships/notesSlide" Target="/ppt/notesSlides/notesSlide12.xml" Id="Ra0967661f3164e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5ae931def4323" /><Relationship Type="http://schemas.openxmlformats.org/officeDocument/2006/relationships/image" Target="/ppt/media/image7.png" Id="Rd9af2f0093b04d1d" /><Relationship Type="http://schemas.openxmlformats.org/officeDocument/2006/relationships/notesSlide" Target="/ppt/notesSlides/notesSlide13.xml" Id="R15325f562cc340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c4ebfba8d4688" /><Relationship Type="http://schemas.openxmlformats.org/officeDocument/2006/relationships/image" Target="/ppt/media/image8.png" Id="R9f2d52dde21c43e1" /><Relationship Type="http://schemas.openxmlformats.org/officeDocument/2006/relationships/image" Target="/ppt/media/image9.png" Id="R48eee6fffebe4a13" /><Relationship Type="http://schemas.openxmlformats.org/officeDocument/2006/relationships/notesSlide" Target="/ppt/notesSlides/notesSlide14.xml" Id="Rb2920a2e90b348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6bf17950a497a" /><Relationship Type="http://schemas.openxmlformats.org/officeDocument/2006/relationships/notesSlide" Target="/ppt/notesSlides/notesSlide15.xml" Id="R09c2b4371f6047b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5f12cd0eb4828" /><Relationship Type="http://schemas.openxmlformats.org/officeDocument/2006/relationships/notesSlide" Target="/ppt/notesSlides/notesSlide16.xml" Id="R1b82b635ebe34f5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8162cc6f74334" /><Relationship Type="http://schemas.openxmlformats.org/officeDocument/2006/relationships/notesSlide" Target="/ppt/notesSlides/notesSlide17.xml" Id="R8cb0f8b90b6d4f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07f66d1c14645" /><Relationship Type="http://schemas.openxmlformats.org/officeDocument/2006/relationships/notesSlide" Target="/ppt/notesSlides/notesSlide18.xml" Id="Rea919cbdcad04f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b789f978f4e2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98DD21-3BB9-4ABA-BC7B-43B76ADD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A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429949DF-46C0-47DC-9008-478C9AAA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76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222A76-846F-4589-9584-C8887127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85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SPRING BOOT 3 × VUE 3 + VITE</a:t>
            </a:r>
          </a:p>
        </p:txBody>
      </p:sp>
      <p:sp>
        <p:nvSpPr>
          <p:cNvPr id="5" name="deck-title">
            <a:extLst xmlns:a="http://schemas.openxmlformats.org/drawingml/2006/main">
              <a:ext uri="{FF2B5EF4-FFF2-40B4-BE49-F238E27FC236}">
                <a16:creationId xmlns:a16="http://schemas.microsoft.com/office/drawing/2014/main" id="{6D7DE0CB-4694-4FB9-AE69-9D54075D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43100"/>
            <a:ext cx="590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7F3EA"/>
                </a:solidFill>
              </a:defRPr>
            </a:pPr>
            <a:r>
              <a:rPr sz="4350" b="1">
                <a:solidFill>
                  <a:srgbClr val="F7F3EA"/>
                </a:solidFill>
              </a:rPr>
              <a:t>暗室藏书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502712F-1FF4-4EB8-9940-FB2DBEA6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D8DDD8"/>
                </a:solidFill>
              </a:defRPr>
            </a:pPr>
            <a:r>
              <a:rPr sz="1725" b="0">
                <a:solidFill>
                  <a:srgbClr val="D8DDD8"/>
                </a:solidFill>
              </a:rPr>
              <a:t>一套把借阅、互动、采购、审计与降级真正连起来的图书管理系统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35071CE-E8D2-4ED2-BD8F-E8C73A05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项目介绍 · 2026.07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FB8C7BA-3266-474C-A58A-27427DDA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F7F3EA"/>
                </a:solidFill>
              </a:defRPr>
            </a:pPr>
            <a:r>
              <a:rPr sz="1650" b="1">
                <a:solidFill>
                  <a:srgbClr val="F7F3EA"/>
                </a:solidFill>
              </a:rPr>
              <a:t>DRL</a:t>
            </a:r>
          </a:p>
        </p:txBody>
      </p:sp>
    </p:spTree>
    <p:extLst>
      <p:ext uri="{BB962C8B-B14F-4D97-AF65-F5344CB8AC3E}">
        <p14:creationId xmlns:p14="http://schemas.microsoft.com/office/powerpoint/2010/main" val="6973469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D70A324-E42E-43E7-AE6B-5345D2C0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01 · WHAT IT IS</a:t>
            </a:r>
          </a:p>
        </p:txBody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39448CB0-A9D4-47C4-9360-73AAADE3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它不止管理书，还管理一条完整链路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DEF1406-1D4F-43E2-BEFE-FD4AE9FD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前台让读者愿意停留，后台让每一次流转都有结果。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BF58316F-A67E-452F-855B-6FBCF499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E087C70-87AB-40D8-9580-E86C7801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95BE5B3-C81B-4905-BFA5-77CF0EAC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D568ABF-5A68-497B-B490-72AAF535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74A3C"/>
                </a:solidFill>
              </a:defRPr>
            </a:pPr>
            <a:r>
              <a:rPr sz="1650" b="1">
                <a:solidFill>
                  <a:srgbClr val="A74A3C"/>
                </a:solidFill>
              </a:rPr>
              <a:t>流通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695B085-19A3-41A0-BAF7-DF4719C2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431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借书、归还、续借、预约与罚款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659A13C6-A1C9-4609-998D-3230795C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A01BA07-0A66-405F-9A5A-CF80B726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E8074"/>
                </a:solidFill>
              </a:defRPr>
            </a:pPr>
            <a:r>
              <a:rPr sz="165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017845FD-379D-438D-BC7E-BB3B506F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书评、点赞、回复、举报与审核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62F41A3D-669E-46F9-82C6-605D351F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9A915C8-7FE9-4E33-9C5E-F929E834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供应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834B71D-09BA-449C-BA82-2D5AA765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低库存、采购、物流、入库补货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6E917E63-D215-4D51-B6C4-E0D8DB48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719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7152600-35DF-4E43-A44F-69AD6DCE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治理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CDF9FCB-3116-4ABF-A705-6B1EF39D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权限、文件、通知、日志与导出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681F43B6-C385-4780-94BE-3ED0DABE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60C48988-59A0-43EC-9F47-8C6F1248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14500"/>
            <a:ext cx="607695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43" name="图片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6565a5afa468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4521" y="1771650"/>
            <a:ext cx="4928308" cy="4171950"/>
          </a:xfrm>
          <a:prstGeom xmlns:a="http://schemas.openxmlformats.org/drawingml/2006/main" prst="rect">
            <a:avLst/>
          </a:prstGeom>
        </p:spPr>
      </p:pic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B966843-1FB0-43B6-9815-6F8B273A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A74A3C"/>
                </a:solidFill>
              </a:defRPr>
            </a:pPr>
            <a:r>
              <a:rPr sz="975" b="1">
                <a:solidFill>
                  <a:srgbClr val="A74A3C"/>
                </a:solidFill>
              </a:rPr>
              <a:t>一句话理解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93446A4-A5EF-4DB9-9E77-6A49DA21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E766F"/>
                </a:solidFill>
              </a:defRPr>
            </a:pPr>
            <a:r>
              <a:rPr sz="1350" b="0">
                <a:solidFill>
                  <a:srgbClr val="6E766F"/>
                </a:solidFill>
              </a:rPr>
              <a:t>让一本书从“被发现”到“被归还、被补货、被审计”都有明确去处。</a:t>
            </a:r>
          </a:p>
        </p:txBody>
      </p:sp>
    </p:spTree>
    <p:extLst>
      <p:ext uri="{BB962C8B-B14F-4D97-AF65-F5344CB8AC3E}">
        <p14:creationId xmlns:p14="http://schemas.microsoft.com/office/powerpoint/2010/main" val="330116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F62D30B-D2AD-4190-9FA3-7478986F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02 · PEOPLE</a:t>
            </a:r>
          </a:p>
        </p:txBody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49383F6-68E2-4D8F-B459-02893A24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五类角色共同完成一件事：让书真正流动起来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1BAD626-04E1-421A-AB5D-CFE31034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每个人只看见职责范围内的数据，跨岗位协作必须留痕。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41BED7B2-012E-4564-A96C-955A699F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13AE4A4-423F-43EB-B13E-8AC3C948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B214A63-65DB-4B12-9C70-D055B1C4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03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4162946C-72E9-4548-9BDA-F39E4D2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876F8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读者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借阅互动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提出真实需求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C7A5A9C8-49BD-4357-905C-3409BE5D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馆藏流通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内容与需求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7D642D22-2B7F-41A9-8F54-EE500276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认领采购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连接物流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26EC9CD0-6928-418D-B807-5C28DC02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73869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运输到馆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完成入库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53B7D46D-A75C-4197-A091-5F0D9B9C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超级管理员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全局控制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审计与授权</a:t>
            </a:r>
          </a:p>
        </p:txBody>
      </p:sp>
      <p:cxnSp>
        <p:nvCxnSpPr>
          <p:cNvPr id="150" name="直接箭头连接符 29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574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51" name="直接箭头连接符 30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863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52" name="直接箭头连接符 31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9151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53" name="直接箭头连接符 32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1440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7ED30F98-B055-4D28-B1E3-E4784A4B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10668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3F508BC-5F3C-4BD8-AC8C-5F57FD01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100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馆务协调权限不是第六类角色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4CB0EE8-93AF-4957-9E1D-5A2E44B5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33875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它是超级管理员授予普通管理员的协调能力：可以跨管理员处理采购事项，但仍不能触碰文件治理、完整导出和超级管理员权限。</a:t>
            </a:r>
          </a:p>
        </p:txBody>
      </p:sp>
    </p:spTree>
    <p:extLst>
      <p:ext uri="{BB962C8B-B14F-4D97-AF65-F5344CB8AC3E}">
        <p14:creationId xmlns:p14="http://schemas.microsoft.com/office/powerpoint/2010/main" val="6816212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B67F99-D8D2-4A9E-BB55-1A890917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03 · READER JOURNEY</a:t>
            </a:r>
          </a:p>
        </p:txBody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BED73AE8-D57C-40E7-90A9-E9C10813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读者看到的是一间书房，背后是一套完整服务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094A2DA-A988-4B82-A32D-0899EC4A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氛围负责邀请用户进入，清晰的操作负责让用户留下。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FA5E7DD-02B7-477E-A515-BF28690E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9EDA275-9219-4E54-90AA-28904BFC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B6A547E-DAC5-4F13-AB99-4D935701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A2C04DF3-60B6-493E-A262-2E01CDCE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6934200" cy="426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6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a115725494da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52600"/>
            <a:ext cx="6819900" cy="415290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0C7DB94-C467-44EE-9BE3-E7353614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621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找书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492279-2016-4409-A4C2-E84ABB2D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716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检索、分类筛选、详情与库存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1BFE014-4EEC-4E97-8BE8-F1F1CEB2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575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借书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A18A72C-1EF1-457E-9487-21ACEB78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670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并发保护、配额与预约归属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153F514-2275-4A44-9AB1-965B1455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管理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B656534-BA7B-4D26-BEAA-6A2E2BD0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623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我的借阅、续借、预约、收藏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83A17A7-69A0-4C91-AA1F-2F6461D8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交流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3F83D74-ECE3-4D7D-94D0-3FD018DA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577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留言附件、书评、点赞与回复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8C0BF05-ABE2-459F-ACFE-3B240232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1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8074"/>
                </a:solidFill>
              </a:defRPr>
            </a:pPr>
            <a:r>
              <a:rPr sz="1200" b="1">
                <a:solidFill>
                  <a:srgbClr val="5E8074"/>
                </a:solidFill>
              </a:rPr>
              <a:t>夜间沉浸 / 白天清朗</a:t>
            </a:r>
          </a:p>
        </p:txBody>
      </p:sp>
    </p:spTree>
    <p:extLst>
      <p:ext uri="{BB962C8B-B14F-4D97-AF65-F5344CB8AC3E}">
        <p14:creationId xmlns:p14="http://schemas.microsoft.com/office/powerpoint/2010/main" val="12976783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FBB7AB1-4CA0-40BE-9B03-A2DA880B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04 · CORE TRANSACTION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36310B96-B62B-451D-9968-AE80BD5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借阅正确性的核心只有一句：库存永不为负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CB15087-9A1F-4A1E-8056-3B1B3C77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最终库存只认 MySQL；Redis 不保存最终库存。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E1B17A3-3643-460D-B4DF-08689493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D704BFB-1EAE-47DC-8AC2-E788FCC2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4F7AEAB-C9E6-4095-B566-7A5EB4CF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05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384A9F35-8354-41C7-A505-D64FBADF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70C705-2929-4F35-A1D2-C52455BA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9BD20A6-68E2-43CC-A8A9-4593FD71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校验读者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98E8E15-D768-48EE-A313-B2B52599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账号状态、配额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23CDFDCD-65E4-49D3-B352-BCCB9B1C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44F9C2F-E0F6-450C-A7F5-A23C4803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16257E5-5A8A-40E9-B9C4-ACFDEC62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校验图书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036508B-9216-4463-8895-DE21E843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在架、预约归属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29F5F63A-4122-48E7-9E55-1EE3E97A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189BD80-F038-482A-8C23-12B91310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95CCC88-2070-473E-A4E6-94078973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条件扣库存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CC92934-08D8-492A-8F3A-91EEF9B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available_num &gt; 0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64DE61D8-8734-40A9-B1BD-FD920C80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CC9B9E5-40AD-4E76-AB7D-B3510084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4591570-0778-4E4B-8D18-1E45719F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写借阅记录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49CFC25-974A-47D3-8F31-67D6C750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同一事务提交</a:t>
            </a:r>
          </a:p>
        </p:txBody>
      </p:sp>
      <p:cxnSp>
        <p:nvCxnSpPr>
          <p:cNvPr id="251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52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53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344D4095-3698-4DA4-AD41-D7F8B83D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267950" cy="990600"/>
          </a:xfrm>
          <a:prstGeom xmlns:a="http://schemas.openxmlformats.org/drawingml/2006/main" prst="roundRect">
            <a:avLst>
              <a:gd name="adj" fmla="val 4808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E4D4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5B4A677-700B-420E-BBEF-7B5C7700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9D6CB"/>
                </a:solidFill>
              </a:defRPr>
            </a:pPr>
            <a:r>
              <a:rPr sz="1275" b="1">
                <a:solidFill>
                  <a:srgbClr val="B9D6CB"/>
                </a:solidFill>
              </a:rPr>
              <a:t>UPDATE book SET available_num = available_num - 1 WHERE id = ? AND available_num &gt; 0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EF1EE615-0667-4877-A6D5-7A598F03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多个读者同时抢最后一本时，只有一条更新会成功；失败请求不会产生借阅记录。</a:t>
            </a:r>
          </a:p>
        </p:txBody>
      </p:sp>
    </p:spTree>
    <p:extLst>
      <p:ext uri="{BB962C8B-B14F-4D97-AF65-F5344CB8AC3E}">
        <p14:creationId xmlns:p14="http://schemas.microsoft.com/office/powerpoint/2010/main" val="7040513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5831BBA-BE65-4B63-8F21-08BF4416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05 · AFTER BORROWING</a:t>
            </a:r>
          </a:p>
        </p:txBody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8F28F1AB-F05C-4808-A8AF-C18BD3CE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预约、续借、罚款补上了借书之后的空白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B549CBD-56CE-410E-931A-CF23284F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规则不隐藏在代码里，而是形成可解释、可验收的状态。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149A438F-CEF4-493C-9B0E-21466FFF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1DC9E8-4F70-41D4-B453-0D772FD4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29ED83D-D6BE-499A-8FDA-06C6F5AE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06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E722D391-F8F5-4CC7-BBA1-A5CCDA26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F712F81-2CB1-4C7D-A598-C0606AD2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A74A3C"/>
                </a:solidFill>
              </a:defRPr>
            </a:pPr>
            <a:r>
              <a:rPr sz="2025" b="1">
                <a:solidFill>
                  <a:srgbClr val="A74A3C"/>
                </a:solidFill>
              </a:rPr>
              <a:t>预约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B8D628D-647D-45CA-93B4-717E953A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无库存才进入 FIFO 队列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每位读者有有效预约上限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归还后通知最早预约人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48 小时未取自动过期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E49F40C8-C2C4-42E3-B0D6-C93AB02A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E8074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45CDDEE-C21C-490F-9F65-97476A03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E8074"/>
                </a:solidFill>
              </a:defRPr>
            </a:pPr>
            <a:r>
              <a:rPr sz="2025" b="1">
                <a:solidFill>
                  <a:srgbClr val="5E8074"/>
                </a:solidFill>
              </a:rPr>
              <a:t>续借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BD52573-004F-41DA-B7AF-114EF8C9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每条借阅最多一次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仅到期前三天开放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存在预约队列时禁止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当天发送一次邮件提醒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997CB778-F77A-4847-9C49-4DEFCB54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48A5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ADF7AF1-2161-4219-AF5E-4C7D21CA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B48A55"/>
                </a:solidFill>
              </a:defRPr>
            </a:pPr>
            <a:r>
              <a:rPr sz="2025" b="1">
                <a:solidFill>
                  <a:srgbClr val="B48A55"/>
                </a:solidFill>
              </a:rPr>
              <a:t>逾期罚款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D76A151-EE22-4532-B005-DEE11454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按逾期天数计算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金额不超过图书价格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归还时恢复库存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邮件失败不回滚还书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9A46FE5-EC86-488A-9225-726497ED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668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BEC29D9B-C1A4-4FF1-86E3-3F3ABE56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9117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预约状态：等待 → 已通知 → 已借阅 / 已取消 / 已过期</a:t>
            </a:r>
          </a:p>
        </p:txBody>
      </p:sp>
    </p:spTree>
    <p:extLst>
      <p:ext uri="{BB962C8B-B14F-4D97-AF65-F5344CB8AC3E}">
        <p14:creationId xmlns:p14="http://schemas.microsoft.com/office/powerpoint/2010/main" val="433609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6F8E342-9719-4D36-B6A8-ABE8FA0C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06 · COMMUNITY</a:t>
            </a:r>
          </a:p>
        </p:txBody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B3C8E26A-5415-495A-9CCB-4FFD9B1E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读者之间可以互动，但内容必须有人负责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8EDB635-21AB-4E02-8B17-C73D271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书评从发表到审核形成闭环，而不是只多一张评论表。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770971E6-5EDD-45A1-8C68-E1EE186B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C9C489-9FBC-4E93-A995-C0BAD18B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51FBFE7-3C1D-42E9-A37C-042ADB7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19592C3-BBE2-48A1-8B47-01419B64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发表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68C8B7D-B5C6-4D8D-9AC5-9760552E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书评与评分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FD9BBE2-0763-4BD6-AD6F-7BFD98FD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85D74F7-3A72-4F75-BC39-B554EB68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互动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443E06B-7D7C-44C7-93FD-D44911EC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最新 / 最热 · 点赞 · 回复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C329C9BD-00ED-4377-9F29-7AA0371B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574ECF4-DEF8-4A07-AEB7-3FA10983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治理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BE4504E-A6EC-4EE6-9E3F-B9805A5B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96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举报 · 隐藏 · 忽略 · 审计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C15A2BDC-0C78-4F50-9C7E-778C2C94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95450"/>
            <a:ext cx="7239000" cy="43243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3" name="图片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8862f1756476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29100" y="1752600"/>
            <a:ext cx="7124700" cy="4210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381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B9253BD-DFF0-4E73-90C9-56E34D5C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07 · SUPPLY CHAIN</a:t>
            </a:r>
          </a:p>
        </p:txBody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4064DA36-EC43-4E02-83E5-7EC35869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低库存不再只是告警，它会走到真正入库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B0C4240-62E9-46CF-A7C0-3543E303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采购与物流使用同一订单状态，但通信通道严格隔离。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446E0EF0-B378-46E6-B137-239774FE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F0B990-714B-4A5C-8005-1B352A49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448F809-CED7-496B-859E-99D0B51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08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9FDB884-99A3-4939-9DC1-069FF383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38300"/>
            <a:ext cx="6343650" cy="45529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154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9671d844d45e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81600" y="1697732"/>
            <a:ext cx="6229350" cy="4434086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F2C67434-F3AD-41F1-977B-181321DE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创建需求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6FDD08A8-473B-4566-94D4-BA8D1E57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认领 / 下单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CD944DC9-5E41-4F9E-BD60-986907D3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运输 / 到馆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310087D6-AF31-4DDC-9E8E-38C7CED0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系统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入库补库存</a:t>
            </a:r>
          </a:p>
        </p:txBody>
      </p:sp>
      <p:cxnSp>
        <p:nvCxnSpPr>
          <p:cNvPr id="159" name="直接箭头连接符 3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628775" y="25717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60" name="直接箭头连接符 31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628775" y="35623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61" name="直接箭头连接符 32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628775" y="45529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F2E8B03B-52A0-476B-AC50-33DD6B3B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95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通信隔离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EC2DB2C-A65C-44D2-9333-C163FAD5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76500"/>
            <a:ext cx="19431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管理员 ↔ 采购员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采购员 ↔ 物流员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物流员不能直接调度管理员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9D4C039-4B62-42A9-9A18-6964EAAE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4152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每次状态变化记录操作者、时间、前后状态和备注；重复入库不会重复增加库存。</a:t>
            </a:r>
          </a:p>
        </p:txBody>
      </p:sp>
    </p:spTree>
    <p:extLst>
      <p:ext uri="{BB962C8B-B14F-4D97-AF65-F5344CB8AC3E}">
        <p14:creationId xmlns:p14="http://schemas.microsoft.com/office/powerpoint/2010/main" val="21459664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573BDAA-39C5-4461-AB75-328BEECC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08 · AUTHORITY</a:t>
            </a:r>
          </a:p>
        </p:txBody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EF6ED319-FF7D-4ECA-87DD-609F24BC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效率可以提升，但权力必须与责任一起留下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187D65D-6568-4EFA-8A63-407109A8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权限不是只藏在前端菜单里：接口、Service 和数据范围都会再次校验。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030C3A9A-4025-46C1-89E6-0E52817C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251C436-E638-43B2-96B1-E8ADD6BD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CF8C1A5-89FF-44B6-9B0F-CFA1D29B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09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8A8A0EF9-3058-4AAC-BE3C-F6F3EA58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693420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25" name="图片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38e00598f4e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942" y="1762125"/>
            <a:ext cx="5995617" cy="417195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F46560-508B-4C7C-9ACB-E1313976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85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74A3C"/>
                </a:solidFill>
              </a:defRPr>
            </a:pPr>
            <a:r>
              <a:rPr sz="1425" b="1">
                <a:solidFill>
                  <a:srgbClr val="A74A3C"/>
                </a:solidFill>
              </a:rPr>
              <a:t>超级管理员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483C3BD-F817-4CBD-BBB9-6475D8CF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任免角色与馆务协调权限、查看全局审计、治理文件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C932742-0979-4356-A611-4C9BE983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860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B48A55"/>
                </a:solidFill>
              </a:defRPr>
            </a:pPr>
            <a:r>
              <a:rPr sz="1425" b="1">
                <a:solidFill>
                  <a:srgbClr val="B48A55"/>
                </a:solidFill>
              </a:rPr>
              <a:t>普通管理员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98043EA-D880-4383-B1A8-D68AB48B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099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不能修改同级、馆务协调员或超级管理员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C7741C9-DE31-4FD2-B73B-05EB2C2A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E8074"/>
                </a:solidFill>
              </a:defRPr>
            </a:pPr>
            <a:r>
              <a:rPr sz="1425" b="1">
                <a:solidFill>
                  <a:srgbClr val="5E8074"/>
                </a:solidFill>
              </a:rPr>
              <a:t>馆务协调员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CA686DD-0F3B-4569-A638-1C2F99CD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100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可跨管理员协调采购，但没有超级管理员专权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CBC909C-2BBB-4154-BBAA-08CAB61E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8863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99BB2"/>
                </a:solidFill>
              </a:defRPr>
            </a:pPr>
            <a:r>
              <a:rPr sz="1425" b="1">
                <a:solidFill>
                  <a:srgbClr val="A99BB2"/>
                </a:solidFill>
              </a:rPr>
              <a:t>岗位人员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BFC810F-0CC4-4EAE-A3E2-99D40730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01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采购员与物流员只能访问自己的任务和通信</a:t>
            </a:r>
          </a:p>
        </p:txBody>
      </p:sp>
    </p:spTree>
    <p:extLst>
      <p:ext uri="{BB962C8B-B14F-4D97-AF65-F5344CB8AC3E}">
        <p14:creationId xmlns:p14="http://schemas.microsoft.com/office/powerpoint/2010/main" val="2381343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5C81DB1-9592-4D79-9654-87924574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09 · ARCHITECTURE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F564D8D8-F533-4FA8-A0AD-0C7BA0A8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单体不等于耦合：边界清楚比服务数量更重要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4F059CC-AF4E-43BB-AFD0-89602E31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业务规则留在 Service，中间件通过适配层接入。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025BDEE0-894A-44CA-AA49-B15B55A3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F1B73F1-995C-454C-86C5-C96C2E6D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704E392-98F7-458D-99DB-E01D703B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10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BF2B00D1-ABA7-48F5-B68A-6C192764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9E4D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E9FD93D-DD2A-4ED8-B14E-ADF22610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76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Vue 3 + Vite 表现层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6D762BB-FDEC-4AAD-94ED-09085088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954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读者端 / 管理端 / 采购物流工作台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43459B17-58DC-468A-8B7F-9329DAEE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9DF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5E73D7C-8249-4743-AC49-DBDEC6BD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Controller 接入层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BFB34D2-FA26-4F47-9081-74BA7693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参数校验 / JWT / 限流 / 权限注解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4914C1F2-8A17-4BB0-AD9E-20FD9F76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5D5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AE5AB38-7779-4F15-AE8D-605850B6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Service 应用与领域层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46B6B80-D91F-453F-86BF-7F5D0D08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718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事务 / 状态 / 角色边界 / 业务编排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A1C3B7E4-F6FA-4497-8889-A94233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7E0E5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F29F677-35A5-4454-89B6-E02807DC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Mapper 数据访问层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323E5A6-769E-425A-8727-9E147B66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100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MyBatis-Plus 3.5 / Mapper XML / 条件更新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6C84CA55-663C-4E2C-B1EE-7052A560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CCD8D1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9726AFA-5BF4-4CED-8F7A-8CB7D0ED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MySQL 最终事实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87C3A07-0B9F-46D5-8338-B87E8110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2482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19 张表 / 外键 / 唯一约束 / 审计</a:t>
            </a:r>
          </a:p>
        </p:txBody>
      </p:sp>
      <p:cxnSp>
        <p:nvCxnSpPr>
          <p:cNvPr id="251" name="直接箭头连接符 50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152900" y="23812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52" name="直接箭头连接符 51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4152900" y="32194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53" name="直接箭头连接符 52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152900" y="40576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54" name="直接箭头连接符 53"/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4152900" y="48958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17008900-5844-4A9A-BC5C-A2A48FBF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19300"/>
            <a:ext cx="3257550" cy="2781300"/>
          </a:xfrm>
          <a:prstGeom xmlns:a="http://schemas.openxmlformats.org/drawingml/2006/main" prst="roundRect">
            <a:avLst>
              <a:gd name="adj" fmla="val 2055"/>
            </a:avLst>
          </a:prstGeom>
          <a:solidFill xmlns:a="http://schemas.openxmlformats.org/drawingml/2006/main">
            <a:srgbClr val="FAF7F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94C7CDC-8DAB-403E-9D70-B0EF79FD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基础设施适配层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12E1E5B-80C9-4A4F-8A6D-3F3FD70A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6098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Redis 缓存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RabbitMQ 事件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邮件与补偿任务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文件存储与定时清理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2510B4BD-6297-472B-9D7F-706D03FC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E8074"/>
                </a:solidFill>
              </a:defRPr>
            </a:pPr>
            <a:r>
              <a:rPr sz="1350" b="1">
                <a:solidFill>
                  <a:srgbClr val="5E8074"/>
                </a:solidFill>
              </a:rPr>
              <a:t>可替换 · 可关闭 · 可测试</a:t>
            </a:r>
          </a:p>
        </p:txBody>
      </p:sp>
    </p:spTree>
    <p:extLst>
      <p:ext uri="{BB962C8B-B14F-4D97-AF65-F5344CB8AC3E}">
        <p14:creationId xmlns:p14="http://schemas.microsoft.com/office/powerpoint/2010/main" val="3469762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F1B8A-D121-4472-BF15-3A290961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10 · DATA MODEL</a:t>
            </a:r>
          </a:p>
        </p:txBody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2B6D01C0-2B4A-4846-8022-68C2A559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19 张表不是堆出来的，它们按业务责任分组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28E3924-FD4E-4BFF-8CE7-05547D4A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外键负责引用完整性，唯一约束和状态字段阻止重复动作。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121D2472-2AA1-45F5-A370-A4984EDB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29FB636-D393-4F0D-B1AF-6CD3FFB7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1E15D85-8089-45B0-A757-61814B86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E947139-D033-4429-9916-1CB15DFE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476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A74A3C"/>
                </a:solidFill>
              </a:defRPr>
            </a:pPr>
            <a:r>
              <a:rPr sz="6300" b="1">
                <a:solidFill>
                  <a:srgbClr val="A74A3C"/>
                </a:solidFill>
              </a:rPr>
              <a:t>19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23D0E88-4B4C-4892-8C03-98DCE579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BUSINESS TABLES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AA2AEE-EA09-4F48-906A-481B5980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27 条外键约束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借阅、预约、互动、供应和文件治理各自有表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F2CB413B-FC1E-40F3-B2BD-99681664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5ACD508-DCA7-4482-93E3-1DDCA808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用户与馆藏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C52FD61-A92C-44B9-8C1A-60FC0FAA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user · category · bookshelf · book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68E85F06-06C4-4A85-A4DA-07C4D4AE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8FEFFEC-6CCB-45D7-917B-42A0CE52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流通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3F1B6910-6BB7-40C7-B7F8-AA7907F6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borrow_record · favorite · reservation</a:t>
            </a: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A090669D-4E0A-4F44-BF36-7A5EC209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BF1700D5-8439-4B12-B33A-60B57C3A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内容互动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4A159E7-4425-4D97-89F4-78E10998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notice · review · like · reply · report · message</a:t>
            </a: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27C00F34-B27A-4757-96B1-F8DAC5C0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12D0E12-1A24-4F1D-BBE1-1DC8A0A4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审计通知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B3B8754-EC88-465B-A432-D48F3EDD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operation_log · notification_task</a:t>
            </a: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7F165D74-C1EA-4D58-B703-01AFDD49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3F1B1290-C118-40C6-ACAD-53BDE5F2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采购物流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48FD4B28-3780-4B84-AC97-3CE54B78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order · logistics · procurement_message</a:t>
            </a:r>
          </a:p>
        </p:txBody>
      </p:sp>
      <p:sp>
        <p:nvSpPr>
          <p:cNvPr id="26" name="直接连接符 25">
            <a:extLst xmlns:a="http://schemas.openxmlformats.org/drawingml/2006/main">
              <a:ext uri="{FF2B5EF4-FFF2-40B4-BE49-F238E27FC236}">
                <a16:creationId xmlns:a16="http://schemas.microsoft.com/office/drawing/2014/main" id="{9AF98F24-56D3-495C-A114-19912672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59BA3054-7119-4FE3-8F3D-9C298A5C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文件治理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B6F0D46D-EB0D-40A9-8FB3-F75778AA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stored_file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91CBD35-CC1F-42E7-A98C-206497E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MySQL 是最终事实来源</a:t>
            </a:r>
          </a:p>
        </p:txBody>
      </p:sp>
    </p:spTree>
    <p:extLst>
      <p:ext uri="{BB962C8B-B14F-4D97-AF65-F5344CB8AC3E}">
        <p14:creationId xmlns:p14="http://schemas.microsoft.com/office/powerpoint/2010/main" val="19203020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5A4506B-FACC-43D2-9366-F5F78A9B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11 · RELIABILITY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EE30F304-7285-4B15-9E84-AFF2A9F2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中间件能加速系统，但不能决定系统能否工作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16B9DF3-2AA0-4F80-8D35-5DB35461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正常时走增强路径，故障时自动回到 MySQL、内存或补偿任务。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6582F301-E96E-4D99-B66C-5F2B5424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0368369-B9F8-4A17-9258-99DFA354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8AB50CA-6A87-48B9-8B7D-74F402A2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12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0935FDDF-DBAA-4583-8737-B9B3846F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621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验证码 TTL · 登录风控 · 查询缓存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A21F91B2-4556-4D63-B152-3A5C6827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内存验证码 · 内存计数 · 直接查 MySQL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F46B4EFE-F292-45DD-B738-793C7A66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526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核心登录与查询继续</a:t>
            </a:r>
          </a:p>
        </p:txBody>
      </p:sp>
      <p:cxnSp>
        <p:nvCxnSpPr>
          <p:cNvPr id="156" name="直接箭头连接符 27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528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57" name="直接箭头连接符 28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7914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9DB87F9D-AA33-4227-A1DF-6918D06E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预约事件 · 通知异步消费</a:t>
            </a: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630A71FA-ADF1-468F-A0BE-7F06974D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528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/ 邮件故障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核心事务完成 · 通知任务补偿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375A56A5-4F20-47EC-9A66-0013E664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433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借还与预约事务成功</a:t>
            </a:r>
          </a:p>
        </p:txBody>
      </p:sp>
      <p:cxnSp>
        <p:nvCxnSpPr>
          <p:cNvPr id="161" name="直接箭头连接符 32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7528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62" name="直接箭头连接符 33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7914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E49A9EFA-7622-4178-86CC-E3D4240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515600" cy="571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728838C-A8B5-4671-BD33-1DB0DD56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34025"/>
            <a:ext cx="975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原则：消息通知可以晚到，但库存、借阅记录和权限判断不能失真。</a:t>
            </a:r>
          </a:p>
        </p:txBody>
      </p:sp>
    </p:spTree>
    <p:extLst>
      <p:ext uri="{BB962C8B-B14F-4D97-AF65-F5344CB8AC3E}">
        <p14:creationId xmlns:p14="http://schemas.microsoft.com/office/powerpoint/2010/main" val="7992702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CDF4AC-099D-4AD2-919D-1699E17C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12 · SAFETY</a:t>
            </a:r>
          </a:p>
        </p:txBody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68F4F601-0A5E-43E9-AE8F-100DD23E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安全不是一个登录框，而是一组连续边界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C7AE0F3-D32B-4FB0-A36B-2036B7B9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身份、输入、文件、导出和关键操作都必须能够被追溯。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526C8892-E42E-4C7D-AA67-92BE762A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0DB22BC-9DF2-42FC-95CD-AE76FA66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C0C0479-D868-4214-A2F8-324EE688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13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EB09267-3FCA-480C-9E72-3BD7D344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身份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D4F5F2F-5027-40F4-811A-538C2F58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383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BCrypt · JWT · 数学验证码 · 邮箱验证码用途隔离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20CAD30-BF07-4902-ADF1-2701CA91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48A55"/>
                </a:solidFill>
              </a:defRPr>
            </a:pPr>
            <a:r>
              <a:rPr sz="1500" b="1">
                <a:solidFill>
                  <a:srgbClr val="B48A55"/>
                </a:solidFill>
              </a:rPr>
              <a:t>风控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CD4BE48-B44F-4B32-8AB3-00F65EFD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连续失败锁定 · 频率限制 · 可信代理显式开启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01A3BC6A-09C9-4526-AAB9-EABD9EC4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6215A39-3C62-4B42-80DA-90E32D36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004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长度限制 · Jsoup 净化 · 富文本白名单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60631C8-E4BD-4DCE-9DB4-4C59ECA0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296A8"/>
                </a:solidFill>
              </a:defRPr>
            </a:pPr>
            <a:r>
              <a:rPr sz="1500" b="1">
                <a:solidFill>
                  <a:srgbClr val="8296A8"/>
                </a:solidFill>
              </a:rPr>
              <a:t>文件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B709D81-9A7B-4640-AFC1-7B939E19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1814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MIME/扩展名校验 · 权限下载 · HTML 强制下载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D131DB5-9185-4D9E-88AB-39DE4900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997AD"/>
                </a:solidFill>
              </a:defRPr>
            </a:pPr>
            <a:r>
              <a:rPr sz="1500" b="1">
                <a:solidFill>
                  <a:srgbClr val="A997AD"/>
                </a:solidFill>
              </a:rPr>
              <a:t>审计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28F4702-2C8B-48E6-A6CB-ACAB7591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625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角色变化 · 内容审核 · 采购物流 · 文件清理留痕</a:t>
            </a: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7E88325E-83BD-4AA3-BEBD-BDC95E8E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76400"/>
            <a:ext cx="4914900" cy="44005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8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f2f0093b04d1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2011442"/>
            <a:ext cx="4800600" cy="3730466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60E0C35-2067-4163-814E-524A8AE4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B48A55"/>
                </a:solidFill>
              </a:defRPr>
            </a:pPr>
            <a:r>
              <a:rPr sz="1125" b="1">
                <a:solidFill>
                  <a:srgbClr val="B48A55"/>
                </a:solidFill>
              </a:rPr>
              <a:t>动态提示让隐性规则变得可见</a:t>
            </a:r>
          </a:p>
        </p:txBody>
      </p:sp>
    </p:spTree>
    <p:extLst>
      <p:ext uri="{BB962C8B-B14F-4D97-AF65-F5344CB8AC3E}">
        <p14:creationId xmlns:p14="http://schemas.microsoft.com/office/powerpoint/2010/main" val="14945635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26659B1-30AE-4801-A451-98E1A3E5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13 · INTERFACE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06F1367C-7390-4DAB-94E3-315BB734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前台有气质，后台有效率，两者不必长得一样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FF32B03-3676-4BED-AD85-CC72C40A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同一套书卷语言，用在不同任务上必须有不同密度。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EAA142C5-EA8B-4EFE-81C4-4617D13E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4563196-6991-445B-BBBB-2CE4073D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73B5A9C-657D-4C2F-ACAB-DE1E6778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BCB98B66-DDFE-4F57-858B-7182632F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5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d52dde21c43e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752600"/>
            <a:ext cx="5105400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F565428C-644C-4336-808A-583FCA0A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7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ee6fffebe4a1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84977" y="1752600"/>
            <a:ext cx="3098946" cy="3733800"/>
          </a:xfrm>
          <a:prstGeom xmlns:a="http://schemas.openxmlformats.org/drawingml/2006/main" prst="rect">
            <a:avLst/>
          </a:prstGeom>
        </p:spPr>
      </p:pic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22430B5-AFFF-4A4C-AC57-AC792F06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资料页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D794561-5F11-4DAB-A04B-22FAF6AA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纸面表单、清楚提示、封蜡红保存按钮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FEB2885-55A5-4FFF-A2F1-B33C790E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管理端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4B1B978-68B5-4F26-BAFC-482A1DF4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顶部导航、宣纸/竹简主题、清晰表格与图表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98522C5-FCA4-4EFD-A1C2-C6BF116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191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48A55"/>
                </a:solidFill>
              </a:defRPr>
            </a:pPr>
            <a:r>
              <a:rPr sz="975" b="1">
                <a:solidFill>
                  <a:srgbClr val="B48A55"/>
                </a:solidFill>
              </a:rPr>
              <a:t>Vite 8 · 86 路由零异常</a:t>
            </a:r>
          </a:p>
        </p:txBody>
      </p:sp>
    </p:spTree>
    <p:extLst>
      <p:ext uri="{BB962C8B-B14F-4D97-AF65-F5344CB8AC3E}">
        <p14:creationId xmlns:p14="http://schemas.microsoft.com/office/powerpoint/2010/main" val="12794917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78E13D4-FB22-457B-813D-64F631E3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14 · EVIDENCE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37C072E6-FB35-40C1-BD33-F8D0A463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功能很多不等于可靠；可靠必须有可重复证据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B6E400A-AE15-457C-88E8-9B502D7A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自动测试、真实 API、并发、浏览器与数据库共同给出证据。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3814E13-CAD8-4CC0-B512-E94E129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A7FEAAA-D7EE-4FE4-9A7B-8525E248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2C19002-0680-42E3-97E4-2F5DE69C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15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BD4CA18-402A-4306-8391-A8C120E5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A74A3C"/>
                </a:solidFill>
              </a:defRPr>
            </a:pPr>
            <a:r>
              <a:rPr sz="4200" b="1">
                <a:solidFill>
                  <a:srgbClr val="A74A3C"/>
                </a:solidFill>
              </a:rPr>
              <a:t>225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90F6013-FBAE-418B-981C-BAD5C87D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后端测试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BD0C81D-061C-440B-A657-D3114DB1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5E8074"/>
                </a:solidFill>
              </a:defRPr>
            </a:pPr>
            <a:r>
              <a:rPr sz="4200" b="1">
                <a:solidFill>
                  <a:srgbClr val="5E8074"/>
                </a:solidFill>
              </a:rPr>
              <a:t>31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845F764-C7A1-432B-BC31-45D30848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前端单元测试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809C145-361A-4496-B9BF-50308A2D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B48A55"/>
                </a:solidFill>
              </a:defRPr>
            </a:pPr>
            <a:r>
              <a:rPr sz="4200" b="1">
                <a:solidFill>
                  <a:srgbClr val="B48A55"/>
                </a:solidFill>
              </a:rPr>
              <a:t>5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7CD81D7-3EA7-45DD-900B-F9D9B02F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角色 E2E 身份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8945DCB-E3EB-4747-8D48-3426D29F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8896A7"/>
                </a:solidFill>
              </a:defRPr>
            </a:pPr>
            <a:r>
              <a:rPr sz="4200" b="1">
                <a:solidFill>
                  <a:srgbClr val="8896A7"/>
                </a:solidFill>
              </a:rPr>
              <a:t>0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EA5C57F-79F2-4003-895D-D4D6B7B6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当前失败 / 错误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6450982A-A653-4690-9BE1-0F0E3C0B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50863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F5047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26E632E-01D5-416D-831A-9FB09676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已覆盖的关键风险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E94F9EF-656E-4CE6-A873-63153E75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324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库存为 1 的并发抢借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五角色权限绕过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文件类型与下载权限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预约、续借、罚款和重复入库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输入净化、导出字段与审计日志</a:t>
            </a: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245A4D46-6383-42DF-8CAC-7D5F7CEA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90900"/>
            <a:ext cx="50482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6D9D122-8C30-424C-8D3F-5B57C69A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真实环境还验证了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3E4E824-72D5-49CF-9435-9E14D612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9575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Redis TTL、故障恢复与队列消费通过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五角色完成 75 次真实 API 响应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单实例：20 场景 / 393 请求 / P95 146 ms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双实例：6 场景 / 125 请求 / P95 121 ms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86 路由 / 248 API / 浏览器异常为 0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8ADAB69-5349-43F2-9133-B5200FF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245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E7B74"/>
                </a:solidFill>
              </a:defRPr>
            </a:pPr>
            <a:r>
              <a:rPr sz="825" b="0">
                <a:solidFill>
                  <a:srgbClr val="6E7B74"/>
                </a:solidFill>
              </a:rPr>
              <a:t>验证日期：2026-07-27</a:t>
            </a:r>
          </a:p>
        </p:txBody>
      </p:sp>
    </p:spTree>
    <p:extLst>
      <p:ext uri="{BB962C8B-B14F-4D97-AF65-F5344CB8AC3E}">
        <p14:creationId xmlns:p14="http://schemas.microsoft.com/office/powerpoint/2010/main" val="5302110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0D59AA9-B083-436C-97AF-ADD30281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15 · DELIVERY</a:t>
            </a:r>
          </a:p>
        </p:txBody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B3536D16-CCAD-4FE0-8A64-42542D36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一个新手也能在四步内把系统跑起来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EDDE16D-A8CF-43D5-9E25-CF78E551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SQL 只有一个入口，中间件默认关闭，先跑通核心功能再启用增强。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219240B1-B32E-4A10-80A3-5DC7C693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665265-BAAA-4198-B89C-B9ECEB80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D620E15-6AEF-4E7C-BF91-7780175C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16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643499D6-D5C2-43F2-8846-DE766114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D57B17C-CF2D-43C2-8C6D-ECFD70F3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01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3E3AD56-B97E-452D-9EDD-4717307C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初始化 MySQL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74CBD4D-72DC-4B3F-9E25-791BB086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执行 sql/init-dark-room-library.sql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3B9C7406-72C5-4208-9482-16D34093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8D337C1-7B37-4FEC-9E66-A0DD6371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E6AF5E5-6610-4715-B087-5240BD35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启动后端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F5E71BA-3308-4327-B688-B711C60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mvn spring-boot:run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3B2FB55C-7BAD-426F-B909-FEF2D3E0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699509C-F156-4A79-840E-8FC7C9B6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720397A-17BB-43B9-B897-31AE72C0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启动前端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F29465C-738C-4A9B-8260-6F70A155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npm ci  /  npm run dev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77581295-E87F-49F2-950E-FC527D61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1BEA4B4-61B2-4EA6-9F7B-2C7EBD22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0587E46-C403-4D29-ABD5-DA7392C1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打开浏览器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7EC50C58-7743-4D4D-AD28-471E8D9A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http://localhost:5175</a:t>
            </a:r>
          </a:p>
        </p:txBody>
      </p:sp>
      <p:cxnSp>
        <p:nvCxnSpPr>
          <p:cNvPr id="251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52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53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380B4D8D-0FB2-4D4B-B7DD-867A718F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477500" cy="106680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28EDD71D-4D3F-47D5-85D7-1F3A08B6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33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演示账号通过本地环境变量配置，密码不进入公开材料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FCD4601-FFCF-4CC3-A8FF-55826ED1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首次登录后立即改密；邮件、Redis、RabbitMQ 按需通过环境变量开启。</a:t>
            </a:r>
          </a:p>
        </p:txBody>
      </p:sp>
    </p:spTree>
    <p:extLst>
      <p:ext uri="{BB962C8B-B14F-4D97-AF65-F5344CB8AC3E}">
        <p14:creationId xmlns:p14="http://schemas.microsoft.com/office/powerpoint/2010/main" val="18608503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5309BC0-9BF2-44C2-80DE-2B9DF027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16 · ENGINEERING JUDGMENT</a:t>
            </a:r>
          </a:p>
        </p:txBody>
      </p:sp>
      <p:sp>
        <p:nvSpPr>
          <p:cNvPr id="3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944A548C-C4F0-452D-8951-2411FFE6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有意识地统一边界，才让项目保持可维护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A0D4813-29A6-47A5-9B89-E5321A74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技术选择、版本与公开说明都必须服从可验证事实。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20B0C946-E4BC-4FE8-B889-49B866F4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FCF3C5E-CB4B-4178-ABCB-7EB6024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BCE8B0E-A713-48FD-8BAB-BEDB6DEE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4E6FC06-AFC9-4B7A-8F2D-B36287B3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不保留 Vue 2 双轨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9B355C2-82E6-4AA8-9167-76468C5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192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前端统一到 Vue 3 + Vite，避免两套脚手架长期并存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DDD5B5C1-10F1-4B61-8A31-89DBCD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F3A08A5-ECF1-4C70-95BF-CF195DA8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48A55"/>
                </a:solidFill>
              </a:defRPr>
            </a:pPr>
            <a:r>
              <a:rPr sz="1575" b="1">
                <a:solidFill>
                  <a:srgbClr val="B48A55"/>
                </a:solidFill>
              </a:rPr>
              <a:t>不伪造 Git 历史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B6693E1-3CF0-45CF-BF36-45D1DD0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574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Git 中途加入，首次提交只代表审查后的公开基线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17FF556A-E834-45C5-BA97-2FABD25B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237DA11-8260-4A32-B4FA-7A8127F2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E8074"/>
                </a:solidFill>
              </a:defRPr>
            </a:pPr>
            <a:r>
              <a:rPr sz="1575" b="1">
                <a:solidFill>
                  <a:srgbClr val="5E8074"/>
                </a:solidFill>
              </a:rPr>
              <a:t>不引入 TCC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CE77E94-201C-4A56-B1BF-409F7120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956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当前事务边界在单库内，补偿复杂度没有收益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3E45B8BF-B7D7-4319-94B1-E0DBA8D2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A4B27CD-F5BA-4CB5-8FE7-003BBB23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8CA0B0"/>
                </a:solidFill>
              </a:defRPr>
            </a:pPr>
            <a:r>
              <a:rPr sz="1575" b="1">
                <a:solidFill>
                  <a:srgbClr val="8CA0B0"/>
                </a:solidFill>
              </a:rPr>
              <a:t>不强上 Elasticsearch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5BB55E6-104C-4218-B825-7C97F1A9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338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现有数据规模用 MySQL 检索足够，先保留演进空间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A8B34C2C-716D-41B5-BF2B-94999961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803727D-AE53-47FF-A0EB-8BA5EC65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E9CB4"/>
                </a:solidFill>
              </a:defRPr>
            </a:pPr>
            <a:r>
              <a:rPr sz="1575" b="1">
                <a:solidFill>
                  <a:srgbClr val="AE9CB4"/>
                </a:solidFill>
              </a:rPr>
              <a:t>大模型不直写数据库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DF25A20-5F0C-498A-84D7-88FE6B6A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720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未来可做只读馆员助手，核心业务仍由确定性规则控制</a:t>
            </a: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E7B86A9B-FD41-42DE-B620-3BE6C13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8A4E805F-07E6-422E-BD37-D8EFAB70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325100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C8A954AE-16E4-474C-956D-0A7710C0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86450"/>
            <a:ext cx="960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7F3EA"/>
                </a:solidFill>
              </a:defRPr>
            </a:pPr>
            <a:r>
              <a:rPr sz="1125" b="1">
                <a:solidFill>
                  <a:srgbClr val="F7F3EA"/>
                </a:solidFill>
              </a:rPr>
              <a:t>复杂度和叙事都必须服从可验证的事实。</a:t>
            </a:r>
          </a:p>
        </p:txBody>
      </p:sp>
    </p:spTree>
    <p:extLst>
      <p:ext uri="{BB962C8B-B14F-4D97-AF65-F5344CB8AC3E}">
        <p14:creationId xmlns:p14="http://schemas.microsoft.com/office/powerpoint/2010/main" val="6714064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07C7C43-A410-44B7-944B-7DE42FC5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6F918F3-75BE-46BB-B15D-E30C44E8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B48A55"/>
                </a:solidFill>
              </a:defRPr>
            </a:pPr>
            <a:r>
              <a:rPr sz="3150" b="1">
                <a:solidFill>
                  <a:srgbClr val="B48A55"/>
                </a:solidFill>
              </a:rPr>
              <a:t>暗室藏书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68B993D-A15C-48AC-94AC-5124F6A8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项目的价值，不是功能多，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而是每条链路都有开始、有结果、有证据。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B532DC8-ADDA-4A07-B43C-6C5624BE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35B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3555A8C-7C7E-47E7-8BA7-0F3049DB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业务闭环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D0CCE9C-B56C-46D4-BAC7-96F32282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E8074"/>
                </a:solidFill>
              </a:defRPr>
            </a:pPr>
            <a:r>
              <a:rPr sz="1725" b="1">
                <a:solidFill>
                  <a:srgbClr val="5E8074"/>
                </a:solidFill>
              </a:rPr>
              <a:t>可降级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09EE6A0-D522-414F-9AC1-2A66902F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48A55"/>
                </a:solidFill>
              </a:defRPr>
            </a:pPr>
            <a:r>
              <a:rPr sz="1725" b="1">
                <a:solidFill>
                  <a:srgbClr val="B48A55"/>
                </a:solidFill>
              </a:rPr>
              <a:t>可验证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0C0D23C-1721-42BF-9191-E3B321C3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9AA8B8"/>
                </a:solidFill>
              </a:defRPr>
            </a:pPr>
            <a:r>
              <a:rPr sz="1725" b="1">
                <a:solidFill>
                  <a:srgbClr val="9AA8B8"/>
                </a:solidFill>
              </a:rPr>
              <a:t>可交付</a:t>
            </a: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A48FE17B-FDB9-44D2-901C-8592C8B4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DRL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完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15F9265-0051-4CA6-B24A-6B356728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1BA"/>
                </a:solidFill>
              </a:defRPr>
            </a:pPr>
            <a:r>
              <a:rPr sz="1500" b="0">
                <a:solidFill>
                  <a:srgbClr val="B8C1BA"/>
                </a:solidFill>
              </a:rPr>
              <a:t>一套能运行、能解释、能维护，也诚实说明来路的系统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A9705828-5E46-47D3-8CC3-448D3847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8756E"/>
                </a:solidFill>
              </a:defRPr>
            </a:pPr>
            <a:r>
              <a:rPr sz="975" b="0">
                <a:solidFill>
                  <a:srgbClr val="68756E"/>
                </a:solidFill>
              </a:rPr>
              <a:t>DarkRoomLibrary · 2026</a:t>
            </a:r>
          </a:p>
        </p:txBody>
      </p:sp>
    </p:spTree>
    <p:extLst>
      <p:ext uri="{BB962C8B-B14F-4D97-AF65-F5344CB8AC3E}">
        <p14:creationId xmlns:p14="http://schemas.microsoft.com/office/powerpoint/2010/main" val="9419932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2026-07-27T02:05:51.6330000Z</dcterms:created>
  <dcterms:modified xsi:type="dcterms:W3CDTF">2026-07-27T02:05:51.6330000Z</dcterms:modified>
</coreProperties>
</file>