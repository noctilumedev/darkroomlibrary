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开场先说明：项目想法始于 2026 年 5 月；7 月短学期提供了集中实现机会，课程提交后继续在暑假独立重构。早期课程版本很简单，当前公开基线已统一为 Vue 3 + Vite 和 Spring Boot 3，并覆盖借阅、归还、预约、采购补货、内容审核、系统审计和中间件降级。Git 在项目中途引入，因此仓库从审查后的公开基线开始；截图使用当前前端和固定的虚构演示数据生成。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- Project history: docs/project-history.md.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给非技术观众一个最简单的定义：系统处理的是书的完整生命周期，而不是数据库里的一行记录。四条链路分别对应读者使用、社区互动、馆藏供应和系统治理。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重点解释角色边界。系统保留 5 个基础角色码，但验收时区分 6 个固定权限身份：超级管理员、馆务协调员、普通管理员、读者、采购员和物流员。馆务协调员由超级管理员授予管理员能力标记，既允许跨管理员协调采购，又不引入第六套角色码，也不会越过文件治理和全局导出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读者端不是传统左侧菜单后台。首次进入保留暗室与灯火意象，登录后仍提供明确的找书、借阅、收藏和留言入口。书名、作者、评论和封面均使用项目专用的虚构演示数据。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这里是系统最重要的技术点。库存扣减和借阅记录写入在同一个数据库事务中，通过条件更新解决并发竞争。测试已经覆盖库存为 1、多线程同时借阅时只能成功一人的场景。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这页解释为什么系统不是简单的借还表。续借受次数、时间窗口和预约队列限制；预约遵循先来先服务；罚款有封顶，避免无限增长。通知属于旁路，不影响核心事务。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读者可以查看最新或最热书评、点赞、取消点赞、回复和举报。管理员在内容审核中选择隐藏违规内容或忽略无效举报，这些操作会进入审计日志。演示评论和用户名均为重新编写的虚构内容。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采购闭环从低库存开始：管理员提出需求，采购员认领并推进，物流员只处理分配给自己的任务。入库状态触发库存补充，状态条件防止重复入库。超级管理员可以查看全局记录。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这里强调纵深防护。前端隐藏菜单只是体验层；后端权限 AOP 判断角色和馆务协调权限，Service 继续判断目标用户、订单和文件的数据范围。用户名唯一约束、资料校验和敏感导出过滤共同守住边界。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系统使用清晰的单体分层。当前基线为 Spring Boot 3.5.16、MyBatis-Plus 3.5.17、Vue 3.5.40 和 Vite 8.1.5。Controller 不直连 Mapper；Service 管理事务和业务规则；Redis、MQ、邮件和文件系统通过适配层接入。</a:t>
            </a:r>
          </a:p>
          <a:p>
            <a:endParaRPr/>
          </a:p>
          <a:p>
            <a:r>
              <a:t>[Sources]</a:t>
            </a:r>
          </a:p>
          <a:p>
            <a:r>
              <a:t>- Technical versions: README.md and backend/frontend dependency manifests.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数据表按业务域分组。比如点赞和预约使用唯一约束防止重复，采购与物流用状态字段限制非法跳转，文件表同时记录物理文件、业务类型、引用编号和生命周期状态。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Redis 不可用时，验证码和登录失败计数切到本机内存，缓存查询直接访问数据库；Redis 恢复前会先回放删除意图，避免旧验证码或登录锁定键重新生效。RabbitMQ 不可用时，借还、预约等 MySQL 核心事务仍可提交，通知任务保留在数据库中并由定时任务补偿。操作审计不依赖 RabbitMQ，而是在业务提交后通过独立事务尽力写入；进程恰好在两次提交之间崩溃时，可能少一条审计记录。邮件失败只保留待重试任务，不回滚借还和预约。</a:t>
            </a:r>
          </a:p>
          <a:p>
            <a:endParaRPr/>
          </a:p>
          <a:p>
            <a:r>
              <a:t>[Sources]</a:t>
            </a:r>
          </a:p>
          <a:p>
            <a:r>
              <a:t>- Architecture review: docs/architecture-review.md.</a:t>
            </a:r>
          </a:p>
          <a:p>
            <a:r>
              <a:t>- Verification report: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注册页面在输入密码时动态显示规则，后端仍会再次验证密码强度。文件上传同时检查扩展名、MIME、大小和文件头，HTML 只能下载，私有附件需要登录和数据权限。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读者端强调进入和阅读的氛围，但核心按钮保持清楚；个人资料弹窗沿用登录页的纸面底色、提示语和输入逻辑，保存按钮使用封蜡红。管理端优先信息密度和长期操作。最终浏览器诊断覆盖 116 个路由、396 次 API 响应和 5,362 次总网络响应，没有 Console、页面、网络或横向溢出异常；另完成 116 个页面和 21 个关键弹层的布局审查。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screenshots: tests/e2e/docs-screenshots.mjs, generated 2026-07-26.</a:t>
            </a:r>
          </a:p>
          <a:p>
            <a:r>
              <a:t>- Browser evidence: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数字来自 2026-07-27 最终干净回归：后端 226 项、前端 31 项全部通过；6 个固定权限身份完成 78 次真实 API 响应；三个后端实例共享 MySQL，按 96、128、160 突发量分三批执行，每批 8 个一致性场景，三批共 1,986 次场景请求，最大场景 P95 为 461 ms；浏览器完成 116 个路由检查、396 次 API 响应和 5,362 次总网络响应，并完成 116 个页面和 21 个关键弹层的布局审查。27 个外键关系、领域不变量、Redis TTL、Redis/RabbitMQ 故障恢复与队列消费均通过。最终并发套件保留 2 条发送到虚构 .local 地址的可补偿通知任务，用于验证邮件失败恢复路径。当前数字是正确性与一致性证据，不是容量基准。</a:t>
            </a:r>
          </a:p>
          <a:p>
            <a:endParaRPr/>
          </a:p>
          <a:p>
            <a:r>
              <a:t>[Sources]</a:t>
            </a:r>
          </a:p>
          <a:p>
            <a:r>
              <a:t>- Verification summary: docs/verification-report.md.</a:t>
            </a:r>
          </a:p>
          <a:p>
            <a:r>
              <a:t>- Multi-instance concurrency: frontend/dark-room-library-web/tests/e2e/multi-instance-consistency.mjs; summary: docs/verification-report.md.</a:t>
            </a:r>
          </a:p>
          <a:p>
            <a:r>
              <a:t>- Browser diagnostics: frontend/dark-room-library-web/tests/e2e/browser-diagnostics.mjs; summary: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交付包不包含依赖和本地数据。新环境执行 sql/init-dark-room-library.sql，后端默认监听 20606，前端监听 5175。统一演示密码写在 README 与初始化 SQL 中，仅用于本地验收；面向公网部署前必须删除演示账号或逐个改密。中间件默认关闭，可在核心功能跑通后通过环境变量启用。</a:t>
            </a:r>
          </a:p>
          <a:p>
            <a:endParaRPr/>
          </a:p>
          <a:p>
            <a:r>
              <a:t>[Sources]</a:t>
            </a:r>
          </a:p>
          <a:p>
            <a:r>
              <a:t>- README.md and sql/init-dark-room-library.sql.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这页说明系统级取舍。当前代码已经统一为 Vue 3 + Vite 和 Spring Boot 3，并保留模块化单体与单库本地事务；不为了叙事拆微服务，也不在没有收益时强上 TCC 或 Elasticsearch。若未来真正拆分跨服务流程，再引入 transactional outbox、幂等消费和显式补偿。Git 在项目中途加入，因此首次提交明确标记为审查后的公开基线，不伪造课程阶段和暑假早期的提交。</a:t>
            </a:r>
          </a:p>
          <a:p>
            <a:endParaRPr/>
          </a:p>
          <a:p>
            <a:r>
              <a:t>[Sources]</a:t>
            </a:r>
          </a:p>
          <a:p>
            <a:r>
              <a:t>- Architecture review: docs/architecture-review.md.</a:t>
            </a:r>
          </a:p>
          <a:p>
            <a:r>
              <a:t>- Project history: docs/project-history.md.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结尾回到开场：项目的价值不是罗列 Controller 或数据表，而是业务、权限、数据和基础设施形成闭环；一致性边界、降级限制和测试证据都公开写清。当前版本可以运行、测试、解释和交付，历史说明只记录真实发生的中途 Git 采用、课程实现机会和暑假重构。</a:t>
            </a:r>
          </a:p>
          <a:p>
            <a:endParaRPr/>
          </a:p>
          <a:p>
            <a:r>
              <a:t>[Sources]</a:t>
            </a:r>
          </a:p>
          <a:p>
            <a:r>
              <a:t>- Project documentation: README.md, docs/project-history.md, docs/architecture-review.md,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B33812A-61BA-4AC7-A5DD-0B576025F3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D0A">
              <a:alpha val="58000"/>
            </a:srgbClr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E9BF81-5867-4C72-8752-330B16B854FD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" cy="2762250"/>
          </a:xfrm>
          <a:prstGeom prst="rect">
            <a:avLst/>
          </a:prstGeom>
          <a:solidFill>
            <a:srgbClr val="A74A3C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DF4BBD-A213-486E-BD9F-68F586367AE9}"/>
              </a:ext>
            </a:extLst>
          </p:cNvPr>
          <p:cNvSpPr>
            <a:spLocks noGrp="1"/>
          </p:cNvSpPr>
          <p:nvPr/>
        </p:nvSpPr>
        <p:spPr>
          <a:xfrm>
            <a:off x="1028700" y="14859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SPRING BOOT 3 × VUE 3 + VITE</a:t>
            </a:r>
          </a:p>
        </p:txBody>
      </p:sp>
      <p:sp>
        <p:nvSpPr>
          <p:cNvPr id="5" name="deck-title">
            <a:extLst>
              <a:ext uri="{FF2B5EF4-FFF2-40B4-BE49-F238E27FC236}">
                <a16:creationId xmlns:a16="http://schemas.microsoft.com/office/drawing/2014/main" id="{8A00A333-9E0B-4AD0-A14D-7953AB13AA71}"/>
              </a:ext>
            </a:extLst>
          </p:cNvPr>
          <p:cNvSpPr>
            <a:spLocks noGrp="1"/>
          </p:cNvSpPr>
          <p:nvPr/>
        </p:nvSpPr>
        <p:spPr>
          <a:xfrm>
            <a:off x="990600" y="1943100"/>
            <a:ext cx="5905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350" b="1">
                <a:solidFill>
                  <a:srgbClr val="F7F3EA"/>
                </a:solidFill>
              </a:defRPr>
            </a:pPr>
            <a:r>
              <a:rPr sz="4350" b="1">
                <a:solidFill>
                  <a:srgbClr val="F7F3EA"/>
                </a:solidFill>
              </a:rPr>
              <a:t>暗室藏书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3386FA-F542-4BA0-B66F-CCB457956108}"/>
              </a:ext>
            </a:extLst>
          </p:cNvPr>
          <p:cNvSpPr>
            <a:spLocks noGrp="1"/>
          </p:cNvSpPr>
          <p:nvPr/>
        </p:nvSpPr>
        <p:spPr>
          <a:xfrm>
            <a:off x="1028700" y="2914650"/>
            <a:ext cx="676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D8DDD8"/>
                </a:solidFill>
              </a:defRPr>
            </a:pPr>
            <a:r>
              <a:rPr sz="1725" b="0">
                <a:solidFill>
                  <a:srgbClr val="D8DDD8"/>
                </a:solidFill>
              </a:rPr>
              <a:t>一套把借阅、互动、采购、审计与降级真正连起来的图书管理系统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921BA7-4E32-411C-9BAC-FE9F92610745}"/>
              </a:ext>
            </a:extLst>
          </p:cNvPr>
          <p:cNvSpPr>
            <a:spLocks noGrp="1"/>
          </p:cNvSpPr>
          <p:nvPr/>
        </p:nvSpPr>
        <p:spPr>
          <a:xfrm>
            <a:off x="1028700" y="386715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项目介绍 · 2026.07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2271C3-72EE-4282-B555-06EB9C1CBDB6}"/>
              </a:ext>
            </a:extLst>
          </p:cNvPr>
          <p:cNvSpPr>
            <a:spLocks noGrp="1"/>
          </p:cNvSpPr>
          <p:nvPr/>
        </p:nvSpPr>
        <p:spPr>
          <a:xfrm>
            <a:off x="10572750" y="592455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F7F3EA"/>
                </a:solidFill>
              </a:defRPr>
            </a:pPr>
            <a:r>
              <a:rPr sz="1650" b="1">
                <a:solidFill>
                  <a:srgbClr val="F7F3EA"/>
                </a:solidFill>
              </a:rPr>
              <a:t>DRL</a:t>
            </a:r>
          </a:p>
        </p:txBody>
      </p:sp>
    </p:spTree>
    <p:extLst>
      <p:ext uri="{BB962C8B-B14F-4D97-AF65-F5344CB8AC3E}">
        <p14:creationId xmlns:p14="http://schemas.microsoft.com/office/powerpoint/2010/main" val="17334976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7FD35A-A532-4AED-8473-E9A8DEDEC6E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01 · WHAT IT IS</a:t>
            </a:r>
          </a:p>
        </p:txBody>
      </p:sp>
      <p:sp>
        <p:nvSpPr>
          <p:cNvPr id="3" name="slide-2-title">
            <a:extLst>
              <a:ext uri="{FF2B5EF4-FFF2-40B4-BE49-F238E27FC236}">
                <a16:creationId xmlns:a16="http://schemas.microsoft.com/office/drawing/2014/main" id="{E4881083-F6FB-4C64-AB3B-73A1CD432CF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它不止管理书，还管理一条完整链路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C17208F-6D3F-4390-BD53-2EE1BB5C14DF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前台让读者愿意停留，后台让每一次流转都有结果。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651ABA7-56A7-40D8-8570-AF262536689E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3E98B65-C8EE-42AA-8E5F-AF2DE183A16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CC7333-257B-42BC-AFC7-F23216E7D348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0A7C90-AE73-46C5-8323-213E728A1D88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A74A3C"/>
                </a:solidFill>
              </a:defRPr>
            </a:pPr>
            <a:r>
              <a:rPr sz="1650" b="1">
                <a:solidFill>
                  <a:srgbClr val="A74A3C"/>
                </a:solidFill>
              </a:rPr>
              <a:t>流通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61C3D1-3FE9-4996-8197-225EC5732104}"/>
              </a:ext>
            </a:extLst>
          </p:cNvPr>
          <p:cNvSpPr>
            <a:spLocks noGrp="1"/>
          </p:cNvSpPr>
          <p:nvPr/>
        </p:nvSpPr>
        <p:spPr>
          <a:xfrm>
            <a:off x="1657350" y="19431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借书、归还、续借、预约与罚款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09A55226-564B-42C2-9BF8-13DA272D5866}"/>
              </a:ext>
            </a:extLst>
          </p:cNvPr>
          <p:cNvSpPr>
            <a:spLocks noGrp="1"/>
          </p:cNvSpPr>
          <p:nvPr/>
        </p:nvSpPr>
        <p:spPr>
          <a:xfrm>
            <a:off x="704850" y="233362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AF4663-A6E5-484A-8AD2-2BF5C980B536}"/>
              </a:ext>
            </a:extLst>
          </p:cNvPr>
          <p:cNvSpPr>
            <a:spLocks noGrp="1"/>
          </p:cNvSpPr>
          <p:nvPr/>
        </p:nvSpPr>
        <p:spPr>
          <a:xfrm>
            <a:off x="704850" y="27432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5E8074"/>
                </a:solidFill>
              </a:defRPr>
            </a:pPr>
            <a:r>
              <a:rPr sz="165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3E202F-D4E0-41CC-A9F7-05C869C0D783}"/>
              </a:ext>
            </a:extLst>
          </p:cNvPr>
          <p:cNvSpPr>
            <a:spLocks noGrp="1"/>
          </p:cNvSpPr>
          <p:nvPr/>
        </p:nvSpPr>
        <p:spPr>
          <a:xfrm>
            <a:off x="1657350" y="27622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书评、点赞、回复、举报与审核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350D179C-AE10-4AC5-A4C1-7A061E6946B9}"/>
              </a:ext>
            </a:extLst>
          </p:cNvPr>
          <p:cNvSpPr>
            <a:spLocks noGrp="1"/>
          </p:cNvSpPr>
          <p:nvPr/>
        </p:nvSpPr>
        <p:spPr>
          <a:xfrm>
            <a:off x="704850" y="315277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729B6C-9789-43E1-BB67-39010CEE7ABB}"/>
              </a:ext>
            </a:extLst>
          </p:cNvPr>
          <p:cNvSpPr>
            <a:spLocks noGrp="1"/>
          </p:cNvSpPr>
          <p:nvPr/>
        </p:nvSpPr>
        <p:spPr>
          <a:xfrm>
            <a:off x="704850" y="356235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供应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D07DC44-6710-4F8B-9F4B-1B5AEF5FEE0C}"/>
              </a:ext>
            </a:extLst>
          </p:cNvPr>
          <p:cNvSpPr>
            <a:spLocks noGrp="1"/>
          </p:cNvSpPr>
          <p:nvPr/>
        </p:nvSpPr>
        <p:spPr>
          <a:xfrm>
            <a:off x="1657350" y="35814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低库存、采购、物流、入库补货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5D129417-3B5C-42E5-AA72-547758BE8B80}"/>
              </a:ext>
            </a:extLst>
          </p:cNvPr>
          <p:cNvSpPr>
            <a:spLocks noGrp="1"/>
          </p:cNvSpPr>
          <p:nvPr/>
        </p:nvSpPr>
        <p:spPr>
          <a:xfrm>
            <a:off x="704850" y="397192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348D64-815C-425B-9B5B-78576AA88A53}"/>
              </a:ext>
            </a:extLst>
          </p:cNvPr>
          <p:cNvSpPr>
            <a:spLocks noGrp="1"/>
          </p:cNvSpPr>
          <p:nvPr/>
        </p:nvSpPr>
        <p:spPr>
          <a:xfrm>
            <a:off x="704850" y="43815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治理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F2712BB-EE51-42FE-A19D-6CEAAC8FA3BB}"/>
              </a:ext>
            </a:extLst>
          </p:cNvPr>
          <p:cNvSpPr>
            <a:spLocks noGrp="1"/>
          </p:cNvSpPr>
          <p:nvPr/>
        </p:nvSpPr>
        <p:spPr>
          <a:xfrm>
            <a:off x="1657350" y="44005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权限、文件、通知、日志与导出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8232C1BF-3097-452D-9BE7-B1AF08E693A8}"/>
              </a:ext>
            </a:extLst>
          </p:cNvPr>
          <p:cNvSpPr>
            <a:spLocks noGrp="1"/>
          </p:cNvSpPr>
          <p:nvPr/>
        </p:nvSpPr>
        <p:spPr>
          <a:xfrm>
            <a:off x="704850" y="479107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0E1397E9-3FA1-4A5D-85FD-8744EA69AACC}"/>
              </a:ext>
            </a:extLst>
          </p:cNvPr>
          <p:cNvSpPr>
            <a:spLocks noGrp="1"/>
          </p:cNvSpPr>
          <p:nvPr/>
        </p:nvSpPr>
        <p:spPr>
          <a:xfrm>
            <a:off x="5410200" y="1714500"/>
            <a:ext cx="6076950" cy="428625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43" name="图片 4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84521" y="1771650"/>
            <a:ext cx="4928308" cy="4171950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9B0BDFE9-9024-4C33-8E4D-F88ACDA2F421}"/>
              </a:ext>
            </a:extLst>
          </p:cNvPr>
          <p:cNvSpPr>
            <a:spLocks noGrp="1"/>
          </p:cNvSpPr>
          <p:nvPr/>
        </p:nvSpPr>
        <p:spPr>
          <a:xfrm>
            <a:off x="723900" y="544830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A74A3C"/>
                </a:solidFill>
              </a:defRPr>
            </a:pPr>
            <a:r>
              <a:rPr sz="975" b="1">
                <a:solidFill>
                  <a:srgbClr val="A74A3C"/>
                </a:solidFill>
              </a:rPr>
              <a:t>一句话理解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E38C2F8-7B2F-4AC0-8B35-EA9C3DEEF330}"/>
              </a:ext>
            </a:extLst>
          </p:cNvPr>
          <p:cNvSpPr>
            <a:spLocks noGrp="1"/>
          </p:cNvSpPr>
          <p:nvPr/>
        </p:nvSpPr>
        <p:spPr>
          <a:xfrm>
            <a:off x="723900" y="5676900"/>
            <a:ext cx="4476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766F"/>
                </a:solidFill>
              </a:defRPr>
            </a:pPr>
            <a:r>
              <a:rPr sz="1350" b="0">
                <a:solidFill>
                  <a:srgbClr val="6E766F"/>
                </a:solidFill>
              </a:rPr>
              <a:t>让一本书从“被发现”到“被归还、被补货、被审计”都有明确去处。</a:t>
            </a:r>
          </a:p>
        </p:txBody>
      </p:sp>
    </p:spTree>
    <p:extLst>
      <p:ext uri="{BB962C8B-B14F-4D97-AF65-F5344CB8AC3E}">
        <p14:creationId xmlns:p14="http://schemas.microsoft.com/office/powerpoint/2010/main" val="299319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FA370F-E4F8-4B9C-99CF-740CD2DE73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02 · PEOPLE</a:t>
            </a:r>
          </a:p>
        </p:txBody>
      </p:sp>
      <p:sp>
        <p:nvSpPr>
          <p:cNvPr id="3" name="slide-3-title">
            <a:extLst>
              <a:ext uri="{FF2B5EF4-FFF2-40B4-BE49-F238E27FC236}">
                <a16:creationId xmlns:a16="http://schemas.microsoft.com/office/drawing/2014/main" id="{87E4F04A-B9D2-4221-998E-01785BDB8E0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六个固定权限身份共同完成一件事：让书真正流动起来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46707C-47CA-489B-BE3C-10960AA5D3A0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每个人只看见职责范围内的数据，跨岗位协作必须留痕。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1891EF9-1723-44BE-8AA3-467B5B4B76B3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E17CE5-2D96-4843-A394-405EEFCB2139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9629E5-CEAB-4792-86F2-E77390A4132C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03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43DFCFC-8320-4AE3-A994-A93AECF0F9A3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876F85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读者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借阅互动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提出真实需求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10D0E0AC-C5FC-4C03-83B3-B4CBB430F40A}"/>
              </a:ext>
            </a:extLst>
          </p:cNvPr>
          <p:cNvSpPr>
            <a:spLocks noGrp="1"/>
          </p:cNvSpPr>
          <p:nvPr/>
        </p:nvSpPr>
        <p:spPr>
          <a:xfrm>
            <a:off x="295275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管理员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馆藏流通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内容与需求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7EA3270-910F-4BE0-8FC1-BD6ACB6D91AC}"/>
              </a:ext>
            </a:extLst>
          </p:cNvPr>
          <p:cNvSpPr>
            <a:spLocks noGrp="1"/>
          </p:cNvSpPr>
          <p:nvPr/>
        </p:nvSpPr>
        <p:spPr>
          <a:xfrm>
            <a:off x="51816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采购员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认领采购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连接物流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88D18DC7-3398-417B-9992-5E1D940E6662}"/>
              </a:ext>
            </a:extLst>
          </p:cNvPr>
          <p:cNvSpPr>
            <a:spLocks noGrp="1"/>
          </p:cNvSpPr>
          <p:nvPr/>
        </p:nvSpPr>
        <p:spPr>
          <a:xfrm>
            <a:off x="741045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73869B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物流员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运输到馆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完成入库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79930E11-4364-4ED8-8515-1D6801D89940}"/>
              </a:ext>
            </a:extLst>
          </p:cNvPr>
          <p:cNvSpPr>
            <a:spLocks noGrp="1"/>
          </p:cNvSpPr>
          <p:nvPr/>
        </p:nvSpPr>
        <p:spPr>
          <a:xfrm>
            <a:off x="96393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超级管理员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全局控制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审计与授权</a:t>
            </a:r>
          </a:p>
        </p:txBody>
      </p:sp>
      <p:cxnSp>
        <p:nvCxnSpPr>
          <p:cNvPr id="165" name="直接箭头连接符 29"/>
          <p:cNvCxnSpPr>
            <a:stCxn id="7" idx="3"/>
            <a:endCxn id="8" idx="1"/>
          </p:cNvCxnSpPr>
          <p:nvPr/>
        </p:nvCxnSpPr>
        <p:spPr>
          <a:xfrm>
            <a:off x="245745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6" name="直接箭头连接符 30"/>
          <p:cNvCxnSpPr>
            <a:stCxn id="8" idx="3"/>
            <a:endCxn id="9" idx="1"/>
          </p:cNvCxnSpPr>
          <p:nvPr/>
        </p:nvCxnSpPr>
        <p:spPr>
          <a:xfrm>
            <a:off x="468630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7" name="直接箭头连接符 31"/>
          <p:cNvCxnSpPr>
            <a:stCxn id="9" idx="3"/>
            <a:endCxn id="10" idx="1"/>
          </p:cNvCxnSpPr>
          <p:nvPr/>
        </p:nvCxnSpPr>
        <p:spPr>
          <a:xfrm>
            <a:off x="691515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8" name="直接箭头连接符 32"/>
          <p:cNvCxnSpPr>
            <a:stCxn id="10" idx="3"/>
            <a:endCxn id="11" idx="1"/>
          </p:cNvCxnSpPr>
          <p:nvPr/>
        </p:nvCxnSpPr>
        <p:spPr>
          <a:xfrm>
            <a:off x="914400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08227B39-8C9A-46F7-9D30-73AE85CAAE78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0668000" cy="1066800"/>
          </a:xfrm>
          <a:prstGeom prst="roundRect">
            <a:avLst>
              <a:gd name="adj" fmla="val 5357"/>
            </a:avLst>
          </a:prstGeom>
          <a:solidFill>
            <a:srgbClr val="202E27"/>
          </a:solidFill>
          <a:ln w="9525">
            <a:solidFill>
              <a:srgbClr val="4B5B5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377E67-47D5-40F7-BD8A-16797AED016F}"/>
              </a:ext>
            </a:extLst>
          </p:cNvPr>
          <p:cNvSpPr>
            <a:spLocks noGrp="1"/>
          </p:cNvSpPr>
          <p:nvPr/>
        </p:nvSpPr>
        <p:spPr>
          <a:xfrm>
            <a:off x="971550" y="4410075"/>
            <a:ext cx="333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五个角色码，六个固定权限身份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7DADD3-F31E-409B-AAAF-F452D1ECCC48}"/>
              </a:ext>
            </a:extLst>
          </p:cNvPr>
          <p:cNvSpPr>
            <a:spLocks noGrp="1"/>
          </p:cNvSpPr>
          <p:nvPr/>
        </p:nvSpPr>
        <p:spPr>
          <a:xfrm>
            <a:off x="4438650" y="43338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它是超级管理员授予普通管理员的协调能力：可以跨管理员处理采购事项，但仍不能触碰文件治理、完整导出和超级管理员权限。</a:t>
            </a:r>
          </a:p>
        </p:txBody>
      </p:sp>
    </p:spTree>
    <p:extLst>
      <p:ext uri="{BB962C8B-B14F-4D97-AF65-F5344CB8AC3E}">
        <p14:creationId xmlns:p14="http://schemas.microsoft.com/office/powerpoint/2010/main" val="1072412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47C0439-460E-4F25-9211-3C6720300EA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03 · READER JOURNEY</a:t>
            </a:r>
          </a:p>
        </p:txBody>
      </p:sp>
      <p:sp>
        <p:nvSpPr>
          <p:cNvPr id="3" name="slide-4-title">
            <a:extLst>
              <a:ext uri="{FF2B5EF4-FFF2-40B4-BE49-F238E27FC236}">
                <a16:creationId xmlns:a16="http://schemas.microsoft.com/office/drawing/2014/main" id="{7129F6D9-48E2-4F07-8853-AFBE32A14660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读者看到的是一间书房，背后是一套完整服务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FA8660-57EF-4303-B838-F1BB2123B4E1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氛围负责邀请用户进入，清晰的操作负责让用户留下。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57013A9-C5C3-4F5B-971E-3584483C564F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0A3F90-C988-48ED-B784-5C490E1F31F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C89773-A600-4EED-A307-74016BA2B111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04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56258AC5-A622-46D8-9F13-EF2E8390A0B1}"/>
              </a:ext>
            </a:extLst>
          </p:cNvPr>
          <p:cNvSpPr>
            <a:spLocks noGrp="1"/>
          </p:cNvSpPr>
          <p:nvPr/>
        </p:nvSpPr>
        <p:spPr>
          <a:xfrm>
            <a:off x="628650" y="1695450"/>
            <a:ext cx="6934200" cy="42672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6" name="图片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752600"/>
            <a:ext cx="6819900" cy="41529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B2AE068-7249-41EA-9F3A-BD5AB4B90FB0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找书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D6DBC2-48BF-490B-B3C7-E1017302E643}"/>
              </a:ext>
            </a:extLst>
          </p:cNvPr>
          <p:cNvSpPr>
            <a:spLocks noGrp="1"/>
          </p:cNvSpPr>
          <p:nvPr/>
        </p:nvSpPr>
        <p:spPr>
          <a:xfrm>
            <a:off x="8915400" y="19716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检索、分类筛选、详情与库存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4E8D6E9-11BB-4FE9-AFDC-72FD0C56BBE7}"/>
              </a:ext>
            </a:extLst>
          </p:cNvPr>
          <p:cNvSpPr>
            <a:spLocks noGrp="1"/>
          </p:cNvSpPr>
          <p:nvPr/>
        </p:nvSpPr>
        <p:spPr>
          <a:xfrm>
            <a:off x="8020050" y="285750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借书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B58C28-369F-4CFA-8468-FB2BE10BF7A2}"/>
              </a:ext>
            </a:extLst>
          </p:cNvPr>
          <p:cNvSpPr>
            <a:spLocks noGrp="1"/>
          </p:cNvSpPr>
          <p:nvPr/>
        </p:nvSpPr>
        <p:spPr>
          <a:xfrm>
            <a:off x="8915400" y="28670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并发保护、配额与预约归属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9958170-B40B-462C-A4D8-317A5F656400}"/>
              </a:ext>
            </a:extLst>
          </p:cNvPr>
          <p:cNvSpPr>
            <a:spLocks noGrp="1"/>
          </p:cNvSpPr>
          <p:nvPr/>
        </p:nvSpPr>
        <p:spPr>
          <a:xfrm>
            <a:off x="8020050" y="375285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管理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AC383A-DCB4-4DB3-A598-09DD16FE353E}"/>
              </a:ext>
            </a:extLst>
          </p:cNvPr>
          <p:cNvSpPr>
            <a:spLocks noGrp="1"/>
          </p:cNvSpPr>
          <p:nvPr/>
        </p:nvSpPr>
        <p:spPr>
          <a:xfrm>
            <a:off x="8915400" y="37623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我的借阅、续借、预约、收藏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7A3464-5E50-48D7-BB12-539EE5792E94}"/>
              </a:ext>
            </a:extLst>
          </p:cNvPr>
          <p:cNvSpPr>
            <a:spLocks noGrp="1"/>
          </p:cNvSpPr>
          <p:nvPr/>
        </p:nvSpPr>
        <p:spPr>
          <a:xfrm>
            <a:off x="8020050" y="464820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交流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12DFA8-C552-477D-BAA9-D267E1B1AFCF}"/>
              </a:ext>
            </a:extLst>
          </p:cNvPr>
          <p:cNvSpPr>
            <a:spLocks noGrp="1"/>
          </p:cNvSpPr>
          <p:nvPr/>
        </p:nvSpPr>
        <p:spPr>
          <a:xfrm>
            <a:off x="8915400" y="46577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留言附件、书评、点赞与回复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0EA0B6B-413F-4C27-BD39-5FB3B944DCAD}"/>
              </a:ext>
            </a:extLst>
          </p:cNvPr>
          <p:cNvSpPr>
            <a:spLocks noGrp="1"/>
          </p:cNvSpPr>
          <p:nvPr/>
        </p:nvSpPr>
        <p:spPr>
          <a:xfrm>
            <a:off x="8020050" y="56197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E8074"/>
                </a:solidFill>
              </a:defRPr>
            </a:pPr>
            <a:r>
              <a:rPr sz="1200" b="1">
                <a:solidFill>
                  <a:srgbClr val="5E8074"/>
                </a:solidFill>
              </a:rPr>
              <a:t>夜间沉浸 / 白天清朗</a:t>
            </a:r>
          </a:p>
        </p:txBody>
      </p:sp>
    </p:spTree>
    <p:extLst>
      <p:ext uri="{BB962C8B-B14F-4D97-AF65-F5344CB8AC3E}">
        <p14:creationId xmlns:p14="http://schemas.microsoft.com/office/powerpoint/2010/main" val="8544325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8CF5173-78BB-4C48-A782-B16920E4BA9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04 · CORE TRANSACTION</a:t>
            </a:r>
          </a:p>
        </p:txBody>
      </p:sp>
      <p:sp>
        <p:nvSpPr>
          <p:cNvPr id="3" name="slide-5-title">
            <a:extLst>
              <a:ext uri="{FF2B5EF4-FFF2-40B4-BE49-F238E27FC236}">
                <a16:creationId xmlns:a16="http://schemas.microsoft.com/office/drawing/2014/main" id="{237765C0-179A-4AA6-A91A-0234EEFAE5EF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借阅正确性的核心只有一句：库存永不为负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505E79-F727-40FF-8E1A-EDE81D9AA62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最终库存只认 MySQL；Redis 不保存最终库存。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D9747E-5FFF-4B9E-BBFA-55939498F53D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663B35-6951-4FA6-B3B3-A50E4CA9B271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1202FE-44F4-4FE1-A2C7-FE5409265D3E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05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DE1B3C8C-15CC-4ACA-AE13-31C91F1EFF04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11F1D7-F882-437B-85B0-621DA2D0CAAC}"/>
              </a:ext>
            </a:extLst>
          </p:cNvPr>
          <p:cNvSpPr>
            <a:spLocks noGrp="1"/>
          </p:cNvSpPr>
          <p:nvPr/>
        </p:nvSpPr>
        <p:spPr>
          <a:xfrm>
            <a:off x="9525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143B422-442E-4981-A70D-4299A2C3D178}"/>
              </a:ext>
            </a:extLst>
          </p:cNvPr>
          <p:cNvSpPr>
            <a:spLocks noGrp="1"/>
          </p:cNvSpPr>
          <p:nvPr/>
        </p:nvSpPr>
        <p:spPr>
          <a:xfrm>
            <a:off x="9715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校验读者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AF0EB43-9819-4891-92F4-98156C9728C2}"/>
              </a:ext>
            </a:extLst>
          </p:cNvPr>
          <p:cNvSpPr>
            <a:spLocks noGrp="1"/>
          </p:cNvSpPr>
          <p:nvPr/>
        </p:nvSpPr>
        <p:spPr>
          <a:xfrm>
            <a:off x="9715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账号状态、配额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45E3CA50-AEE0-4E2C-B1FD-A2A39CF4D0A1}"/>
              </a:ext>
            </a:extLst>
          </p:cNvPr>
          <p:cNvSpPr>
            <a:spLocks noGrp="1"/>
          </p:cNvSpPr>
          <p:nvPr/>
        </p:nvSpPr>
        <p:spPr>
          <a:xfrm>
            <a:off x="34861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6BAF92-6644-4C2D-9846-4587E51CBFF0}"/>
              </a:ext>
            </a:extLst>
          </p:cNvPr>
          <p:cNvSpPr>
            <a:spLocks noGrp="1"/>
          </p:cNvSpPr>
          <p:nvPr/>
        </p:nvSpPr>
        <p:spPr>
          <a:xfrm>
            <a:off x="36576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06ED3AF-CCD7-4761-B3C4-5EDD9930D091}"/>
              </a:ext>
            </a:extLst>
          </p:cNvPr>
          <p:cNvSpPr>
            <a:spLocks noGrp="1"/>
          </p:cNvSpPr>
          <p:nvPr/>
        </p:nvSpPr>
        <p:spPr>
          <a:xfrm>
            <a:off x="36766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校验图书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17A4BA-4685-40A3-AB08-E409F945EB80}"/>
              </a:ext>
            </a:extLst>
          </p:cNvPr>
          <p:cNvSpPr>
            <a:spLocks noGrp="1"/>
          </p:cNvSpPr>
          <p:nvPr/>
        </p:nvSpPr>
        <p:spPr>
          <a:xfrm>
            <a:off x="36766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在架、预约归属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37F10B21-DF84-4CB3-84E2-2769AD706607}"/>
              </a:ext>
            </a:extLst>
          </p:cNvPr>
          <p:cNvSpPr>
            <a:spLocks noGrp="1"/>
          </p:cNvSpPr>
          <p:nvPr/>
        </p:nvSpPr>
        <p:spPr>
          <a:xfrm>
            <a:off x="61912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A74A3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E470E5-B412-44CF-AB5F-8ACB6A0C62A0}"/>
              </a:ext>
            </a:extLst>
          </p:cNvPr>
          <p:cNvSpPr>
            <a:spLocks noGrp="1"/>
          </p:cNvSpPr>
          <p:nvPr/>
        </p:nvSpPr>
        <p:spPr>
          <a:xfrm>
            <a:off x="63627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B2DFF0-A325-4262-A391-A0C9A64FD83C}"/>
              </a:ext>
            </a:extLst>
          </p:cNvPr>
          <p:cNvSpPr>
            <a:spLocks noGrp="1"/>
          </p:cNvSpPr>
          <p:nvPr/>
        </p:nvSpPr>
        <p:spPr>
          <a:xfrm>
            <a:off x="63817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条件扣库存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4166F19-4C5B-478F-9D97-F4BF2EE59FB8}"/>
              </a:ext>
            </a:extLst>
          </p:cNvPr>
          <p:cNvSpPr>
            <a:spLocks noGrp="1"/>
          </p:cNvSpPr>
          <p:nvPr/>
        </p:nvSpPr>
        <p:spPr>
          <a:xfrm>
            <a:off x="63817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available_num &gt; 0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51DC0006-9F31-4F56-89EA-D20AB79DA95B}"/>
              </a:ext>
            </a:extLst>
          </p:cNvPr>
          <p:cNvSpPr>
            <a:spLocks noGrp="1"/>
          </p:cNvSpPr>
          <p:nvPr/>
        </p:nvSpPr>
        <p:spPr>
          <a:xfrm>
            <a:off x="88963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D509C32-AC19-4304-A96C-D57C9D63909B}"/>
              </a:ext>
            </a:extLst>
          </p:cNvPr>
          <p:cNvSpPr>
            <a:spLocks noGrp="1"/>
          </p:cNvSpPr>
          <p:nvPr/>
        </p:nvSpPr>
        <p:spPr>
          <a:xfrm>
            <a:off x="90678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24ECA6C-313C-4CE2-B4E0-54378F43CEDB}"/>
              </a:ext>
            </a:extLst>
          </p:cNvPr>
          <p:cNvSpPr>
            <a:spLocks noGrp="1"/>
          </p:cNvSpPr>
          <p:nvPr/>
        </p:nvSpPr>
        <p:spPr>
          <a:xfrm>
            <a:off x="90868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写借阅记录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10817BC-6B85-498D-A293-C1DC283AA3F2}"/>
              </a:ext>
            </a:extLst>
          </p:cNvPr>
          <p:cNvSpPr>
            <a:spLocks noGrp="1"/>
          </p:cNvSpPr>
          <p:nvPr/>
        </p:nvSpPr>
        <p:spPr>
          <a:xfrm>
            <a:off x="90868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同一事务提交</a:t>
            </a:r>
          </a:p>
        </p:txBody>
      </p:sp>
      <p:cxnSp>
        <p:nvCxnSpPr>
          <p:cNvPr id="276" name="直接箭头连接符 50"/>
          <p:cNvCxnSpPr>
            <a:stCxn id="7" idx="3"/>
            <a:endCxn id="11" idx="1"/>
          </p:cNvCxnSpPr>
          <p:nvPr/>
        </p:nvCxnSpPr>
        <p:spPr>
          <a:xfrm>
            <a:off x="29337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1" idx="3"/>
            <a:endCxn id="15" idx="1"/>
          </p:cNvCxnSpPr>
          <p:nvPr/>
        </p:nvCxnSpPr>
        <p:spPr>
          <a:xfrm>
            <a:off x="56388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5" idx="3"/>
            <a:endCxn id="19" idx="1"/>
          </p:cNvCxnSpPr>
          <p:nvPr/>
        </p:nvCxnSpPr>
        <p:spPr>
          <a:xfrm>
            <a:off x="83439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93071747-095F-49AD-8E58-D19948A1E50C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10267950" cy="990600"/>
          </a:xfrm>
          <a:prstGeom prst="roundRect">
            <a:avLst>
              <a:gd name="adj" fmla="val 4808"/>
            </a:avLst>
          </a:prstGeom>
          <a:solidFill>
            <a:srgbClr val="0D1310"/>
          </a:solidFill>
          <a:ln w="9525">
            <a:solidFill>
              <a:srgbClr val="3E4D4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1D3ECEE-E705-40E3-9DC9-D37AD04EA15B}"/>
              </a:ext>
            </a:extLst>
          </p:cNvPr>
          <p:cNvSpPr>
            <a:spLocks noGrp="1"/>
          </p:cNvSpPr>
          <p:nvPr/>
        </p:nvSpPr>
        <p:spPr>
          <a:xfrm>
            <a:off x="1066800" y="4619625"/>
            <a:ext cx="969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B9D6CB"/>
                </a:solidFill>
              </a:defRPr>
            </a:pPr>
            <a:r>
              <a:rPr sz="1275" b="1">
                <a:solidFill>
                  <a:srgbClr val="B9D6CB"/>
                </a:solidFill>
              </a:rPr>
              <a:t>UPDATE book SET available_num = available_num - 1 WHERE id = ? AND available_num &gt; 0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4AE05E1-1029-4CBC-8BE2-3E4AC49FFDF4}"/>
              </a:ext>
            </a:extLst>
          </p:cNvPr>
          <p:cNvSpPr>
            <a:spLocks noGrp="1"/>
          </p:cNvSpPr>
          <p:nvPr/>
        </p:nvSpPr>
        <p:spPr>
          <a:xfrm>
            <a:off x="1428750" y="5010150"/>
            <a:ext cx="895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多个读者同时抢最后一本时，只有一条更新会成功；失败请求不会产生借阅记录。</a:t>
            </a:r>
          </a:p>
        </p:txBody>
      </p:sp>
    </p:spTree>
    <p:extLst>
      <p:ext uri="{BB962C8B-B14F-4D97-AF65-F5344CB8AC3E}">
        <p14:creationId xmlns:p14="http://schemas.microsoft.com/office/powerpoint/2010/main" val="8694549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CA43761-8D48-466C-A5C7-5CC0248C637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05 · AFTER BORROWING</a:t>
            </a:r>
          </a:p>
        </p:txBody>
      </p:sp>
      <p:sp>
        <p:nvSpPr>
          <p:cNvPr id="3" name="slide-6-title">
            <a:extLst>
              <a:ext uri="{FF2B5EF4-FFF2-40B4-BE49-F238E27FC236}">
                <a16:creationId xmlns:a16="http://schemas.microsoft.com/office/drawing/2014/main" id="{2D8343C9-CAE0-4027-AF54-1494D88A230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预约、续借、罚款补上了借书之后的空白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EAC354-3ABE-4783-8BEA-13CA9B40F86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规则不隐藏在代码里，而是形成可解释、可验收的状态。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E7D40E5-56CB-4035-9A3B-B0037631BAB1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70382AB-B9E9-4115-8548-F9006A9C92E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F64254-D6BB-4831-967D-511818C4C516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06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D8C1D4EE-3FAC-4224-847C-146FFD6669FB}"/>
              </a:ext>
            </a:extLst>
          </p:cNvPr>
          <p:cNvSpPr>
            <a:spLocks noGrp="1"/>
          </p:cNvSpPr>
          <p:nvPr/>
        </p:nvSpPr>
        <p:spPr>
          <a:xfrm>
            <a:off x="723900" y="1885950"/>
            <a:ext cx="3238500" cy="0"/>
          </a:xfrm>
          <a:prstGeom prst="line">
            <a:avLst/>
          </a:prstGeom>
          <a:noFill/>
          <a:ln w="38100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E4866F-C910-4C72-B820-FCFDF2EDEF6D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A74A3C"/>
                </a:solidFill>
              </a:defRPr>
            </a:pPr>
            <a:r>
              <a:rPr sz="2025" b="1">
                <a:solidFill>
                  <a:srgbClr val="A74A3C"/>
                </a:solidFill>
              </a:rPr>
              <a:t>预约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E4B70A-E3F9-43C3-BD08-E81D568ADFB9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无库存才进入 FIFO 队列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每位读者有有效预约上限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归还后通知最早预约人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48 小时未取自动过期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E0E0A986-5947-49AA-979B-541A1AA95563}"/>
              </a:ext>
            </a:extLst>
          </p:cNvPr>
          <p:cNvSpPr>
            <a:spLocks noGrp="1"/>
          </p:cNvSpPr>
          <p:nvPr/>
        </p:nvSpPr>
        <p:spPr>
          <a:xfrm>
            <a:off x="4362450" y="1885950"/>
            <a:ext cx="3238500" cy="0"/>
          </a:xfrm>
          <a:prstGeom prst="line">
            <a:avLst/>
          </a:prstGeom>
          <a:noFill/>
          <a:ln w="38100">
            <a:solidFill>
              <a:srgbClr val="5E8074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EA6223-9EFA-4539-8D06-52DBDBD5C2E0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5E8074"/>
                </a:solidFill>
              </a:defRPr>
            </a:pPr>
            <a:r>
              <a:rPr sz="2025" b="1">
                <a:solidFill>
                  <a:srgbClr val="5E8074"/>
                </a:solidFill>
              </a:rPr>
              <a:t>续借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BCFA3B-16C9-4CC0-8927-B082B5D6076F}"/>
              </a:ext>
            </a:extLst>
          </p:cNvPr>
          <p:cNvSpPr>
            <a:spLocks noGrp="1"/>
          </p:cNvSpPr>
          <p:nvPr/>
        </p:nvSpPr>
        <p:spPr>
          <a:xfrm>
            <a:off x="436245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每条借阅最多一次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仅到期前三天开放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存在预约队列时禁止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当天发送一次邮件提醒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048E569D-EE42-49A0-902D-518EE979461F}"/>
              </a:ext>
            </a:extLst>
          </p:cNvPr>
          <p:cNvSpPr>
            <a:spLocks noGrp="1"/>
          </p:cNvSpPr>
          <p:nvPr/>
        </p:nvSpPr>
        <p:spPr>
          <a:xfrm>
            <a:off x="8001000" y="1885950"/>
            <a:ext cx="3238500" cy="0"/>
          </a:xfrm>
          <a:prstGeom prst="line">
            <a:avLst/>
          </a:prstGeom>
          <a:noFill/>
          <a:ln w="38100">
            <a:solidFill>
              <a:srgbClr val="B48A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2B1E31-1E40-4ACD-B585-88FA59FFB1BD}"/>
              </a:ext>
            </a:extLst>
          </p:cNvPr>
          <p:cNvSpPr>
            <a:spLocks noGrp="1"/>
          </p:cNvSpPr>
          <p:nvPr/>
        </p:nvSpPr>
        <p:spPr>
          <a:xfrm>
            <a:off x="800100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B48A55"/>
                </a:solidFill>
              </a:defRPr>
            </a:pPr>
            <a:r>
              <a:rPr sz="2025" b="1">
                <a:solidFill>
                  <a:srgbClr val="B48A55"/>
                </a:solidFill>
              </a:rPr>
              <a:t>逾期罚款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DDA5E20-B1A8-4494-93A3-A6B8DD901089}"/>
              </a:ext>
            </a:extLst>
          </p:cNvPr>
          <p:cNvSpPr>
            <a:spLocks noGrp="1"/>
          </p:cNvSpPr>
          <p:nvPr/>
        </p:nvSpPr>
        <p:spPr>
          <a:xfrm>
            <a:off x="800100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按逾期天数计算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金额不超过图书价格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归还时恢复库存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邮件失败不回滚还书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42D7AF35-F6B1-4D67-9D3E-4E9D3641C0D1}"/>
              </a:ext>
            </a:extLst>
          </p:cNvPr>
          <p:cNvSpPr>
            <a:spLocks noGrp="1"/>
          </p:cNvSpPr>
          <p:nvPr/>
        </p:nvSpPr>
        <p:spPr>
          <a:xfrm>
            <a:off x="723900" y="5429250"/>
            <a:ext cx="10668000" cy="590550"/>
          </a:xfrm>
          <a:prstGeom prst="roundRect">
            <a:avLst>
              <a:gd name="adj" fmla="val 6452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0C8E93-E86A-42A4-804D-7B9C827F6029}"/>
              </a:ext>
            </a:extLst>
          </p:cNvPr>
          <p:cNvSpPr>
            <a:spLocks noGrp="1"/>
          </p:cNvSpPr>
          <p:nvPr/>
        </p:nvSpPr>
        <p:spPr>
          <a:xfrm>
            <a:off x="1104900" y="559117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预约状态：等待 → 已通知 → 已借阅 / 已取消 / 已过期</a:t>
            </a:r>
          </a:p>
        </p:txBody>
      </p:sp>
    </p:spTree>
    <p:extLst>
      <p:ext uri="{BB962C8B-B14F-4D97-AF65-F5344CB8AC3E}">
        <p14:creationId xmlns:p14="http://schemas.microsoft.com/office/powerpoint/2010/main" val="19626549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44B08A0-E8EB-44A2-87BC-0E4B319100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06 · COMMUNITY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F79C0D5E-42AD-4DD9-B280-D0DDF2875C7B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读者之间可以互动，但内容必须有人负责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A0353C-0A0F-432D-BA84-77AFA79BF89A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书评从发表到审核形成闭环，而不是只多一张评论表。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A7038410-4C1B-4EFC-8733-61BB463EB596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F34E8E-BE3A-4B5A-9383-89B3050F12BD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C03552-5927-4200-BA53-F3252A9D0B37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9E577C0-A967-4359-BFDF-D150B99769EB}"/>
              </a:ext>
            </a:extLst>
          </p:cNvPr>
          <p:cNvSpPr>
            <a:spLocks noGrp="1"/>
          </p:cNvSpPr>
          <p:nvPr/>
        </p:nvSpPr>
        <p:spPr>
          <a:xfrm>
            <a:off x="800100" y="215265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发表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BE2181-A3FE-4C16-B093-1C3537F2DC0C}"/>
              </a:ext>
            </a:extLst>
          </p:cNvPr>
          <p:cNvSpPr>
            <a:spLocks noGrp="1"/>
          </p:cNvSpPr>
          <p:nvPr/>
        </p:nvSpPr>
        <p:spPr>
          <a:xfrm>
            <a:off x="800100" y="2505075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书评与评分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F657B8F3-10CB-454B-8EC1-5C510540DF71}"/>
              </a:ext>
            </a:extLst>
          </p:cNvPr>
          <p:cNvSpPr>
            <a:spLocks noGrp="1"/>
          </p:cNvSpPr>
          <p:nvPr/>
        </p:nvSpPr>
        <p:spPr>
          <a:xfrm>
            <a:off x="800100" y="2943225"/>
            <a:ext cx="2667000" cy="0"/>
          </a:xfrm>
          <a:prstGeom prst="line">
            <a:avLst/>
          </a:prstGeom>
          <a:noFill/>
          <a:ln w="9525">
            <a:solidFill>
              <a:srgbClr val="4D5D55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B43D02-AF07-4487-9C76-7E9B92E9DB77}"/>
              </a:ext>
            </a:extLst>
          </p:cNvPr>
          <p:cNvSpPr>
            <a:spLocks noGrp="1"/>
          </p:cNvSpPr>
          <p:nvPr/>
        </p:nvSpPr>
        <p:spPr>
          <a:xfrm>
            <a:off x="800100" y="3209925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互动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858871-B23F-4C98-A2DE-713ED4565D94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最新 / 最热 · 点赞 · 回复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76DDAC35-8AA9-4584-B05B-C291067CB784}"/>
              </a:ext>
            </a:extLst>
          </p:cNvPr>
          <p:cNvSpPr>
            <a:spLocks noGrp="1"/>
          </p:cNvSpPr>
          <p:nvPr/>
        </p:nvSpPr>
        <p:spPr>
          <a:xfrm>
            <a:off x="800100" y="4000500"/>
            <a:ext cx="2667000" cy="0"/>
          </a:xfrm>
          <a:prstGeom prst="line">
            <a:avLst/>
          </a:prstGeom>
          <a:noFill/>
          <a:ln w="9525">
            <a:solidFill>
              <a:srgbClr val="4D5D55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0A1760-0586-4935-99D7-17542EB03991}"/>
              </a:ext>
            </a:extLst>
          </p:cNvPr>
          <p:cNvSpPr>
            <a:spLocks noGrp="1"/>
          </p:cNvSpPr>
          <p:nvPr/>
        </p:nvSpPr>
        <p:spPr>
          <a:xfrm>
            <a:off x="800100" y="426720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治理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1CB118-1E15-4DA0-A635-B5E3D8C1A60C}"/>
              </a:ext>
            </a:extLst>
          </p:cNvPr>
          <p:cNvSpPr>
            <a:spLocks noGrp="1"/>
          </p:cNvSpPr>
          <p:nvPr/>
        </p:nvSpPr>
        <p:spPr>
          <a:xfrm>
            <a:off x="800100" y="4619625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举报 · 隐藏 · 忽略 · 审计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51F8413D-A136-4312-9805-C3345B6FBDDC}"/>
              </a:ext>
            </a:extLst>
          </p:cNvPr>
          <p:cNvSpPr>
            <a:spLocks noGrp="1"/>
          </p:cNvSpPr>
          <p:nvPr/>
        </p:nvSpPr>
        <p:spPr>
          <a:xfrm>
            <a:off x="4171950" y="1695450"/>
            <a:ext cx="7239000" cy="43243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33" name="图片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229100" y="1752600"/>
            <a:ext cx="7124700" cy="421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090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8BBF4D8-BA1E-42C5-A508-6AB584E1F30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07 · SUPPLY CHAIN</a:t>
            </a:r>
          </a:p>
        </p:txBody>
      </p:sp>
      <p:sp>
        <p:nvSpPr>
          <p:cNvPr id="3" name="slide-8-title">
            <a:extLst>
              <a:ext uri="{FF2B5EF4-FFF2-40B4-BE49-F238E27FC236}">
                <a16:creationId xmlns:a16="http://schemas.microsoft.com/office/drawing/2014/main" id="{E6C652ED-5E78-4B6D-98B2-6BEE6142DCCF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低库存不再只是告警，它会走到真正入库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3ACF8D-8BE8-47BB-9CD2-2A004E2180CA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采购与物流使用同一订单状态，但通信通道严格隔离。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17B50031-B95D-42B1-93AA-B19894D48348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0A248E-8D4B-40D0-9E94-57388778107D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986D8F-B97A-461C-B282-A118F49B2CF5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08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F1680FE7-CFA1-4C78-926D-74DDF8B703AF}"/>
              </a:ext>
            </a:extLst>
          </p:cNvPr>
          <p:cNvSpPr>
            <a:spLocks noGrp="1"/>
          </p:cNvSpPr>
          <p:nvPr/>
        </p:nvSpPr>
        <p:spPr>
          <a:xfrm>
            <a:off x="5124450" y="1638300"/>
            <a:ext cx="6343650" cy="455295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170" name="图片 2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81600" y="1697732"/>
            <a:ext cx="6229350" cy="4434086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7DDEE3BD-8F4E-484E-BEF4-A259760CF20C}"/>
              </a:ext>
            </a:extLst>
          </p:cNvPr>
          <p:cNvSpPr>
            <a:spLocks noGrp="1"/>
          </p:cNvSpPr>
          <p:nvPr/>
        </p:nvSpPr>
        <p:spPr>
          <a:xfrm>
            <a:off x="742950" y="18478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F8F5ED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管理员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创建需求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0C7E089-916F-4354-8EE5-57A74B6EB98D}"/>
              </a:ext>
            </a:extLst>
          </p:cNvPr>
          <p:cNvSpPr>
            <a:spLocks noGrp="1"/>
          </p:cNvSpPr>
          <p:nvPr/>
        </p:nvSpPr>
        <p:spPr>
          <a:xfrm>
            <a:off x="742950" y="28384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采购员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认领 / 下单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84239045-4797-43FB-8B31-7C0988FE6878}"/>
              </a:ext>
            </a:extLst>
          </p:cNvPr>
          <p:cNvSpPr>
            <a:spLocks noGrp="1"/>
          </p:cNvSpPr>
          <p:nvPr/>
        </p:nvSpPr>
        <p:spPr>
          <a:xfrm>
            <a:off x="742950" y="38290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F8F5ED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物流员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运输 / 到馆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88301D48-2F53-45C4-8C58-96FCEA0FC522}"/>
              </a:ext>
            </a:extLst>
          </p:cNvPr>
          <p:cNvSpPr>
            <a:spLocks noGrp="1"/>
          </p:cNvSpPr>
          <p:nvPr/>
        </p:nvSpPr>
        <p:spPr>
          <a:xfrm>
            <a:off x="742950" y="48196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E4DED0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系统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入库补库存</a:t>
            </a:r>
          </a:p>
        </p:txBody>
      </p:sp>
      <p:cxnSp>
        <p:nvCxnSpPr>
          <p:cNvPr id="175" name="直接箭头连接符 30"/>
          <p:cNvCxnSpPr>
            <a:stCxn id="9" idx="2"/>
            <a:endCxn id="10" idx="0"/>
          </p:cNvCxnSpPr>
          <p:nvPr/>
        </p:nvCxnSpPr>
        <p:spPr>
          <a:xfrm>
            <a:off x="1628775" y="25717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6" name="直接箭头连接符 31"/>
          <p:cNvCxnSpPr>
            <a:stCxn id="10" idx="2"/>
            <a:endCxn id="11" idx="0"/>
          </p:cNvCxnSpPr>
          <p:nvPr/>
        </p:nvCxnSpPr>
        <p:spPr>
          <a:xfrm>
            <a:off x="1628775" y="35623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7" name="直接箭头连接符 32"/>
          <p:cNvCxnSpPr>
            <a:stCxn id="11" idx="2"/>
            <a:endCxn id="12" idx="0"/>
          </p:cNvCxnSpPr>
          <p:nvPr/>
        </p:nvCxnSpPr>
        <p:spPr>
          <a:xfrm>
            <a:off x="1628775" y="45529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BF318BF1-DF20-47AE-B11E-89FD9872A990}"/>
              </a:ext>
            </a:extLst>
          </p:cNvPr>
          <p:cNvSpPr>
            <a:spLocks noGrp="1"/>
          </p:cNvSpPr>
          <p:nvPr/>
        </p:nvSpPr>
        <p:spPr>
          <a:xfrm>
            <a:off x="2933700" y="20955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通信隔离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4C9AC58-59D3-4CF7-871E-8BFF455525AB}"/>
              </a:ext>
            </a:extLst>
          </p:cNvPr>
          <p:cNvSpPr>
            <a:spLocks noGrp="1"/>
          </p:cNvSpPr>
          <p:nvPr/>
        </p:nvSpPr>
        <p:spPr>
          <a:xfrm>
            <a:off x="2933700" y="2476500"/>
            <a:ext cx="19431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管理员 ↔ 采购员</a:t>
            </a:r>
          </a:p>
          <a:p>
            <a:endParaRPr sz="1200" b="0">
              <a:solidFill>
                <a:srgbClr val="17201C"/>
              </a:solidFill>
            </a:endParaRPr>
          </a:p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采购员 ↔ 物流员</a:t>
            </a:r>
          </a:p>
          <a:p>
            <a:endParaRPr sz="1200" b="0">
              <a:solidFill>
                <a:srgbClr val="17201C"/>
              </a:solidFill>
            </a:endParaRPr>
          </a:p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物流员不能直接调度管理员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603B62B-F5F3-4FA3-8F62-B8734B48744E}"/>
              </a:ext>
            </a:extLst>
          </p:cNvPr>
          <p:cNvSpPr>
            <a:spLocks noGrp="1"/>
          </p:cNvSpPr>
          <p:nvPr/>
        </p:nvSpPr>
        <p:spPr>
          <a:xfrm>
            <a:off x="742950" y="5657850"/>
            <a:ext cx="4152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每次状态变化记录操作者、时间、前后状态和备注；重复入库不会重复增加库存。</a:t>
            </a:r>
          </a:p>
        </p:txBody>
      </p:sp>
    </p:spTree>
    <p:extLst>
      <p:ext uri="{BB962C8B-B14F-4D97-AF65-F5344CB8AC3E}">
        <p14:creationId xmlns:p14="http://schemas.microsoft.com/office/powerpoint/2010/main" val="2140442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ECE2044-7ABA-452A-AE94-FC7A400386B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08 · AUTHORITY</a:t>
            </a:r>
          </a:p>
        </p:txBody>
      </p:sp>
      <p:sp>
        <p:nvSpPr>
          <p:cNvPr id="3" name="slide-9-title">
            <a:extLst>
              <a:ext uri="{FF2B5EF4-FFF2-40B4-BE49-F238E27FC236}">
                <a16:creationId xmlns:a16="http://schemas.microsoft.com/office/drawing/2014/main" id="{057A180B-44BC-4027-A32D-AE0BE175B932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效率可以提升，但权力必须与责任一起留下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44C959-77CC-4F46-82C1-AE6C2FA3E5E6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权限不是只藏在前端菜单里：接口、Service 和数据范围都会再次校验。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96B1C98-0F18-4B3D-B4F3-EE041E4EB803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89A17A-6F8F-47B8-9750-B4BF78FCF20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492A8E-28AF-4581-83A5-678A8CF7FE0F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09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C5C05B52-1403-458D-8B7B-E8ECCC9B97AF}"/>
              </a:ext>
            </a:extLst>
          </p:cNvPr>
          <p:cNvSpPr>
            <a:spLocks noGrp="1"/>
          </p:cNvSpPr>
          <p:nvPr/>
        </p:nvSpPr>
        <p:spPr>
          <a:xfrm>
            <a:off x="628650" y="1704975"/>
            <a:ext cx="6934200" cy="42862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25" name="图片 2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97942" y="1762125"/>
            <a:ext cx="5995617" cy="41719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D899F80-A67D-4096-B06C-1275B74D4D74}"/>
              </a:ext>
            </a:extLst>
          </p:cNvPr>
          <p:cNvSpPr>
            <a:spLocks noGrp="1"/>
          </p:cNvSpPr>
          <p:nvPr/>
        </p:nvSpPr>
        <p:spPr>
          <a:xfrm>
            <a:off x="7962900" y="188595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A74A3C"/>
                </a:solidFill>
              </a:defRPr>
            </a:pPr>
            <a:r>
              <a:rPr sz="1425" b="1">
                <a:solidFill>
                  <a:srgbClr val="A74A3C"/>
                </a:solidFill>
              </a:rPr>
              <a:t>超级管理员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908CBA-CB98-470F-BEA0-DE2C6CBC1D0A}"/>
              </a:ext>
            </a:extLst>
          </p:cNvPr>
          <p:cNvSpPr>
            <a:spLocks noGrp="1"/>
          </p:cNvSpPr>
          <p:nvPr/>
        </p:nvSpPr>
        <p:spPr>
          <a:xfrm>
            <a:off x="7962900" y="2209800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任免角色与馆务协调权限、查看全局审计、治理文件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637198-5F93-4F16-9D31-5F716091CA27}"/>
              </a:ext>
            </a:extLst>
          </p:cNvPr>
          <p:cNvSpPr>
            <a:spLocks noGrp="1"/>
          </p:cNvSpPr>
          <p:nvPr/>
        </p:nvSpPr>
        <p:spPr>
          <a:xfrm>
            <a:off x="7962900" y="2886075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48A55"/>
                </a:solidFill>
              </a:defRPr>
            </a:pPr>
            <a:r>
              <a:rPr sz="1425" b="1">
                <a:solidFill>
                  <a:srgbClr val="B48A55"/>
                </a:solidFill>
              </a:rPr>
              <a:t>普通管理员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9CBEC9-F460-426B-97A8-C79322F61ACF}"/>
              </a:ext>
            </a:extLst>
          </p:cNvPr>
          <p:cNvSpPr>
            <a:spLocks noGrp="1"/>
          </p:cNvSpPr>
          <p:nvPr/>
        </p:nvSpPr>
        <p:spPr>
          <a:xfrm>
            <a:off x="7962900" y="3209925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不能修改同级、馆务协调员或超级管理员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85AD9B-4806-48DE-87CF-140968B8A498}"/>
              </a:ext>
            </a:extLst>
          </p:cNvPr>
          <p:cNvSpPr>
            <a:spLocks noGrp="1"/>
          </p:cNvSpPr>
          <p:nvPr/>
        </p:nvSpPr>
        <p:spPr>
          <a:xfrm>
            <a:off x="7962900" y="388620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5E8074"/>
                </a:solidFill>
              </a:defRPr>
            </a:pPr>
            <a:r>
              <a:rPr sz="1425" b="1">
                <a:solidFill>
                  <a:srgbClr val="5E8074"/>
                </a:solidFill>
              </a:rPr>
              <a:t>馆务协调员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415E875-6F66-49AF-9EDF-7DCC00E6E462}"/>
              </a:ext>
            </a:extLst>
          </p:cNvPr>
          <p:cNvSpPr>
            <a:spLocks noGrp="1"/>
          </p:cNvSpPr>
          <p:nvPr/>
        </p:nvSpPr>
        <p:spPr>
          <a:xfrm>
            <a:off x="7962900" y="4210050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可跨管理员协调采购，但没有超级管理员专权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9BF28F-08E6-451C-954D-9266DD9B3105}"/>
              </a:ext>
            </a:extLst>
          </p:cNvPr>
          <p:cNvSpPr>
            <a:spLocks noGrp="1"/>
          </p:cNvSpPr>
          <p:nvPr/>
        </p:nvSpPr>
        <p:spPr>
          <a:xfrm>
            <a:off x="7962900" y="4886325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A99BB2"/>
                </a:solidFill>
              </a:defRPr>
            </a:pPr>
            <a:r>
              <a:rPr sz="1425" b="1">
                <a:solidFill>
                  <a:srgbClr val="A99BB2"/>
                </a:solidFill>
              </a:rPr>
              <a:t>岗位人员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D619F7F-B358-436A-816F-F9A673C09A1B}"/>
              </a:ext>
            </a:extLst>
          </p:cNvPr>
          <p:cNvSpPr>
            <a:spLocks noGrp="1"/>
          </p:cNvSpPr>
          <p:nvPr/>
        </p:nvSpPr>
        <p:spPr>
          <a:xfrm>
            <a:off x="7962900" y="5210175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采购员与物流员只能访问自己的任务和通信</a:t>
            </a:r>
          </a:p>
        </p:txBody>
      </p:sp>
    </p:spTree>
    <p:extLst>
      <p:ext uri="{BB962C8B-B14F-4D97-AF65-F5344CB8AC3E}">
        <p14:creationId xmlns:p14="http://schemas.microsoft.com/office/powerpoint/2010/main" val="1180337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CA44914-235F-4E9B-BA55-6C3FCF24FA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09 · ARCHITECTURE</a:t>
            </a:r>
          </a:p>
        </p:txBody>
      </p:sp>
      <p:sp>
        <p:nvSpPr>
          <p:cNvPr id="3" name="slide-10-title">
            <a:extLst>
              <a:ext uri="{FF2B5EF4-FFF2-40B4-BE49-F238E27FC236}">
                <a16:creationId xmlns:a16="http://schemas.microsoft.com/office/drawing/2014/main" id="{5ED12232-B151-4D5C-9B5D-79F3AABA8CA4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单体不等于耦合：边界清楚比服务数量更重要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2F52D88-99B3-48EA-95A6-C2806EC98B4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业务规则留在 Service，中间件通过适配层接入。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7F2CF919-34E5-4680-A36E-876FEFD52CAD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DBA710-E542-4016-BB9C-FB3DA5BBD91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2FE610-50DE-46FC-B87D-F0583050DBE0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10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BCAD837-62FE-4F10-8CDE-52E426053F37}"/>
              </a:ext>
            </a:extLst>
          </p:cNvPr>
          <p:cNvSpPr>
            <a:spLocks noGrp="1"/>
          </p:cNvSpPr>
          <p:nvPr/>
        </p:nvSpPr>
        <p:spPr>
          <a:xfrm>
            <a:off x="819150" y="17526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D9E4D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945B31-967F-494C-9277-A689AFC97582}"/>
              </a:ext>
            </a:extLst>
          </p:cNvPr>
          <p:cNvSpPr>
            <a:spLocks noGrp="1"/>
          </p:cNvSpPr>
          <p:nvPr/>
        </p:nvSpPr>
        <p:spPr>
          <a:xfrm>
            <a:off x="1066800" y="18764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Vue 3 + Vite 表现层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CB7107-B65C-43A0-ABB1-F20658267D94}"/>
              </a:ext>
            </a:extLst>
          </p:cNvPr>
          <p:cNvSpPr>
            <a:spLocks noGrp="1"/>
          </p:cNvSpPr>
          <p:nvPr/>
        </p:nvSpPr>
        <p:spPr>
          <a:xfrm>
            <a:off x="3371850" y="18954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读者端 / 管理端 / 采购物流工作台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5E21B785-C79B-4F08-BFB2-DFF926D9F9FA}"/>
              </a:ext>
            </a:extLst>
          </p:cNvPr>
          <p:cNvSpPr>
            <a:spLocks noGrp="1"/>
          </p:cNvSpPr>
          <p:nvPr/>
        </p:nvSpPr>
        <p:spPr>
          <a:xfrm>
            <a:off x="819150" y="25908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E9DFC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121D11A-2913-4103-B243-F098B2219DD2}"/>
              </a:ext>
            </a:extLst>
          </p:cNvPr>
          <p:cNvSpPr>
            <a:spLocks noGrp="1"/>
          </p:cNvSpPr>
          <p:nvPr/>
        </p:nvSpPr>
        <p:spPr>
          <a:xfrm>
            <a:off x="1066800" y="27146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Controller 接入层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B40F65-37EE-4BFB-9CA0-AD96EA5368A3}"/>
              </a:ext>
            </a:extLst>
          </p:cNvPr>
          <p:cNvSpPr>
            <a:spLocks noGrp="1"/>
          </p:cNvSpPr>
          <p:nvPr/>
        </p:nvSpPr>
        <p:spPr>
          <a:xfrm>
            <a:off x="3371850" y="27336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参数校验 / JWT / 限流 / 权限注解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546CB68F-85BD-4A13-8160-99FCCB34332A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E5D5C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3551DA4-3636-43C1-AFF7-25B860F0F47A}"/>
              </a:ext>
            </a:extLst>
          </p:cNvPr>
          <p:cNvSpPr>
            <a:spLocks noGrp="1"/>
          </p:cNvSpPr>
          <p:nvPr/>
        </p:nvSpPr>
        <p:spPr>
          <a:xfrm>
            <a:off x="1066800" y="35528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Service 应用与领域层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3AF1BD-4F7F-4318-8B13-9BF766E8EBDC}"/>
              </a:ext>
            </a:extLst>
          </p:cNvPr>
          <p:cNvSpPr>
            <a:spLocks noGrp="1"/>
          </p:cNvSpPr>
          <p:nvPr/>
        </p:nvSpPr>
        <p:spPr>
          <a:xfrm>
            <a:off x="3371850" y="35718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事务 / 状态 / 角色边界 / 业务编排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0091F5D5-5DDE-480B-B9D3-7F5B94D229CE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D7E0E5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E9C47A-5952-450B-B997-BDF248A8E81F}"/>
              </a:ext>
            </a:extLst>
          </p:cNvPr>
          <p:cNvSpPr>
            <a:spLocks noGrp="1"/>
          </p:cNvSpPr>
          <p:nvPr/>
        </p:nvSpPr>
        <p:spPr>
          <a:xfrm>
            <a:off x="1066800" y="43910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Mapper 数据访问层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56A574B-2173-465C-B0F0-BA7EE978BB2C}"/>
              </a:ext>
            </a:extLst>
          </p:cNvPr>
          <p:cNvSpPr>
            <a:spLocks noGrp="1"/>
          </p:cNvSpPr>
          <p:nvPr/>
        </p:nvSpPr>
        <p:spPr>
          <a:xfrm>
            <a:off x="3371850" y="44100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MyBatis-Plus 3.5 / Mapper XML / 条件更新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5CC9928E-178E-4C38-997B-61F3775245EF}"/>
              </a:ext>
            </a:extLst>
          </p:cNvPr>
          <p:cNvSpPr>
            <a:spLocks noGrp="1"/>
          </p:cNvSpPr>
          <p:nvPr/>
        </p:nvSpPr>
        <p:spPr>
          <a:xfrm>
            <a:off x="819150" y="51054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CCD8D1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30426-D1B8-45F3-8874-9DB0DEBA1C99}"/>
              </a:ext>
            </a:extLst>
          </p:cNvPr>
          <p:cNvSpPr>
            <a:spLocks noGrp="1"/>
          </p:cNvSpPr>
          <p:nvPr/>
        </p:nvSpPr>
        <p:spPr>
          <a:xfrm>
            <a:off x="1066800" y="52292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MySQL 最终事实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0902680-0913-4F56-91B5-045F757F3BEB}"/>
              </a:ext>
            </a:extLst>
          </p:cNvPr>
          <p:cNvSpPr>
            <a:spLocks noGrp="1"/>
          </p:cNvSpPr>
          <p:nvPr/>
        </p:nvSpPr>
        <p:spPr>
          <a:xfrm>
            <a:off x="3371850" y="52482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19 张表 / 外键 / 唯一约束 / 审计</a:t>
            </a:r>
          </a:p>
        </p:txBody>
      </p:sp>
      <p:cxnSp>
        <p:nvCxnSpPr>
          <p:cNvPr id="276" name="直接箭头连接符 50"/>
          <p:cNvCxnSpPr>
            <a:stCxn id="7" idx="2"/>
            <a:endCxn id="10" idx="0"/>
          </p:cNvCxnSpPr>
          <p:nvPr/>
        </p:nvCxnSpPr>
        <p:spPr>
          <a:xfrm>
            <a:off x="4152900" y="23812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0" idx="2"/>
            <a:endCxn id="13" idx="0"/>
          </p:cNvCxnSpPr>
          <p:nvPr/>
        </p:nvCxnSpPr>
        <p:spPr>
          <a:xfrm>
            <a:off x="4152900" y="32194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3" idx="2"/>
            <a:endCxn id="16" idx="0"/>
          </p:cNvCxnSpPr>
          <p:nvPr/>
        </p:nvCxnSpPr>
        <p:spPr>
          <a:xfrm>
            <a:off x="4152900" y="40576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9" name="直接箭头连接符 53"/>
          <p:cNvCxnSpPr>
            <a:stCxn id="16" idx="2"/>
            <a:endCxn id="19" idx="0"/>
          </p:cNvCxnSpPr>
          <p:nvPr/>
        </p:nvCxnSpPr>
        <p:spPr>
          <a:xfrm>
            <a:off x="4152900" y="48958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3FA0D864-B686-4582-B35A-182CA7E46904}"/>
              </a:ext>
            </a:extLst>
          </p:cNvPr>
          <p:cNvSpPr>
            <a:spLocks noGrp="1"/>
          </p:cNvSpPr>
          <p:nvPr/>
        </p:nvSpPr>
        <p:spPr>
          <a:xfrm>
            <a:off x="8077200" y="2019300"/>
            <a:ext cx="3257550" cy="2781300"/>
          </a:xfrm>
          <a:prstGeom prst="roundRect">
            <a:avLst>
              <a:gd name="adj" fmla="val 2055"/>
            </a:avLst>
          </a:prstGeom>
          <a:solidFill>
            <a:srgbClr val="FAF7F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990A7F0-5DDC-4020-8AD1-F22C885F64CF}"/>
              </a:ext>
            </a:extLst>
          </p:cNvPr>
          <p:cNvSpPr>
            <a:spLocks noGrp="1"/>
          </p:cNvSpPr>
          <p:nvPr/>
        </p:nvSpPr>
        <p:spPr>
          <a:xfrm>
            <a:off x="836295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基础设施适配层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CF5853-DF0E-4419-B460-4ECA8BE58516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6098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Redis 缓存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RabbitMQ 事件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邮件与补偿任务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文件存储与定时清理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4B43334-DFE5-4B10-848E-F00F1C747F57}"/>
              </a:ext>
            </a:extLst>
          </p:cNvPr>
          <p:cNvSpPr>
            <a:spLocks noGrp="1"/>
          </p:cNvSpPr>
          <p:nvPr/>
        </p:nvSpPr>
        <p:spPr>
          <a:xfrm>
            <a:off x="8324850" y="5143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5E8074"/>
                </a:solidFill>
              </a:defRPr>
            </a:pPr>
            <a:r>
              <a:rPr sz="1350" b="1">
                <a:solidFill>
                  <a:srgbClr val="5E8074"/>
                </a:solidFill>
              </a:rPr>
              <a:t>可替换 · 可关闭 · 可测试</a:t>
            </a:r>
          </a:p>
        </p:txBody>
      </p:sp>
    </p:spTree>
    <p:extLst>
      <p:ext uri="{BB962C8B-B14F-4D97-AF65-F5344CB8AC3E}">
        <p14:creationId xmlns:p14="http://schemas.microsoft.com/office/powerpoint/2010/main" val="12836180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92C1574-14BC-4698-9821-7A8DC348BB6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10 · DATA MODEL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1F09AB70-5C88-4935-BB57-70793A69444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19 张表不是堆出来的，它们按业务责任分组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F8D16F-8CE5-43F8-BECD-F3BAB57CB94E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外键负责引用完整性，唯一约束和状态字段阻止重复动作。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35BE11-53DE-40EB-A7A7-888E2E20DBB0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BD0A504-406F-4421-BF34-48063F53D14E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79EEE8-130D-4FC7-AAAD-ED0CA50E9B7D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262B01-D6A9-4FBA-A898-E7841527D849}"/>
              </a:ext>
            </a:extLst>
          </p:cNvPr>
          <p:cNvSpPr>
            <a:spLocks noGrp="1"/>
          </p:cNvSpPr>
          <p:nvPr/>
        </p:nvSpPr>
        <p:spPr>
          <a:xfrm>
            <a:off x="762000" y="1790700"/>
            <a:ext cx="24765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00" b="1">
                <a:solidFill>
                  <a:srgbClr val="A74A3C"/>
                </a:solidFill>
              </a:defRPr>
            </a:pPr>
            <a:r>
              <a:rPr sz="6300" b="1">
                <a:solidFill>
                  <a:srgbClr val="A74A3C"/>
                </a:solidFill>
              </a:rPr>
              <a:t>19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9726F0-8782-4044-A0AB-062CA5686315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BUSINESS TABLES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C74D357-EB2A-4597-8520-420503350A1E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285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27 条外键约束</a:t>
            </a:r>
          </a:p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借阅、预约、互动、供应和文件治理各自有表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2D933558-87C0-4B53-A5DF-B04F562CAC1E}"/>
              </a:ext>
            </a:extLst>
          </p:cNvPr>
          <p:cNvSpPr>
            <a:spLocks noGrp="1"/>
          </p:cNvSpPr>
          <p:nvPr/>
        </p:nvSpPr>
        <p:spPr>
          <a:xfrm>
            <a:off x="4210050" y="1809750"/>
            <a:ext cx="3143250" cy="0"/>
          </a:xfrm>
          <a:prstGeom prst="line">
            <a:avLst/>
          </a:prstGeom>
          <a:noFill/>
          <a:ln w="28575">
            <a:solidFill>
              <a:srgbClr val="A74A3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A32C1E6-01F4-4506-BEE7-BE11017C09F0}"/>
              </a:ext>
            </a:extLst>
          </p:cNvPr>
          <p:cNvSpPr>
            <a:spLocks noGrp="1"/>
          </p:cNvSpPr>
          <p:nvPr/>
        </p:nvSpPr>
        <p:spPr>
          <a:xfrm>
            <a:off x="4210050" y="19812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用户与馆藏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EEC0AE-E685-4424-AC09-0C8FCA0AC0D2}"/>
              </a:ext>
            </a:extLst>
          </p:cNvPr>
          <p:cNvSpPr>
            <a:spLocks noGrp="1"/>
          </p:cNvSpPr>
          <p:nvPr/>
        </p:nvSpPr>
        <p:spPr>
          <a:xfrm>
            <a:off x="4210050" y="23622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user · category · bookshelf · book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8CB4C22E-EF35-4C12-830A-112CC34A54B5}"/>
              </a:ext>
            </a:extLst>
          </p:cNvPr>
          <p:cNvSpPr>
            <a:spLocks noGrp="1"/>
          </p:cNvSpPr>
          <p:nvPr/>
        </p:nvSpPr>
        <p:spPr>
          <a:xfrm>
            <a:off x="7848600" y="1809750"/>
            <a:ext cx="3143250" cy="0"/>
          </a:xfrm>
          <a:prstGeom prst="line">
            <a:avLst/>
          </a:prstGeom>
          <a:noFill/>
          <a:ln w="28575">
            <a:solidFill>
              <a:srgbClr val="A74A3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C9AAA90-E1A0-47E2-B082-A689426CF271}"/>
              </a:ext>
            </a:extLst>
          </p:cNvPr>
          <p:cNvSpPr>
            <a:spLocks noGrp="1"/>
          </p:cNvSpPr>
          <p:nvPr/>
        </p:nvSpPr>
        <p:spPr>
          <a:xfrm>
            <a:off x="7848600" y="19812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流通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F7B665D-4C65-49A3-B3DA-3AFB8345BFBF}"/>
              </a:ext>
            </a:extLst>
          </p:cNvPr>
          <p:cNvSpPr>
            <a:spLocks noGrp="1"/>
          </p:cNvSpPr>
          <p:nvPr/>
        </p:nvSpPr>
        <p:spPr>
          <a:xfrm>
            <a:off x="7848600" y="23622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borrow_record · favorite · reservation</a:t>
            </a:r>
          </a:p>
        </p:txBody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A525E785-F79D-4C17-B643-5470B5B97F62}"/>
              </a:ext>
            </a:extLst>
          </p:cNvPr>
          <p:cNvSpPr>
            <a:spLocks noGrp="1"/>
          </p:cNvSpPr>
          <p:nvPr/>
        </p:nvSpPr>
        <p:spPr>
          <a:xfrm>
            <a:off x="4210050" y="3067050"/>
            <a:ext cx="3143250" cy="0"/>
          </a:xfrm>
          <a:prstGeom prst="line">
            <a:avLst/>
          </a:prstGeom>
          <a:noFill/>
          <a:ln w="28575">
            <a:solidFill>
              <a:srgbClr val="5E8074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C2A6355-4302-46F8-8301-D329831A2B27}"/>
              </a:ext>
            </a:extLst>
          </p:cNvPr>
          <p:cNvSpPr>
            <a:spLocks noGrp="1"/>
          </p:cNvSpPr>
          <p:nvPr/>
        </p:nvSpPr>
        <p:spPr>
          <a:xfrm>
            <a:off x="4210050" y="3238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内容互动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AD8EBB-8F6A-4ECF-8756-00860FC51105}"/>
              </a:ext>
            </a:extLst>
          </p:cNvPr>
          <p:cNvSpPr>
            <a:spLocks noGrp="1"/>
          </p:cNvSpPr>
          <p:nvPr/>
        </p:nvSpPr>
        <p:spPr>
          <a:xfrm>
            <a:off x="4210050" y="36195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notice · review · like · reply · report · message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A1A3E51-C4B4-4D76-98D3-92731E45B129}"/>
              </a:ext>
            </a:extLst>
          </p:cNvPr>
          <p:cNvSpPr>
            <a:spLocks noGrp="1"/>
          </p:cNvSpPr>
          <p:nvPr/>
        </p:nvSpPr>
        <p:spPr>
          <a:xfrm>
            <a:off x="7848600" y="3067050"/>
            <a:ext cx="3143250" cy="0"/>
          </a:xfrm>
          <a:prstGeom prst="line">
            <a:avLst/>
          </a:prstGeom>
          <a:noFill/>
          <a:ln w="28575">
            <a:solidFill>
              <a:srgbClr val="5E8074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6F9499A-9F70-40B1-BD71-DD87FC6E0D10}"/>
              </a:ext>
            </a:extLst>
          </p:cNvPr>
          <p:cNvSpPr>
            <a:spLocks noGrp="1"/>
          </p:cNvSpPr>
          <p:nvPr/>
        </p:nvSpPr>
        <p:spPr>
          <a:xfrm>
            <a:off x="7848600" y="3238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审计通知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BC06C47-C55C-4167-85EB-FCCF1C275F3A}"/>
              </a:ext>
            </a:extLst>
          </p:cNvPr>
          <p:cNvSpPr>
            <a:spLocks noGrp="1"/>
          </p:cNvSpPr>
          <p:nvPr/>
        </p:nvSpPr>
        <p:spPr>
          <a:xfrm>
            <a:off x="7848600" y="36195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operation_log · notification_task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4D76E0F0-1EE7-4428-A19C-EC94059F143C}"/>
              </a:ext>
            </a:extLst>
          </p:cNvPr>
          <p:cNvSpPr>
            <a:spLocks noGrp="1"/>
          </p:cNvSpPr>
          <p:nvPr/>
        </p:nvSpPr>
        <p:spPr>
          <a:xfrm>
            <a:off x="4210050" y="4324350"/>
            <a:ext cx="3143250" cy="0"/>
          </a:xfrm>
          <a:prstGeom prst="line">
            <a:avLst/>
          </a:prstGeom>
          <a:noFill/>
          <a:ln w="28575">
            <a:solidFill>
              <a:srgbClr val="B48A5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01C5A43-1412-44D8-894B-CFDDDBFEA2B1}"/>
              </a:ext>
            </a:extLst>
          </p:cNvPr>
          <p:cNvSpPr>
            <a:spLocks noGrp="1"/>
          </p:cNvSpPr>
          <p:nvPr/>
        </p:nvSpPr>
        <p:spPr>
          <a:xfrm>
            <a:off x="4210050" y="44958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采购物流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105ED9C-B964-4455-9FF1-B7F1F180E523}"/>
              </a:ext>
            </a:extLst>
          </p:cNvPr>
          <p:cNvSpPr>
            <a:spLocks noGrp="1"/>
          </p:cNvSpPr>
          <p:nvPr/>
        </p:nvSpPr>
        <p:spPr>
          <a:xfrm>
            <a:off x="4210050" y="48768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order · logistics · procurement_message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C6C7DB6E-B4DF-456A-B65E-5EE9F83DD24D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3143250" cy="0"/>
          </a:xfrm>
          <a:prstGeom prst="line">
            <a:avLst/>
          </a:prstGeom>
          <a:noFill/>
          <a:ln w="28575">
            <a:solidFill>
              <a:srgbClr val="B48A5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1BF9E7C-3178-426E-A5FB-3E01B6769108}"/>
              </a:ext>
            </a:extLst>
          </p:cNvPr>
          <p:cNvSpPr>
            <a:spLocks noGrp="1"/>
          </p:cNvSpPr>
          <p:nvPr/>
        </p:nvSpPr>
        <p:spPr>
          <a:xfrm>
            <a:off x="7848600" y="44958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文件治理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275012-B658-44DD-956C-B4E117CFAD16}"/>
              </a:ext>
            </a:extLst>
          </p:cNvPr>
          <p:cNvSpPr>
            <a:spLocks noGrp="1"/>
          </p:cNvSpPr>
          <p:nvPr/>
        </p:nvSpPr>
        <p:spPr>
          <a:xfrm>
            <a:off x="7848600" y="48768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stored_file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4CF95F6-98C2-4BEA-B608-5F441BAF4A81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MySQL 是最终事实来源</a:t>
            </a:r>
          </a:p>
        </p:txBody>
      </p:sp>
    </p:spTree>
    <p:extLst>
      <p:ext uri="{BB962C8B-B14F-4D97-AF65-F5344CB8AC3E}">
        <p14:creationId xmlns:p14="http://schemas.microsoft.com/office/powerpoint/2010/main" val="10087222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BF3A707-E2BC-43E8-BF80-AACEC16FC41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11 · RELIABILITY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1D4BD8DB-7F9D-489F-9D92-F43D75A89AE6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中间件能加速系统，但不能决定系统能否工作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296520-2561-41CA-9DA7-B7E7ED7D1D6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正常时走增强路径，故障时自动回到 MySQL、内存或补偿任务。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A0BC44D-2250-41AF-AC1E-1019A605EA71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A4B315-BD14-4869-ADF1-B6C5EC23151A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D834E7-7FB5-44F4-B4BA-709BF05217C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12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F3DF564-7982-42D7-BB00-5DFEC0475B6A}"/>
              </a:ext>
            </a:extLst>
          </p:cNvPr>
          <p:cNvSpPr>
            <a:spLocks noGrp="1"/>
          </p:cNvSpPr>
          <p:nvPr/>
        </p:nvSpPr>
        <p:spPr>
          <a:xfrm>
            <a:off x="742950" y="1962150"/>
            <a:ext cx="3009900" cy="1028700"/>
          </a:xfrm>
          <a:prstGeom prst="roundRect">
            <a:avLst>
              <a:gd name="adj" fmla="val 7407"/>
            </a:avLst>
          </a:prstGeom>
          <a:solidFill>
            <a:srgbClr val="D8E4DF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正常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验证码 TTL · 登录风控 · 查询缓存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DD16A15A-1384-4984-9768-263BDBED1D22}"/>
              </a:ext>
            </a:extLst>
          </p:cNvPr>
          <p:cNvSpPr>
            <a:spLocks noGrp="1"/>
          </p:cNvSpPr>
          <p:nvPr/>
        </p:nvSpPr>
        <p:spPr>
          <a:xfrm>
            <a:off x="4591050" y="1962150"/>
            <a:ext cx="3200400" cy="1028700"/>
          </a:xfrm>
          <a:prstGeom prst="roundRect">
            <a:avLst>
              <a:gd name="adj" fmla="val 7407"/>
            </a:avLst>
          </a:prstGeom>
          <a:solidFill>
            <a:srgbClr val="F0E6DA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故障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内存验证码 · 内存计数 · 直接查 MySQL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A8D3DB76-D5B6-43BA-88D0-2EDA90692353}"/>
              </a:ext>
            </a:extLst>
          </p:cNvPr>
          <p:cNvSpPr>
            <a:spLocks noGrp="1"/>
          </p:cNvSpPr>
          <p:nvPr/>
        </p:nvSpPr>
        <p:spPr>
          <a:xfrm>
            <a:off x="8629650" y="2152650"/>
            <a:ext cx="2628900" cy="647700"/>
          </a:xfrm>
          <a:prstGeom prst="roundRect">
            <a:avLst>
              <a:gd name="adj" fmla="val 11765"/>
            </a:avLst>
          </a:prstGeom>
          <a:solidFill>
            <a:srgbClr val="F6F2E9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核心登录与查询继续</a:t>
            </a:r>
          </a:p>
        </p:txBody>
      </p:sp>
      <p:cxnSp>
        <p:nvCxnSpPr>
          <p:cNvPr id="172" name="直接箭头连接符 27"/>
          <p:cNvCxnSpPr>
            <a:stCxn id="7" idx="3"/>
            <a:endCxn id="8" idx="1"/>
          </p:cNvCxnSpPr>
          <p:nvPr/>
        </p:nvCxnSpPr>
        <p:spPr>
          <a:xfrm>
            <a:off x="3752850" y="2476500"/>
            <a:ext cx="83820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3" name="直接箭头连接符 28"/>
          <p:cNvCxnSpPr>
            <a:stCxn id="8" idx="3"/>
            <a:endCxn id="9" idx="1"/>
          </p:cNvCxnSpPr>
          <p:nvPr/>
        </p:nvCxnSpPr>
        <p:spPr>
          <a:xfrm>
            <a:off x="7791450" y="2476500"/>
            <a:ext cx="838200" cy="0"/>
          </a:xfrm>
          <a:prstGeom prst="straightConnector1">
            <a:avLst/>
          </a:prstGeom>
          <a:ln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CF06B12-0814-4B6E-B66D-9E75EEC6B0BB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3009900" cy="1028700"/>
          </a:xfrm>
          <a:prstGeom prst="roundRect">
            <a:avLst>
              <a:gd name="adj" fmla="val 7407"/>
            </a:avLst>
          </a:prstGeom>
          <a:solidFill>
            <a:srgbClr val="D8E4DF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正常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预约事件 · 通知异步消费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886131E0-67CE-4565-9AF4-50733BC083F5}"/>
              </a:ext>
            </a:extLst>
          </p:cNvPr>
          <p:cNvSpPr>
            <a:spLocks noGrp="1"/>
          </p:cNvSpPr>
          <p:nvPr/>
        </p:nvSpPr>
        <p:spPr>
          <a:xfrm>
            <a:off x="4591050" y="3752850"/>
            <a:ext cx="3200400" cy="1028700"/>
          </a:xfrm>
          <a:prstGeom prst="roundRect">
            <a:avLst>
              <a:gd name="adj" fmla="val 7407"/>
            </a:avLst>
          </a:prstGeom>
          <a:solidFill>
            <a:srgbClr val="F0E6DA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/ 邮件故障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核心事务完成 · 通知任务补偿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EB0E313D-C208-44D2-8F37-22055FED0926}"/>
              </a:ext>
            </a:extLst>
          </p:cNvPr>
          <p:cNvSpPr>
            <a:spLocks noGrp="1"/>
          </p:cNvSpPr>
          <p:nvPr/>
        </p:nvSpPr>
        <p:spPr>
          <a:xfrm>
            <a:off x="8629650" y="3943350"/>
            <a:ext cx="2628900" cy="647700"/>
          </a:xfrm>
          <a:prstGeom prst="roundRect">
            <a:avLst>
              <a:gd name="adj" fmla="val 11765"/>
            </a:avLst>
          </a:prstGeom>
          <a:solidFill>
            <a:srgbClr val="F6F2E9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借还与预约事务成功</a:t>
            </a:r>
          </a:p>
        </p:txBody>
      </p:sp>
      <p:cxnSp>
        <p:nvCxnSpPr>
          <p:cNvPr id="177" name="直接箭头连接符 32"/>
          <p:cNvCxnSpPr>
            <a:stCxn id="12" idx="3"/>
            <a:endCxn id="13" idx="1"/>
          </p:cNvCxnSpPr>
          <p:nvPr/>
        </p:nvCxnSpPr>
        <p:spPr>
          <a:xfrm>
            <a:off x="3752850" y="4267200"/>
            <a:ext cx="83820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8" name="直接箭头连接符 33"/>
          <p:cNvCxnSpPr>
            <a:stCxn id="13" idx="3"/>
            <a:endCxn id="14" idx="1"/>
          </p:cNvCxnSpPr>
          <p:nvPr/>
        </p:nvCxnSpPr>
        <p:spPr>
          <a:xfrm>
            <a:off x="7791450" y="4267200"/>
            <a:ext cx="838200" cy="0"/>
          </a:xfrm>
          <a:prstGeom prst="straightConnector1">
            <a:avLst/>
          </a:prstGeom>
          <a:ln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295E8129-2A29-4D4E-BD0B-B8947C44FE8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0515600" cy="571500"/>
          </a:xfrm>
          <a:prstGeom prst="roundRect">
            <a:avLst>
              <a:gd name="adj" fmla="val 6667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CA5643-0B10-4D86-B9F2-5C9BBE0BE638}"/>
              </a:ext>
            </a:extLst>
          </p:cNvPr>
          <p:cNvSpPr>
            <a:spLocks noGrp="1"/>
          </p:cNvSpPr>
          <p:nvPr/>
        </p:nvSpPr>
        <p:spPr>
          <a:xfrm>
            <a:off x="1123950" y="5534025"/>
            <a:ext cx="975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原则：消息通知可以晚到，但库存、借阅记录和权限判断不能失真。</a:t>
            </a:r>
          </a:p>
        </p:txBody>
      </p:sp>
    </p:spTree>
    <p:extLst>
      <p:ext uri="{BB962C8B-B14F-4D97-AF65-F5344CB8AC3E}">
        <p14:creationId xmlns:p14="http://schemas.microsoft.com/office/powerpoint/2010/main" val="2003089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FB50D5E-0D47-4E1A-891C-67B1C5A658E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12 · SAFETY</a:t>
            </a:r>
          </a:p>
        </p:txBody>
      </p:sp>
      <p:sp>
        <p:nvSpPr>
          <p:cNvPr id="3" name="slide-13-title">
            <a:extLst>
              <a:ext uri="{FF2B5EF4-FFF2-40B4-BE49-F238E27FC236}">
                <a16:creationId xmlns:a16="http://schemas.microsoft.com/office/drawing/2014/main" id="{4D4222FB-8AA8-4F34-981E-9C7CB5C8B07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安全不是一个登录框，而是一组连续边界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9D89D0-BDDD-46D8-AD0A-3B1305BFBCD8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身份、输入、文件、导出和关键操作都必须能够被追溯。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61989D46-4580-4B2E-A0F8-1764EF7FEA70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A71F356-D77E-4944-841E-AD47A64013D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073675-9259-4D74-B946-E31EBBAC0E2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503A40F-9A01-4D97-BB11-3A5CA655B840}"/>
              </a:ext>
            </a:extLst>
          </p:cNvPr>
          <p:cNvSpPr>
            <a:spLocks noGrp="1"/>
          </p:cNvSpPr>
          <p:nvPr/>
        </p:nvSpPr>
        <p:spPr>
          <a:xfrm>
            <a:off x="762000" y="18288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身份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E4B513-85E8-4BA9-873E-193EFF91F0FB}"/>
              </a:ext>
            </a:extLst>
          </p:cNvPr>
          <p:cNvSpPr>
            <a:spLocks noGrp="1"/>
          </p:cNvSpPr>
          <p:nvPr/>
        </p:nvSpPr>
        <p:spPr>
          <a:xfrm>
            <a:off x="1695450" y="18383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BCrypt · JWT · 数学验证码 · 邮箱验证码用途隔离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5C3C85-6B4B-4D81-B92B-72D0C8037D9F}"/>
              </a:ext>
            </a:extLst>
          </p:cNvPr>
          <p:cNvSpPr>
            <a:spLocks noGrp="1"/>
          </p:cNvSpPr>
          <p:nvPr/>
        </p:nvSpPr>
        <p:spPr>
          <a:xfrm>
            <a:off x="762000" y="26098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48A55"/>
                </a:solidFill>
              </a:defRPr>
            </a:pPr>
            <a:r>
              <a:rPr sz="1500" b="1">
                <a:solidFill>
                  <a:srgbClr val="B48A55"/>
                </a:solidFill>
              </a:rPr>
              <a:t>风控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C99AE67-CAF0-405F-A313-CE8BD9950183}"/>
              </a:ext>
            </a:extLst>
          </p:cNvPr>
          <p:cNvSpPr>
            <a:spLocks noGrp="1"/>
          </p:cNvSpPr>
          <p:nvPr/>
        </p:nvSpPr>
        <p:spPr>
          <a:xfrm>
            <a:off x="1695450" y="261937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连续失败锁定 · 频率限制 · 可信代理显式开启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CE02D-7222-441E-8241-9D82B508ABA5}"/>
              </a:ext>
            </a:extLst>
          </p:cNvPr>
          <p:cNvSpPr>
            <a:spLocks noGrp="1"/>
          </p:cNvSpPr>
          <p:nvPr/>
        </p:nvSpPr>
        <p:spPr>
          <a:xfrm>
            <a:off x="762000" y="33909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CA7BB7-52A6-49EE-91EF-5F7281600E53}"/>
              </a:ext>
            </a:extLst>
          </p:cNvPr>
          <p:cNvSpPr>
            <a:spLocks noGrp="1"/>
          </p:cNvSpPr>
          <p:nvPr/>
        </p:nvSpPr>
        <p:spPr>
          <a:xfrm>
            <a:off x="1695450" y="34004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长度限制 · Jsoup 净化 · 富文本白名单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34964C-EB08-440A-99BF-9EBF9C026712}"/>
              </a:ext>
            </a:extLst>
          </p:cNvPr>
          <p:cNvSpPr>
            <a:spLocks noGrp="1"/>
          </p:cNvSpPr>
          <p:nvPr/>
        </p:nvSpPr>
        <p:spPr>
          <a:xfrm>
            <a:off x="762000" y="41719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8296A8"/>
                </a:solidFill>
              </a:defRPr>
            </a:pPr>
            <a:r>
              <a:rPr sz="1500" b="1">
                <a:solidFill>
                  <a:srgbClr val="8296A8"/>
                </a:solidFill>
              </a:rPr>
              <a:t>文件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FACB23A-0676-4218-A752-D7C119F0DE7F}"/>
              </a:ext>
            </a:extLst>
          </p:cNvPr>
          <p:cNvSpPr>
            <a:spLocks noGrp="1"/>
          </p:cNvSpPr>
          <p:nvPr/>
        </p:nvSpPr>
        <p:spPr>
          <a:xfrm>
            <a:off x="1695450" y="418147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MIME/扩展名校验 · 权限下载 · HTML 强制下载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1DC641-D3F1-45ED-A134-F65C582BEA71}"/>
              </a:ext>
            </a:extLst>
          </p:cNvPr>
          <p:cNvSpPr>
            <a:spLocks noGrp="1"/>
          </p:cNvSpPr>
          <p:nvPr/>
        </p:nvSpPr>
        <p:spPr>
          <a:xfrm>
            <a:off x="762000" y="49530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997AD"/>
                </a:solidFill>
              </a:defRPr>
            </a:pPr>
            <a:r>
              <a:rPr sz="1500" b="1">
                <a:solidFill>
                  <a:srgbClr val="A997AD"/>
                </a:solidFill>
              </a:rPr>
              <a:t>审计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0238901-E7B6-4EE3-BCB9-CAFB84672DD3}"/>
              </a:ext>
            </a:extLst>
          </p:cNvPr>
          <p:cNvSpPr>
            <a:spLocks noGrp="1"/>
          </p:cNvSpPr>
          <p:nvPr/>
        </p:nvSpPr>
        <p:spPr>
          <a:xfrm>
            <a:off x="1695450" y="49625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角色变化 · 内容审核 · 采购物流 · 文件清理留痕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4A9F5D93-9FC0-4C33-844F-13DA4DE82F58}"/>
              </a:ext>
            </a:extLst>
          </p:cNvPr>
          <p:cNvSpPr>
            <a:spLocks noGrp="1"/>
          </p:cNvSpPr>
          <p:nvPr/>
        </p:nvSpPr>
        <p:spPr>
          <a:xfrm>
            <a:off x="6496050" y="1676400"/>
            <a:ext cx="4914900" cy="44005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38" name="图片 3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53200" y="2011442"/>
            <a:ext cx="4800600" cy="3730466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41E843D2-5A5C-4D2B-810F-2C409D73F1A4}"/>
              </a:ext>
            </a:extLst>
          </p:cNvPr>
          <p:cNvSpPr>
            <a:spLocks noGrp="1"/>
          </p:cNvSpPr>
          <p:nvPr/>
        </p:nvSpPr>
        <p:spPr>
          <a:xfrm>
            <a:off x="7124700" y="5753100"/>
            <a:ext cx="3657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B48A55"/>
                </a:solidFill>
              </a:defRPr>
            </a:pPr>
            <a:r>
              <a:rPr sz="1125" b="1">
                <a:solidFill>
                  <a:srgbClr val="B48A55"/>
                </a:solidFill>
              </a:rPr>
              <a:t>动态提示让隐性规则变得可见</a:t>
            </a:r>
          </a:p>
        </p:txBody>
      </p:sp>
    </p:spTree>
    <p:extLst>
      <p:ext uri="{BB962C8B-B14F-4D97-AF65-F5344CB8AC3E}">
        <p14:creationId xmlns:p14="http://schemas.microsoft.com/office/powerpoint/2010/main" val="4171595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5CBA93D-A295-4C92-B73C-70E9AF24135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13 · INTERFACE</a:t>
            </a:r>
          </a:p>
        </p:txBody>
      </p:sp>
      <p:sp>
        <p:nvSpPr>
          <p:cNvPr id="3" name="slide-14-title">
            <a:extLst>
              <a:ext uri="{FF2B5EF4-FFF2-40B4-BE49-F238E27FC236}">
                <a16:creationId xmlns:a16="http://schemas.microsoft.com/office/drawing/2014/main" id="{27D183DB-1AFA-4AAE-90C9-EAC6DA57BFD1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前台有气质，后台有效率，两者不必长得一样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F1C322-3863-4192-841D-68870A39D623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同一套书卷语言，用在不同任务上必须有不同密度。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B0236121-62B6-4AF1-866B-E69016CDE3C9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369FEE-CF78-4EE2-80DD-A150B6BE92C8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FD263D-4CAD-46EE-8948-20E56761FFF4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14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2E2E6B7B-8881-49E7-A1CD-AE20F46F2C74}"/>
              </a:ext>
            </a:extLst>
          </p:cNvPr>
          <p:cNvSpPr>
            <a:spLocks noGrp="1"/>
          </p:cNvSpPr>
          <p:nvPr/>
        </p:nvSpPr>
        <p:spPr>
          <a:xfrm>
            <a:off x="647700" y="1695450"/>
            <a:ext cx="5219700" cy="38481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5" name="图片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4850" y="1752600"/>
            <a:ext cx="5105400" cy="3733800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02F6B33D-AC00-4512-BCE6-D5E9F14082D7}"/>
              </a:ext>
            </a:extLst>
          </p:cNvPr>
          <p:cNvSpPr>
            <a:spLocks noGrp="1"/>
          </p:cNvSpPr>
          <p:nvPr/>
        </p:nvSpPr>
        <p:spPr>
          <a:xfrm>
            <a:off x="6324600" y="1695450"/>
            <a:ext cx="5219700" cy="38481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7" name="图片 2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384977" y="1752600"/>
            <a:ext cx="3098946" cy="37338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A3AD8C2C-308C-46F8-8E8D-CDE01987CC3D}"/>
              </a:ext>
            </a:extLst>
          </p:cNvPr>
          <p:cNvSpPr>
            <a:spLocks noGrp="1"/>
          </p:cNvSpPr>
          <p:nvPr/>
        </p:nvSpPr>
        <p:spPr>
          <a:xfrm>
            <a:off x="781050" y="57721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资料页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866DB6-1548-42FE-8992-52647847B5CF}"/>
              </a:ext>
            </a:extLst>
          </p:cNvPr>
          <p:cNvSpPr>
            <a:spLocks noGrp="1"/>
          </p:cNvSpPr>
          <p:nvPr/>
        </p:nvSpPr>
        <p:spPr>
          <a:xfrm>
            <a:off x="1828800" y="57912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纸面表单、清楚提示、封蜡红保存按钮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B583A-7803-4D5D-976C-1BCB7A831599}"/>
              </a:ext>
            </a:extLst>
          </p:cNvPr>
          <p:cNvSpPr>
            <a:spLocks noGrp="1"/>
          </p:cNvSpPr>
          <p:nvPr/>
        </p:nvSpPr>
        <p:spPr>
          <a:xfrm>
            <a:off x="6477000" y="57721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管理端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3C95CC4-A634-4BB1-8E58-8B98B14DEA48}"/>
              </a:ext>
            </a:extLst>
          </p:cNvPr>
          <p:cNvSpPr>
            <a:spLocks noGrp="1"/>
          </p:cNvSpPr>
          <p:nvPr/>
        </p:nvSpPr>
        <p:spPr>
          <a:xfrm>
            <a:off x="7524750" y="57912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顶部导航、宣纸/竹简主题、清晰表格与图表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8BF29F4-7EF7-4847-9AB7-36ACCD2671A4}"/>
              </a:ext>
            </a:extLst>
          </p:cNvPr>
          <p:cNvSpPr>
            <a:spLocks noGrp="1"/>
          </p:cNvSpPr>
          <p:nvPr/>
        </p:nvSpPr>
        <p:spPr>
          <a:xfrm>
            <a:off x="4857750" y="61912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B48A55"/>
                </a:solidFill>
              </a:defRPr>
            </a:pPr>
            <a:r>
              <a:rPr sz="975" b="1">
                <a:solidFill>
                  <a:srgbClr val="B48A55"/>
                </a:solidFill>
              </a:rPr>
              <a:t>Vite 8 · 116 路由零异常</a:t>
            </a:r>
          </a:p>
        </p:txBody>
      </p:sp>
    </p:spTree>
    <p:extLst>
      <p:ext uri="{BB962C8B-B14F-4D97-AF65-F5344CB8AC3E}">
        <p14:creationId xmlns:p14="http://schemas.microsoft.com/office/powerpoint/2010/main" val="6235175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BDE9199-9BD2-4DC7-9140-EDDFFF22A7B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14 · EVIDENCE</a:t>
            </a:r>
          </a:p>
        </p:txBody>
      </p:sp>
      <p:sp>
        <p:nvSpPr>
          <p:cNvPr id="3" name="slide-15-title">
            <a:extLst>
              <a:ext uri="{FF2B5EF4-FFF2-40B4-BE49-F238E27FC236}">
                <a16:creationId xmlns:a16="http://schemas.microsoft.com/office/drawing/2014/main" id="{E0B666C6-6F1B-4FA2-A136-70801B386AB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功能很多不等于可靠；可靠必须有可重复证据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43F8DE-A6E4-48DE-8EA3-8D9FA9837F7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自动测试、真实 API、并发、浏览器与数据库共同给出证据。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3A5BD1B0-49BA-44B9-8019-FCBDC29E351A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24DE98-A28C-4F0E-B7B3-D0D8BAD617F7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8B9C56-5326-4002-8684-3224F92FD1C8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3EDD833-5658-4D83-B616-ECD4AFAC438D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A74A3C"/>
                </a:solidFill>
              </a:defRPr>
            </a:pPr>
            <a:r>
              <a:rPr sz="4200" b="1">
                <a:solidFill>
                  <a:srgbClr val="A74A3C"/>
                </a:solidFill>
              </a:rPr>
              <a:t>226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D93A42-9E8B-4F2C-817D-ABF08F768A0F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后端测试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61C973-3120-42A9-84DF-4D6E7FE0AF28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5E8074"/>
                </a:solidFill>
              </a:defRPr>
            </a:pPr>
            <a:r>
              <a:rPr sz="4200" b="1">
                <a:solidFill>
                  <a:srgbClr val="5E8074"/>
                </a:solidFill>
              </a:rPr>
              <a:t>31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150D68-E8BB-44C3-9BC5-7828DD23268F}"/>
              </a:ext>
            </a:extLst>
          </p:cNvPr>
          <p:cNvSpPr>
            <a:spLocks noGrp="1"/>
          </p:cNvSpPr>
          <p:nvPr/>
        </p:nvSpPr>
        <p:spPr>
          <a:xfrm>
            <a:off x="34290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前端单元测试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5EC211-B638-4CD6-9BA6-3A6DBC4BA911}"/>
              </a:ext>
            </a:extLst>
          </p:cNvPr>
          <p:cNvSpPr>
            <a:spLocks noGrp="1"/>
          </p:cNvSpPr>
          <p:nvPr/>
        </p:nvSpPr>
        <p:spPr>
          <a:xfrm>
            <a:off x="61341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B48A55"/>
                </a:solidFill>
              </a:defRPr>
            </a:pPr>
            <a:r>
              <a:rPr sz="4200" b="1">
                <a:solidFill>
                  <a:srgbClr val="B48A55"/>
                </a:solidFill>
              </a:rPr>
              <a:t>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FC9EC3-B6FA-4A9E-A359-60B0F4E55901}"/>
              </a:ext>
            </a:extLst>
          </p:cNvPr>
          <p:cNvSpPr>
            <a:spLocks noGrp="1"/>
          </p:cNvSpPr>
          <p:nvPr/>
        </p:nvSpPr>
        <p:spPr>
          <a:xfrm>
            <a:off x="61341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固定 E2E 身份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3F6179-1ED1-4686-8725-37CE37EF4200}"/>
              </a:ext>
            </a:extLst>
          </p:cNvPr>
          <p:cNvSpPr>
            <a:spLocks noGrp="1"/>
          </p:cNvSpPr>
          <p:nvPr/>
        </p:nvSpPr>
        <p:spPr>
          <a:xfrm>
            <a:off x="88392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8896A7"/>
                </a:solidFill>
              </a:defRPr>
            </a:pPr>
            <a:r>
              <a:rPr sz="4200" b="1">
                <a:solidFill>
                  <a:srgbClr val="8896A7"/>
                </a:solidFill>
              </a:rPr>
              <a:t>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B65DA4-3ECD-4BE7-AE01-F6A03B9C01B0}"/>
              </a:ext>
            </a:extLst>
          </p:cNvPr>
          <p:cNvSpPr>
            <a:spLocks noGrp="1"/>
          </p:cNvSpPr>
          <p:nvPr/>
        </p:nvSpPr>
        <p:spPr>
          <a:xfrm>
            <a:off x="88392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当前失败 / 错误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259076FD-87EF-4B02-8D29-F61EFFE76121}"/>
              </a:ext>
            </a:extLst>
          </p:cNvPr>
          <p:cNvSpPr>
            <a:spLocks noGrp="1"/>
          </p:cNvSpPr>
          <p:nvPr/>
        </p:nvSpPr>
        <p:spPr>
          <a:xfrm>
            <a:off x="723900" y="3390900"/>
            <a:ext cx="5086350" cy="2171700"/>
          </a:xfrm>
          <a:prstGeom prst="roundRect">
            <a:avLst>
              <a:gd name="adj" fmla="val 2632"/>
            </a:avLst>
          </a:prstGeom>
          <a:solidFill>
            <a:srgbClr val="0D1310"/>
          </a:solidFill>
          <a:ln w="9525">
            <a:solidFill>
              <a:srgbClr val="3F5047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7414465-F454-4B52-B335-0BDC161BCB8D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已覆盖的关键风险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96DAD3-BC1F-46FB-B0F9-032D3ED2B50F}"/>
              </a:ext>
            </a:extLst>
          </p:cNvPr>
          <p:cNvSpPr>
            <a:spLocks noGrp="1"/>
          </p:cNvSpPr>
          <p:nvPr/>
        </p:nvSpPr>
        <p:spPr>
          <a:xfrm>
            <a:off x="990600" y="4095750"/>
            <a:ext cx="43243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库存为 1 的并发抢借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六身份权限绕过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文件类型与下载权限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预约、续借、罚款和重复入库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输入净化、导出字段与审计日志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38FF9071-CD9D-41EB-80B2-50E932FFC684}"/>
              </a:ext>
            </a:extLst>
          </p:cNvPr>
          <p:cNvSpPr>
            <a:spLocks noGrp="1"/>
          </p:cNvSpPr>
          <p:nvPr/>
        </p:nvSpPr>
        <p:spPr>
          <a:xfrm>
            <a:off x="6229350" y="3390900"/>
            <a:ext cx="5048250" cy="2171700"/>
          </a:xfrm>
          <a:prstGeom prst="roundRect">
            <a:avLst>
              <a:gd name="adj" fmla="val 2632"/>
            </a:avLst>
          </a:prstGeom>
          <a:solidFill>
            <a:srgbClr val="202E27"/>
          </a:solidFill>
          <a:ln w="9525">
            <a:solidFill>
              <a:srgbClr val="4B5B53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67B9646-F1F0-4DD6-BCD0-C0F9A9A46FBE}"/>
              </a:ext>
            </a:extLst>
          </p:cNvPr>
          <p:cNvSpPr>
            <a:spLocks noGrp="1"/>
          </p:cNvSpPr>
          <p:nvPr/>
        </p:nvSpPr>
        <p:spPr>
          <a:xfrm>
            <a:off x="6515100" y="3638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真实环境还验证了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7F077B-6237-427F-B88C-E030518F8A8B}"/>
              </a:ext>
            </a:extLst>
          </p:cNvPr>
          <p:cNvSpPr>
            <a:spLocks noGrp="1"/>
          </p:cNvSpPr>
          <p:nvPr/>
        </p:nvSpPr>
        <p:spPr>
          <a:xfrm>
            <a:off x="6515100" y="4095750"/>
            <a:ext cx="42862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Redis TTL、故障恢复与队列消费通过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六身份完成 78 次真实 API 响应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三实例：96 / 128 / 160 三批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1,986 请求 / 最大 P95 461 ms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116 路由 / 396 API / 浏览器异常为 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60F6F1-A7FF-4222-A4E1-4A948335CE7B}"/>
              </a:ext>
            </a:extLst>
          </p:cNvPr>
          <p:cNvSpPr>
            <a:spLocks noGrp="1"/>
          </p:cNvSpPr>
          <p:nvPr/>
        </p:nvSpPr>
        <p:spPr>
          <a:xfrm>
            <a:off x="8820150" y="592455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0">
                <a:solidFill>
                  <a:srgbClr val="6E7B74"/>
                </a:solidFill>
              </a:defRPr>
            </a:pPr>
            <a:r>
              <a:rPr sz="825" b="0">
                <a:solidFill>
                  <a:srgbClr val="6E7B74"/>
                </a:solidFill>
              </a:rPr>
              <a:t>验证日期：2026-07-27</a:t>
            </a:r>
          </a:p>
        </p:txBody>
      </p:sp>
    </p:spTree>
    <p:extLst>
      <p:ext uri="{BB962C8B-B14F-4D97-AF65-F5344CB8AC3E}">
        <p14:creationId xmlns:p14="http://schemas.microsoft.com/office/powerpoint/2010/main" val="19512134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511BA75-F778-46C4-92FF-F51BCE5BD17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15 · DELIVERY</a:t>
            </a:r>
          </a:p>
        </p:txBody>
      </p:sp>
      <p:sp>
        <p:nvSpPr>
          <p:cNvPr id="3" name="slide-16-title">
            <a:extLst>
              <a:ext uri="{FF2B5EF4-FFF2-40B4-BE49-F238E27FC236}">
                <a16:creationId xmlns:a16="http://schemas.microsoft.com/office/drawing/2014/main" id="{D93F7559-BCC2-4120-865F-6BEB09E61B5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一个新手也能在四步内把系统跑起来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17646B-E383-4A52-AE0D-6ECA1550F31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SQL 只有一个入口，中间件默认关闭，先跑通核心功能再启用增强。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9C9BB58D-7AAA-45F4-B081-DFEAE627EF95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E0EC18-61C8-4994-8024-FAC1575F9D7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AE7B6-4E37-4A12-A507-57631880F38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16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27435937-EE20-4DD0-9882-5C9E0A7A1C6A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F9F6EF"/>
          </a:solidFill>
          <a:ln w="9525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A71342-8743-4675-87EB-177F0A1305EA}"/>
              </a:ext>
            </a:extLst>
          </p:cNvPr>
          <p:cNvSpPr>
            <a:spLocks noGrp="1"/>
          </p:cNvSpPr>
          <p:nvPr/>
        </p:nvSpPr>
        <p:spPr>
          <a:xfrm>
            <a:off x="9334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01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0E028C7-87DB-41C1-BA37-58572B82EC9D}"/>
              </a:ext>
            </a:extLst>
          </p:cNvPr>
          <p:cNvSpPr>
            <a:spLocks noGrp="1"/>
          </p:cNvSpPr>
          <p:nvPr/>
        </p:nvSpPr>
        <p:spPr>
          <a:xfrm>
            <a:off x="9334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初始化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DCCDB9-C492-410D-B9E4-F4A357BE88A8}"/>
              </a:ext>
            </a:extLst>
          </p:cNvPr>
          <p:cNvSpPr>
            <a:spLocks noGrp="1"/>
          </p:cNvSpPr>
          <p:nvPr/>
        </p:nvSpPr>
        <p:spPr>
          <a:xfrm>
            <a:off x="9334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执行 sql/init-dark-room-library.sql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F24CC804-216C-4994-ADD0-FE5B931CB709}"/>
              </a:ext>
            </a:extLst>
          </p:cNvPr>
          <p:cNvSpPr>
            <a:spLocks noGrp="1"/>
          </p:cNvSpPr>
          <p:nvPr/>
        </p:nvSpPr>
        <p:spPr>
          <a:xfrm>
            <a:off x="34290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E6E0D3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AF24671-7066-43C7-B7F0-6B16784A9CA5}"/>
              </a:ext>
            </a:extLst>
          </p:cNvPr>
          <p:cNvSpPr>
            <a:spLocks noGrp="1"/>
          </p:cNvSpPr>
          <p:nvPr/>
        </p:nvSpPr>
        <p:spPr>
          <a:xfrm>
            <a:off x="36385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70AEB3-3773-472F-AF26-EB9F6A5F2690}"/>
              </a:ext>
            </a:extLst>
          </p:cNvPr>
          <p:cNvSpPr>
            <a:spLocks noGrp="1"/>
          </p:cNvSpPr>
          <p:nvPr/>
        </p:nvSpPr>
        <p:spPr>
          <a:xfrm>
            <a:off x="36385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启动后端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1CAF7E-CD89-464C-B66D-9581778CF21B}"/>
              </a:ext>
            </a:extLst>
          </p:cNvPr>
          <p:cNvSpPr>
            <a:spLocks noGrp="1"/>
          </p:cNvSpPr>
          <p:nvPr/>
        </p:nvSpPr>
        <p:spPr>
          <a:xfrm>
            <a:off x="36385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mvn spring-boot:run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57E339AF-F764-4045-A5AB-93B205244C15}"/>
              </a:ext>
            </a:extLst>
          </p:cNvPr>
          <p:cNvSpPr>
            <a:spLocks noGrp="1"/>
          </p:cNvSpPr>
          <p:nvPr/>
        </p:nvSpPr>
        <p:spPr>
          <a:xfrm>
            <a:off x="61341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F9F6EF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104C6C8-4A2A-492E-9DCA-7D5FF42F00E8}"/>
              </a:ext>
            </a:extLst>
          </p:cNvPr>
          <p:cNvSpPr>
            <a:spLocks noGrp="1"/>
          </p:cNvSpPr>
          <p:nvPr/>
        </p:nvSpPr>
        <p:spPr>
          <a:xfrm>
            <a:off x="63436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AE8705-8D63-4599-82D3-C017A3478CB4}"/>
              </a:ext>
            </a:extLst>
          </p:cNvPr>
          <p:cNvSpPr>
            <a:spLocks noGrp="1"/>
          </p:cNvSpPr>
          <p:nvPr/>
        </p:nvSpPr>
        <p:spPr>
          <a:xfrm>
            <a:off x="63436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启动前端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0E293-F7D9-4301-B723-6FAD41371C16}"/>
              </a:ext>
            </a:extLst>
          </p:cNvPr>
          <p:cNvSpPr>
            <a:spLocks noGrp="1"/>
          </p:cNvSpPr>
          <p:nvPr/>
        </p:nvSpPr>
        <p:spPr>
          <a:xfrm>
            <a:off x="63436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npm ci  /  npm run dev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CCBED471-DAB3-42D1-A96E-0BC607D64B05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E6E0D3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F78566A-2553-4ACC-B247-11D460D73287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FB70DCB-7B3E-4382-A2BF-36BD2B3FAF3A}"/>
              </a:ext>
            </a:extLst>
          </p:cNvPr>
          <p:cNvSpPr>
            <a:spLocks noGrp="1"/>
          </p:cNvSpPr>
          <p:nvPr/>
        </p:nvSpPr>
        <p:spPr>
          <a:xfrm>
            <a:off x="90487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打开浏览器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263418-AD41-4E52-95C0-F67856BFE46D}"/>
              </a:ext>
            </a:extLst>
          </p:cNvPr>
          <p:cNvSpPr>
            <a:spLocks noGrp="1"/>
          </p:cNvSpPr>
          <p:nvPr/>
        </p:nvSpPr>
        <p:spPr>
          <a:xfrm>
            <a:off x="90487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http://localhost:5175</a:t>
            </a:r>
          </a:p>
        </p:txBody>
      </p:sp>
      <p:cxnSp>
        <p:nvCxnSpPr>
          <p:cNvPr id="276" name="直接箭头连接符 50"/>
          <p:cNvCxnSpPr>
            <a:stCxn id="7" idx="3"/>
            <a:endCxn id="11" idx="1"/>
          </p:cNvCxnSpPr>
          <p:nvPr/>
        </p:nvCxnSpPr>
        <p:spPr>
          <a:xfrm>
            <a:off x="29337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1" idx="3"/>
            <a:endCxn id="15" idx="1"/>
          </p:cNvCxnSpPr>
          <p:nvPr/>
        </p:nvCxnSpPr>
        <p:spPr>
          <a:xfrm>
            <a:off x="56388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5" idx="3"/>
            <a:endCxn id="19" idx="1"/>
          </p:cNvCxnSpPr>
          <p:nvPr/>
        </p:nvCxnSpPr>
        <p:spPr>
          <a:xfrm>
            <a:off x="83439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A26EF04-526E-4AE6-AF3C-84A9927777EE}"/>
              </a:ext>
            </a:extLst>
          </p:cNvPr>
          <p:cNvSpPr>
            <a:spLocks noGrp="1"/>
          </p:cNvSpPr>
          <p:nvPr/>
        </p:nvSpPr>
        <p:spPr>
          <a:xfrm>
            <a:off x="723900" y="4705350"/>
            <a:ext cx="10477500" cy="1066800"/>
          </a:xfrm>
          <a:prstGeom prst="roundRect">
            <a:avLst>
              <a:gd name="adj" fmla="val 4464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5F32353-6695-4DF0-B8BC-C87E843C12C9}"/>
              </a:ext>
            </a:extLst>
          </p:cNvPr>
          <p:cNvSpPr>
            <a:spLocks noGrp="1"/>
          </p:cNvSpPr>
          <p:nvPr/>
        </p:nvSpPr>
        <p:spPr>
          <a:xfrm>
            <a:off x="1009650" y="493395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演示账号由初始化 SQL 写入，仅用于本地验收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161739-F796-4985-9D27-C43C1478EDAD}"/>
              </a:ext>
            </a:extLst>
          </p:cNvPr>
          <p:cNvSpPr>
            <a:spLocks noGrp="1"/>
          </p:cNvSpPr>
          <p:nvPr/>
        </p:nvSpPr>
        <p:spPr>
          <a:xfrm>
            <a:off x="1009650" y="53149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统一密码见 README；公网部署前删除或改密，中间件按需启用。</a:t>
            </a:r>
          </a:p>
        </p:txBody>
      </p:sp>
    </p:spTree>
    <p:extLst>
      <p:ext uri="{BB962C8B-B14F-4D97-AF65-F5344CB8AC3E}">
        <p14:creationId xmlns:p14="http://schemas.microsoft.com/office/powerpoint/2010/main" val="17327780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976000-7318-4459-96C4-812F17EAFC6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16 · ENGINEERING JUDGMENT</a:t>
            </a:r>
          </a:p>
        </p:txBody>
      </p:sp>
      <p:sp>
        <p:nvSpPr>
          <p:cNvPr id="3" name="slide-17-title">
            <a:extLst>
              <a:ext uri="{FF2B5EF4-FFF2-40B4-BE49-F238E27FC236}">
                <a16:creationId xmlns:a16="http://schemas.microsoft.com/office/drawing/2014/main" id="{96E20656-59DC-418D-A2EF-060A03D4034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有意识地统一边界，才让项目保持可维护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90EC38-B6BA-4061-8416-DBF12FEA12E8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技术选择、版本与公开说明都必须服从可验证事实。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402E65-F78D-46B6-A222-9A2869C8918E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96E56-ED65-4B5B-8903-EE781FC31707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572011-43E9-4741-9FD1-D7B5CA3FF43B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BC2241-8219-4555-8D3F-A65139E769DA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不保留 Vue 2 双轨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CBF9ED-E82A-4EDA-97B1-0EC798AC0E74}"/>
              </a:ext>
            </a:extLst>
          </p:cNvPr>
          <p:cNvSpPr>
            <a:spLocks noGrp="1"/>
          </p:cNvSpPr>
          <p:nvPr/>
        </p:nvSpPr>
        <p:spPr>
          <a:xfrm>
            <a:off x="3486150" y="18192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前端统一到 Vue 3 + Vite，避免两套脚手架长期并存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8E19BD7-9FAB-42D6-9EFC-7D24503558DC}"/>
              </a:ext>
            </a:extLst>
          </p:cNvPr>
          <p:cNvSpPr>
            <a:spLocks noGrp="1"/>
          </p:cNvSpPr>
          <p:nvPr/>
        </p:nvSpPr>
        <p:spPr>
          <a:xfrm>
            <a:off x="781050" y="23431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ACD035-A970-404C-81CE-344ADA9FCF77}"/>
              </a:ext>
            </a:extLst>
          </p:cNvPr>
          <p:cNvSpPr>
            <a:spLocks noGrp="1"/>
          </p:cNvSpPr>
          <p:nvPr/>
        </p:nvSpPr>
        <p:spPr>
          <a:xfrm>
            <a:off x="781050" y="26479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48A55"/>
                </a:solidFill>
              </a:defRPr>
            </a:pPr>
            <a:r>
              <a:rPr sz="1575" b="1">
                <a:solidFill>
                  <a:srgbClr val="B48A55"/>
                </a:solidFill>
              </a:rPr>
              <a:t>不伪造 Git 历史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2EDFB0-6135-4A4D-89B0-9CE784ACDACE}"/>
              </a:ext>
            </a:extLst>
          </p:cNvPr>
          <p:cNvSpPr>
            <a:spLocks noGrp="1"/>
          </p:cNvSpPr>
          <p:nvPr/>
        </p:nvSpPr>
        <p:spPr>
          <a:xfrm>
            <a:off x="3486150" y="26574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Git 中途加入，首次提交只代表审查后的公开基线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6593C2DC-26E6-49AB-80E9-B4DBAC7442F7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83CB24-9AAB-42EC-9D0D-485002C0DAE3}"/>
              </a:ext>
            </a:extLst>
          </p:cNvPr>
          <p:cNvSpPr>
            <a:spLocks noGrp="1"/>
          </p:cNvSpPr>
          <p:nvPr/>
        </p:nvSpPr>
        <p:spPr>
          <a:xfrm>
            <a:off x="781050" y="34861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5E8074"/>
                </a:solidFill>
              </a:defRPr>
            </a:pPr>
            <a:r>
              <a:rPr sz="1575" b="1">
                <a:solidFill>
                  <a:srgbClr val="5E8074"/>
                </a:solidFill>
              </a:rPr>
              <a:t>不引入 TCC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1E358DC-CC68-4AAB-988C-D83E2E8FDD26}"/>
              </a:ext>
            </a:extLst>
          </p:cNvPr>
          <p:cNvSpPr>
            <a:spLocks noGrp="1"/>
          </p:cNvSpPr>
          <p:nvPr/>
        </p:nvSpPr>
        <p:spPr>
          <a:xfrm>
            <a:off x="3486150" y="34956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当前事务边界在单库内，补偿复杂度没有收益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93EF9373-3696-4482-937E-07CDBAFC6584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530AD72-9371-44ED-9258-7F2FC6CBE369}"/>
              </a:ext>
            </a:extLst>
          </p:cNvPr>
          <p:cNvSpPr>
            <a:spLocks noGrp="1"/>
          </p:cNvSpPr>
          <p:nvPr/>
        </p:nvSpPr>
        <p:spPr>
          <a:xfrm>
            <a:off x="781050" y="43243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8CA0B0"/>
                </a:solidFill>
              </a:defRPr>
            </a:pPr>
            <a:r>
              <a:rPr sz="1575" b="1">
                <a:solidFill>
                  <a:srgbClr val="8CA0B0"/>
                </a:solidFill>
              </a:rPr>
              <a:t>不强上 Elasticsearch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09DC7B-C423-4799-A152-57C468D2D15F}"/>
              </a:ext>
            </a:extLst>
          </p:cNvPr>
          <p:cNvSpPr>
            <a:spLocks noGrp="1"/>
          </p:cNvSpPr>
          <p:nvPr/>
        </p:nvSpPr>
        <p:spPr>
          <a:xfrm>
            <a:off x="3486150" y="43338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现有数据规模用 MySQL 检索足够，先保留演进空间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DE6AB9B-313C-4938-ADC9-4A53BE54CB9D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05058B-CA93-4F59-816C-1548DFAB95BF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E9CB4"/>
                </a:solidFill>
              </a:defRPr>
            </a:pPr>
            <a:r>
              <a:rPr sz="1575" b="1">
                <a:solidFill>
                  <a:srgbClr val="AE9CB4"/>
                </a:solidFill>
              </a:rPr>
              <a:t>大模型不直写数据库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DA181EC-4D2C-43F6-A8EF-4DEED3FFCBF5}"/>
              </a:ext>
            </a:extLst>
          </p:cNvPr>
          <p:cNvSpPr>
            <a:spLocks noGrp="1"/>
          </p:cNvSpPr>
          <p:nvPr/>
        </p:nvSpPr>
        <p:spPr>
          <a:xfrm>
            <a:off x="3486150" y="51720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未来可做只读馆员助手，核心业务仍由确定性规则控制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7D0DC997-27B8-4C70-A994-A57626E935FA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DA025B5C-ED0D-428E-8B07-89E93AC83DAA}"/>
              </a:ext>
            </a:extLst>
          </p:cNvPr>
          <p:cNvSpPr>
            <a:spLocks noGrp="1"/>
          </p:cNvSpPr>
          <p:nvPr/>
        </p:nvSpPr>
        <p:spPr>
          <a:xfrm>
            <a:off x="781050" y="5810250"/>
            <a:ext cx="10325100" cy="342900"/>
          </a:xfrm>
          <a:prstGeom prst="roundRect">
            <a:avLst>
              <a:gd name="adj" fmla="val 8333"/>
            </a:avLst>
          </a:prstGeom>
          <a:solidFill>
            <a:srgbClr val="202E27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256ED3-95D1-42D3-A2CD-DDC9E4651568}"/>
              </a:ext>
            </a:extLst>
          </p:cNvPr>
          <p:cNvSpPr>
            <a:spLocks noGrp="1"/>
          </p:cNvSpPr>
          <p:nvPr/>
        </p:nvSpPr>
        <p:spPr>
          <a:xfrm>
            <a:off x="1143000" y="5886450"/>
            <a:ext cx="960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7F3EA"/>
                </a:solidFill>
              </a:defRPr>
            </a:pPr>
            <a:r>
              <a:rPr sz="1125" b="1">
                <a:solidFill>
                  <a:srgbClr val="F7F3EA"/>
                </a:solidFill>
              </a:rPr>
              <a:t>复杂度和叙事都必须服从可验证的事实。</a:t>
            </a:r>
          </a:p>
        </p:txBody>
      </p:sp>
    </p:spTree>
    <p:extLst>
      <p:ext uri="{BB962C8B-B14F-4D97-AF65-F5344CB8AC3E}">
        <p14:creationId xmlns:p14="http://schemas.microsoft.com/office/powerpoint/2010/main" val="12604111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7BE3BAD-8569-487E-91A6-ADB90E926C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A74A3C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08B63F-EAA2-4A87-824F-91908851389C}"/>
              </a:ext>
            </a:extLst>
          </p:cNvPr>
          <p:cNvSpPr>
            <a:spLocks noGrp="1"/>
          </p:cNvSpPr>
          <p:nvPr/>
        </p:nvSpPr>
        <p:spPr>
          <a:xfrm>
            <a:off x="781050" y="78105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B48A55"/>
                </a:solidFill>
              </a:defRPr>
            </a:pPr>
            <a:r>
              <a:rPr sz="3150" b="1">
                <a:solidFill>
                  <a:srgbClr val="B48A55"/>
                </a:solidFill>
              </a:rPr>
              <a:t>暗室藏书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62E19D-D4FD-496D-9B6A-20AF42C5DDF6}"/>
              </a:ext>
            </a:extLst>
          </p:cNvPr>
          <p:cNvSpPr>
            <a:spLocks noGrp="1"/>
          </p:cNvSpPr>
          <p:nvPr/>
        </p:nvSpPr>
        <p:spPr>
          <a:xfrm>
            <a:off x="781050" y="19431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项目的价值，不是功能多，</a:t>
            </a:r>
          </a:p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而是每条链路都有开始、有结果、有证据。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755A24F-1D08-43C2-B46C-9A86C8E8E495}"/>
              </a:ext>
            </a:extLst>
          </p:cNvPr>
          <p:cNvSpPr>
            <a:spLocks noGrp="1"/>
          </p:cNvSpPr>
          <p:nvPr/>
        </p:nvSpPr>
        <p:spPr>
          <a:xfrm>
            <a:off x="800100" y="3714750"/>
            <a:ext cx="6096000" cy="0"/>
          </a:xfrm>
          <a:prstGeom prst="line">
            <a:avLst/>
          </a:prstGeom>
          <a:noFill/>
          <a:ln w="19050">
            <a:solidFill>
              <a:srgbClr val="53635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4C0274-9B28-4723-89CF-A584E1AA6E71}"/>
              </a:ext>
            </a:extLst>
          </p:cNvPr>
          <p:cNvSpPr>
            <a:spLocks noGrp="1"/>
          </p:cNvSpPr>
          <p:nvPr/>
        </p:nvSpPr>
        <p:spPr>
          <a:xfrm>
            <a:off x="781050" y="41148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业务闭环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C74EA70-39EB-4FB9-8669-85119C265157}"/>
              </a:ext>
            </a:extLst>
          </p:cNvPr>
          <p:cNvSpPr>
            <a:spLocks noGrp="1"/>
          </p:cNvSpPr>
          <p:nvPr/>
        </p:nvSpPr>
        <p:spPr>
          <a:xfrm>
            <a:off x="266700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5E8074"/>
                </a:solidFill>
              </a:defRPr>
            </a:pPr>
            <a:r>
              <a:rPr sz="1725" b="1">
                <a:solidFill>
                  <a:srgbClr val="5E8074"/>
                </a:solidFill>
              </a:rPr>
              <a:t>可降级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EB1699-24A9-4C75-9E99-975058B72F0D}"/>
              </a:ext>
            </a:extLst>
          </p:cNvPr>
          <p:cNvSpPr>
            <a:spLocks noGrp="1"/>
          </p:cNvSpPr>
          <p:nvPr/>
        </p:nvSpPr>
        <p:spPr>
          <a:xfrm>
            <a:off x="447675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B48A55"/>
                </a:solidFill>
              </a:defRPr>
            </a:pPr>
            <a:r>
              <a:rPr sz="1725" b="1">
                <a:solidFill>
                  <a:srgbClr val="B48A55"/>
                </a:solidFill>
              </a:rPr>
              <a:t>可验证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3DD664-220D-410B-9F25-529655774F1D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9AA8B8"/>
                </a:solidFill>
              </a:defRPr>
            </a:pPr>
            <a:r>
              <a:rPr sz="1725" b="1">
                <a:solidFill>
                  <a:srgbClr val="9AA8B8"/>
                </a:solidFill>
              </a:rPr>
              <a:t>可交付</a:t>
            </a: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CE0E04-8195-48C6-857C-B8455BBA05AA}"/>
              </a:ext>
            </a:extLst>
          </p:cNvPr>
          <p:cNvSpPr>
            <a:spLocks noGrp="1"/>
          </p:cNvSpPr>
          <p:nvPr/>
        </p:nvSpPr>
        <p:spPr>
          <a:xfrm>
            <a:off x="9525000" y="1790700"/>
            <a:ext cx="1428750" cy="1428750"/>
          </a:xfrm>
          <a:prstGeom prst="ellipse">
            <a:avLst/>
          </a:prstGeom>
          <a:noFill/>
          <a:ln w="38100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DRL</a:t>
            </a:r>
          </a:p>
          <a:p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7F46EAB-0AE3-4BCD-AAE7-F9B513E53B0F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B8C1BA"/>
                </a:solidFill>
              </a:defRPr>
            </a:pPr>
            <a:r>
              <a:rPr sz="1500" b="0">
                <a:solidFill>
                  <a:srgbClr val="B8C1BA"/>
                </a:solidFill>
              </a:rPr>
              <a:t>一套能运行、能解释、能维护，也诚实说明来路的系统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EDF7D9-A938-4827-89F4-9962863B079F}"/>
              </a:ext>
            </a:extLst>
          </p:cNvPr>
          <p:cNvSpPr>
            <a:spLocks noGrp="1"/>
          </p:cNvSpPr>
          <p:nvPr/>
        </p:nvSpPr>
        <p:spPr>
          <a:xfrm>
            <a:off x="781050" y="59436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68756E"/>
                </a:solidFill>
              </a:defRPr>
            </a:pPr>
            <a:r>
              <a:rPr sz="975" b="0">
                <a:solidFill>
                  <a:srgbClr val="68756E"/>
                </a:solidFill>
              </a:rPr>
              <a:t>DarkRoomLibrary · 2026</a:t>
            </a:r>
          </a:p>
        </p:txBody>
      </p:sp>
    </p:spTree>
    <p:extLst>
      <p:ext uri="{BB962C8B-B14F-4D97-AF65-F5344CB8AC3E}">
        <p14:creationId xmlns:p14="http://schemas.microsoft.com/office/powerpoint/2010/main" val="15359434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1782</Words>
  <Application>Microsoft Office PowerPoint</Application>
  <DocSecurity>0</DocSecurity>
  <PresentationFormat>宽屏</PresentationFormat>
  <Paragraphs>389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0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药 药</cp:lastModifiedBy>
  <cp:revision>1</cp:revision>
  <dcterms:created xsi:type="dcterms:W3CDTF">2026-07-27T13:49:19Z</dcterms:created>
  <dcterms:modified xsi:type="dcterms:W3CDTF">2026-07-27T13:50:04Z</dcterms:modified>
</cp:coreProperties>
</file>