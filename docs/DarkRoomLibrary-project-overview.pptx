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a83f44a5b24803" /><Relationship Type="http://schemas.openxmlformats.org/officeDocument/2006/relationships/extended-properties" Target="/docProps/app.xml" Id="R14fe79c65fbb4cec" /><Relationship Type="http://schemas.openxmlformats.org/officeDocument/2006/relationships/officeDocument" Target="/ppt/presentation.xml" Id="R609f7cc029ce48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8b4eecb4614e59"/>
  </p:sldMasterIdLst>
  <p:notesMasterIdLst>
    <p:notesMasterId xmlns:r="http://schemas.openxmlformats.org/officeDocument/2006/relationships" r:id="Re33cbc65be6644c1"/>
  </p:notesMasterIdLst>
  <p:sldIdLst>
    <p:sldId xmlns:r="http://schemas.openxmlformats.org/officeDocument/2006/relationships" id="256" r:id="Ra6974b2d5a404f60"/>
    <p:sldId xmlns:r="http://schemas.openxmlformats.org/officeDocument/2006/relationships" id="257" r:id="Rc8b2ab230b694f0d"/>
    <p:sldId xmlns:r="http://schemas.openxmlformats.org/officeDocument/2006/relationships" id="258" r:id="R03c9be9f82314fe2"/>
    <p:sldId xmlns:r="http://schemas.openxmlformats.org/officeDocument/2006/relationships" id="259" r:id="R32ad9a681d9440d9"/>
    <p:sldId xmlns:r="http://schemas.openxmlformats.org/officeDocument/2006/relationships" id="260" r:id="Rb577e3b66feb45d0"/>
    <p:sldId xmlns:r="http://schemas.openxmlformats.org/officeDocument/2006/relationships" id="261" r:id="R1c98851f80f84261"/>
    <p:sldId xmlns:r="http://schemas.openxmlformats.org/officeDocument/2006/relationships" id="262" r:id="R3ea01925897f4370"/>
    <p:sldId xmlns:r="http://schemas.openxmlformats.org/officeDocument/2006/relationships" id="263" r:id="R4db5dc3025fe464e"/>
    <p:sldId xmlns:r="http://schemas.openxmlformats.org/officeDocument/2006/relationships" id="264" r:id="R3ba8d371beff4f24"/>
    <p:sldId xmlns:r="http://schemas.openxmlformats.org/officeDocument/2006/relationships" id="265" r:id="R9d177c345f754cc7"/>
    <p:sldId xmlns:r="http://schemas.openxmlformats.org/officeDocument/2006/relationships" id="266" r:id="Rc0203672b2d6496a"/>
    <p:sldId xmlns:r="http://schemas.openxmlformats.org/officeDocument/2006/relationships" id="267" r:id="Rfa7a248f507745f1"/>
    <p:sldId xmlns:r="http://schemas.openxmlformats.org/officeDocument/2006/relationships" id="268" r:id="Rb1195a38199242e5"/>
    <p:sldId xmlns:r="http://schemas.openxmlformats.org/officeDocument/2006/relationships" id="269" r:id="Rced829845c4f40d1"/>
    <p:sldId xmlns:r="http://schemas.openxmlformats.org/officeDocument/2006/relationships" id="270" r:id="Rcc7d74ffabe849c8"/>
    <p:sldId xmlns:r="http://schemas.openxmlformats.org/officeDocument/2006/relationships" id="271" r:id="Rc422d9f8b61c4e5b"/>
    <p:sldId xmlns:r="http://schemas.openxmlformats.org/officeDocument/2006/relationships" id="272" r:id="R7d9698f982cd4f7e"/>
    <p:sldId xmlns:r="http://schemas.openxmlformats.org/officeDocument/2006/relationships" id="273" r:id="R641c09c9fe3e4f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4b68b6a9d14f03" /><Relationship Type="http://schemas.openxmlformats.org/officeDocument/2006/relationships/slideMaster" Target="/ppt/slideMasters/slideMaster1.xml" Id="R7c8b4eecb4614e59" /><Relationship Type="http://schemas.openxmlformats.org/officeDocument/2006/relationships/notesMaster" Target="/ppt/notesMasters/notesMaster1.xml" Id="Re33cbc65be6644c1" /><Relationship Type="http://schemas.openxmlformats.org/officeDocument/2006/relationships/presProps" Target="/ppt/presProps.xml" Id="R15638e2f3f66413d" /><Relationship Type="http://schemas.openxmlformats.org/officeDocument/2006/relationships/viewProps" Target="/ppt/viewProps.xml" Id="R65b995efba9e46f8" /><Relationship Type="http://schemas.openxmlformats.org/officeDocument/2006/relationships/tableStyles" Target="/ppt/tableStyles.xml" Id="R7c61cc1091104463" /><Relationship Type="http://schemas.openxmlformats.org/officeDocument/2006/relationships/slide" Target="/ppt/slides/slide1.xml" Id="Ra6974b2d5a404f60" /><Relationship Type="http://schemas.openxmlformats.org/officeDocument/2006/relationships/slide" Target="/ppt/slides/slide2.xml" Id="Rc8b2ab230b694f0d" /><Relationship Type="http://schemas.openxmlformats.org/officeDocument/2006/relationships/slide" Target="/ppt/slides/slide3.xml" Id="R03c9be9f82314fe2" /><Relationship Type="http://schemas.openxmlformats.org/officeDocument/2006/relationships/slide" Target="/ppt/slides/slide4.xml" Id="R32ad9a681d9440d9" /><Relationship Type="http://schemas.openxmlformats.org/officeDocument/2006/relationships/slide" Target="/ppt/slides/slide5.xml" Id="Rb577e3b66feb45d0" /><Relationship Type="http://schemas.openxmlformats.org/officeDocument/2006/relationships/slide" Target="/ppt/slides/slide6.xml" Id="R1c98851f80f84261" /><Relationship Type="http://schemas.openxmlformats.org/officeDocument/2006/relationships/slide" Target="/ppt/slides/slide7.xml" Id="R3ea01925897f4370" /><Relationship Type="http://schemas.openxmlformats.org/officeDocument/2006/relationships/slide" Target="/ppt/slides/slide8.xml" Id="R4db5dc3025fe464e" /><Relationship Type="http://schemas.openxmlformats.org/officeDocument/2006/relationships/slide" Target="/ppt/slides/slide9.xml" Id="R3ba8d371beff4f24" /><Relationship Type="http://schemas.openxmlformats.org/officeDocument/2006/relationships/slide" Target="/ppt/slides/slide10.xml" Id="R9d177c345f754cc7" /><Relationship Type="http://schemas.openxmlformats.org/officeDocument/2006/relationships/slide" Target="/ppt/slides/slide11.xml" Id="Rc0203672b2d6496a" /><Relationship Type="http://schemas.openxmlformats.org/officeDocument/2006/relationships/slide" Target="/ppt/slides/slide12.xml" Id="Rfa7a248f507745f1" /><Relationship Type="http://schemas.openxmlformats.org/officeDocument/2006/relationships/slide" Target="/ppt/slides/slide13.xml" Id="Rb1195a38199242e5" /><Relationship Type="http://schemas.openxmlformats.org/officeDocument/2006/relationships/slide" Target="/ppt/slides/slide14.xml" Id="Rced829845c4f40d1" /><Relationship Type="http://schemas.openxmlformats.org/officeDocument/2006/relationships/slide" Target="/ppt/slides/slide15.xml" Id="Rcc7d74ffabe849c8" /><Relationship Type="http://schemas.openxmlformats.org/officeDocument/2006/relationships/slide" Target="/ppt/slides/slide16.xml" Id="Rc422d9f8b61c4e5b" /><Relationship Type="http://schemas.openxmlformats.org/officeDocument/2006/relationships/slide" Target="/ppt/slides/slide17.xml" Id="R7d9698f982cd4f7e" /><Relationship Type="http://schemas.openxmlformats.org/officeDocument/2006/relationships/slide" Target="/ppt/slides/slide18.xml" Id="R641c09c9fe3e4f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bbac70c0c045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c8073ca53d4a23" /><Relationship Type="http://schemas.openxmlformats.org/officeDocument/2006/relationships/notesMaster" Target="/ppt/notesMasters/notesMaster1.xml" Id="R6bf4d096c2f448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ae6386d17448ff" /><Relationship Type="http://schemas.openxmlformats.org/officeDocument/2006/relationships/notesMaster" Target="/ppt/notesMasters/notesMaster1.xml" Id="R13a043a370004a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530bbfbd984753" /><Relationship Type="http://schemas.openxmlformats.org/officeDocument/2006/relationships/notesMaster" Target="/ppt/notesMasters/notesMaster1.xml" Id="R70252042966742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6bf326a1e4adc" /><Relationship Type="http://schemas.openxmlformats.org/officeDocument/2006/relationships/notesMaster" Target="/ppt/notesMasters/notesMaster1.xml" Id="Ra70f5fb384e043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ec9d9fdb914872" /><Relationship Type="http://schemas.openxmlformats.org/officeDocument/2006/relationships/notesMaster" Target="/ppt/notesMasters/notesMaster1.xml" Id="R808abd70b13f4f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b8b69f18314a74" /><Relationship Type="http://schemas.openxmlformats.org/officeDocument/2006/relationships/notesMaster" Target="/ppt/notesMasters/notesMaster1.xml" Id="R8596de119f5345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df598f47d64ad3" /><Relationship Type="http://schemas.openxmlformats.org/officeDocument/2006/relationships/notesMaster" Target="/ppt/notesMasters/notesMaster1.xml" Id="R3053d4ce6db34c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4a693992d44620" /><Relationship Type="http://schemas.openxmlformats.org/officeDocument/2006/relationships/notesMaster" Target="/ppt/notesMasters/notesMaster1.xml" Id="R69233f929fdf48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7f80be40c64d42" /><Relationship Type="http://schemas.openxmlformats.org/officeDocument/2006/relationships/notesMaster" Target="/ppt/notesMasters/notesMaster1.xml" Id="R076444a5cef148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f7ac78e7fb4890" /><Relationship Type="http://schemas.openxmlformats.org/officeDocument/2006/relationships/notesMaster" Target="/ppt/notesMasters/notesMaster1.xml" Id="Re964fb6cb97d4b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df9c871c354f2e" /><Relationship Type="http://schemas.openxmlformats.org/officeDocument/2006/relationships/notesMaster" Target="/ppt/notesMasters/notesMaster1.xml" Id="Re724dd7016c04e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16e692948d4f36" /><Relationship Type="http://schemas.openxmlformats.org/officeDocument/2006/relationships/notesMaster" Target="/ppt/notesMasters/notesMaster1.xml" Id="R2e2dd0a1b8954a5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7fac782a484a7a" /><Relationship Type="http://schemas.openxmlformats.org/officeDocument/2006/relationships/notesMaster" Target="/ppt/notesMasters/notesMaster1.xml" Id="R7715617ff3a04d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0bd83e618845a0" /><Relationship Type="http://schemas.openxmlformats.org/officeDocument/2006/relationships/notesMaster" Target="/ppt/notesMasters/notesMaster1.xml" Id="R9f899c49f7f14a1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79fc1bf410f42cd" /><Relationship Type="http://schemas.openxmlformats.org/officeDocument/2006/relationships/notesMaster" Target="/ppt/notesMasters/notesMaster1.xml" Id="R9045e4a568c64cb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a8aa307ef5c43f6" /><Relationship Type="http://schemas.openxmlformats.org/officeDocument/2006/relationships/notesMaster" Target="/ppt/notesMasters/notesMaster1.xml" Id="R5ba8e1fae1b342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c1afa8b23840f3" /><Relationship Type="http://schemas.openxmlformats.org/officeDocument/2006/relationships/notesMaster" Target="/ppt/notesMasters/notesMaster1.xml" Id="Rc1925869dd3f470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bd7a228dca44776" /><Relationship Type="http://schemas.openxmlformats.org/officeDocument/2006/relationships/notesMaster" Target="/ppt/notesMasters/notesMaster1.xml" Id="Refecdd5834c240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开场先说明：这是大二短学期作业提交后的暑假独立重构版本。它从教师提供但来源和许可证未知的未完成脚手架起步，现在覆盖借阅、归还、预约、采购补货、内容审核、系统审计和中间件降级。截图使用当前 Vue 3 + Vite 前端和固定的项目演示数据生成。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- Project history: docs/project-history.md and NOTICE.md.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给非技术观众一个最简单的定义：系统处理的是书的完整生命周期，而不是数据库里的一行记录。四条链路分别对应读者使用、社区互动、馆藏供应和系统治理。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重点解释角色边界。系统只有五个基础角色编码，馆务协调员只是管理员记录上的能力标记。这样既允许跨管理员协调采购，又避免产生难以维护的第六套权限体系。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读者端不是传统左侧菜单后台。首次进入保留暗室与灯火意象，登录后仍提供明确的找书、借阅、收藏和留言入口。书名、作者、评论和封面均使用项目专用的虚构演示数据。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这里是系统最重要的技术点。库存扣减和借阅记录写入在同一个数据库事务中，通过条件更新解决并发竞争。测试已经覆盖库存为 1、多线程同时借阅时只能成功一人的场景。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这页解释为什么系统不是简单的借还表。续借受次数、时间窗口和预约队列限制；预约遵循先来先服务；罚款有封顶，避免无限增长。通知属于旁路，不影响核心事务。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读者可以查看最新或最热书评、点赞、取消点赞、回复和举报。管理员在内容审核中选择隐藏违规内容或忽略无效举报，这些操作会进入审计日志。演示评论和用户名均为重新编写的虚构内容。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采购闭环从低库存开始：管理员提出需求，采购员认领并推进，物流员只处理分配给自己的任务。入库状态触发库存补充，状态条件防止重复入库。超级管理员可以查看全局记录。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这里强调纵深防护。前端隐藏菜单只是体验层；后端权限 AOP 判断角色和馆务协调权限，Service 继续判断目标用户、订单和文件的数据范围。用户名唯一约束、资料校验和敏感导出过滤共同守住边界。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系统使用清晰的单体分层。当前基线为 Spring Boot 3.5.16、MyBatis-Plus 3.5.17、Vue 3.5.40 和 Vite 8.1.5。Controller 不直连 Mapper；Service 管理事务和业务规则；Redis、MQ、邮件和文件系统通过适配层接入。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Technical versions: README.md and backend/frontend dependency manifests.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数据表按业务域分组。比如点赞和预约使用唯一约束防止重复，采购与物流用状态字段限制非法跳转，文件表同时记录物理文件、业务类型、引用编号和生命周期状态。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Redis 不可用时，验证码和登录失败计数切到本机内存，缓存查询直接访问数据库。RabbitMQ 不可用时，操作日志同步写库，通知进入补偿表。邮件失败只保留待重试任务，不回滚借还和预约。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注册页面在输入密码时动态显示规则，后端仍会再次验证密码强度。文件上传同时检查扩展名、MIME、大小和文件头，HTML 只能下载，私有附件需要登录和数据权限。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读者端强调进入和阅读的氛围，但核心按钮保持清楚；个人资料弹窗沿用登录页的纸面底色、提示语和输入逻辑，保存按钮使用封蜡红。管理端优先信息密度和长期操作。最终浏览器诊断覆盖 86 个路由，没有 Console、页面、网络或横向溢出异常。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screenshots: tests/e2e/docs-screenshots.mjs, generated 2026-07-26.</a:t>
            </a:r>
          </a:p>
          <a:p xmlns:a="http://schemas.openxmlformats.org/drawingml/2006/main">
            <a:r>
              <a:t>- Browser evidence: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数字来自 2026-07-26 最终干净回归：后端 165 项、前端 26 项全部通过；五角色完成 75 次真实 API 响应；并发一致性覆盖 19 个场景和 392 次请求，最大 P95 为 99 ms；浏览器完成 86 个路由检查；27 个外键关系、领域不变量、Redis TTL 和 RabbitMQ 消费全部通过。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Definitive regression: runtime/final-regression-20260726-1007/definitive/regression-summary.json.</a:t>
            </a:r>
          </a:p>
          <a:p xmlns:a="http://schemas.openxmlformats.org/drawingml/2006/main">
            <a:r>
              <a:t>- Database integrity: runtime/final-regression-20260726-1007/definitive/database-integrity.json.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交付包不包含依赖和本地数据。新环境执行 sql/init-dark-room-library.sql，后端默认监听 20606，前端监听 5175。演示账号密码通过本地环境变量提供，不写入公开材料。中间件默认关闭，可在核心功能跑通后通过环境变量启用。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and sql/README.md.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这页说明系统级取舍。项目已经完成 Vue 3 + Vite 和 Spring Boot 3 迁移，因此不再保留旧脚手架双轨；同时不伪造课程阶段和暑假早期的 Git 提交。脚手架来源和许可证未知的事实会在 README、NOTICE 和项目沿革中公开保留。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history: docs/project-history.md.</a:t>
            </a:r>
          </a:p>
          <a:p xmlns:a="http://schemas.openxmlformats.org/drawingml/2006/main">
            <a:r>
              <a:t>- Licensing boundary: NOTICE.md.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结尾回到开场：项目的亮点不是罗列 Controller 或数据表，而是业务、权限、数据和基础设施都能形成闭环，同时对脚手架来源、许可证和 Git 历史保持诚实。现在它可以运行、测试、解释和交付。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documentation: README.md, NOTICE.md, docs/project-history.md,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2d61e3ed4043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cc0138deda449f" /><Relationship Type="http://schemas.openxmlformats.org/officeDocument/2006/relationships/slideLayout" Target="/ppt/slideLayouts/slideLayout1.xml" Id="R8e0903b4e1824a8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0903b4e1824a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9c958296341a3" /><Relationship Type="http://schemas.openxmlformats.org/officeDocument/2006/relationships/image" Target="/ppt/media/image.png" Id="R9e4f819c34ea4073" /><Relationship Type="http://schemas.openxmlformats.org/officeDocument/2006/relationships/notesSlide" Target="/ppt/notesSlides/notesSlide1.xml" Id="R81642059b46143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0928d03d14c28" /><Relationship Type="http://schemas.openxmlformats.org/officeDocument/2006/relationships/image" Target="/ppt/media/image2.png" Id="R2895d13c171a4708" /><Relationship Type="http://schemas.openxmlformats.org/officeDocument/2006/relationships/notesSlide" Target="/ppt/notesSlides/notesSlide2.xml" Id="Ra8b3597c36cd49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fd3ffe7f04f92" /><Relationship Type="http://schemas.openxmlformats.org/officeDocument/2006/relationships/notesSlide" Target="/ppt/notesSlides/notesSlide3.xml" Id="R7192f61566ea46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df9ae68cc4f32" /><Relationship Type="http://schemas.openxmlformats.org/officeDocument/2006/relationships/image" Target="/ppt/media/image3.png" Id="Ra0d66c5ee3174523" /><Relationship Type="http://schemas.openxmlformats.org/officeDocument/2006/relationships/notesSlide" Target="/ppt/notesSlides/notesSlide4.xml" Id="Rc5f5253a71a947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ea0d6f4bf4e10" /><Relationship Type="http://schemas.openxmlformats.org/officeDocument/2006/relationships/notesSlide" Target="/ppt/notesSlides/notesSlide5.xml" Id="R2ddb72d8ac8b40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2c03dbaee483f" /><Relationship Type="http://schemas.openxmlformats.org/officeDocument/2006/relationships/notesSlide" Target="/ppt/notesSlides/notesSlide6.xml" Id="Rc2e124a0922b46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8b960f8b64e03" /><Relationship Type="http://schemas.openxmlformats.org/officeDocument/2006/relationships/image" Target="/ppt/media/image4.png" Id="R1cfde8dd80854043" /><Relationship Type="http://schemas.openxmlformats.org/officeDocument/2006/relationships/notesSlide" Target="/ppt/notesSlides/notesSlide7.xml" Id="Rafa08bee93fb40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0dcdba4174890" /><Relationship Type="http://schemas.openxmlformats.org/officeDocument/2006/relationships/image" Target="/ppt/media/image5.png" Id="Rb5cb669536c9489d" /><Relationship Type="http://schemas.openxmlformats.org/officeDocument/2006/relationships/notesSlide" Target="/ppt/notesSlides/notesSlide8.xml" Id="R46b8c754932c4f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17abbd550c4c72" /><Relationship Type="http://schemas.openxmlformats.org/officeDocument/2006/relationships/image" Target="/ppt/media/image6.png" Id="Rc4af6634a3a64864" /><Relationship Type="http://schemas.openxmlformats.org/officeDocument/2006/relationships/notesSlide" Target="/ppt/notesSlides/notesSlide9.xml" Id="R0c24b40dfae147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82f4f6259466d" /><Relationship Type="http://schemas.openxmlformats.org/officeDocument/2006/relationships/notesSlide" Target="/ppt/notesSlides/notesSlide10.xml" Id="R6313b3761b9a43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e0fdf304e4f45" /><Relationship Type="http://schemas.openxmlformats.org/officeDocument/2006/relationships/notesSlide" Target="/ppt/notesSlides/notesSlide11.xml" Id="R175fe159bfc845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4b26077ca47d4" /><Relationship Type="http://schemas.openxmlformats.org/officeDocument/2006/relationships/notesSlide" Target="/ppt/notesSlides/notesSlide12.xml" Id="R21abda150cb84e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c76f363ab419a" /><Relationship Type="http://schemas.openxmlformats.org/officeDocument/2006/relationships/image" Target="/ppt/media/image7.png" Id="R4d071fb43b204f31" /><Relationship Type="http://schemas.openxmlformats.org/officeDocument/2006/relationships/notesSlide" Target="/ppt/notesSlides/notesSlide13.xml" Id="R462c0a20160f49d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6fa0740584e0e" /><Relationship Type="http://schemas.openxmlformats.org/officeDocument/2006/relationships/image" Target="/ppt/media/image8.png" Id="Rc53a31b9f9eb40c0" /><Relationship Type="http://schemas.openxmlformats.org/officeDocument/2006/relationships/image" Target="/ppt/media/image9.png" Id="R4962e027d0e948e9" /><Relationship Type="http://schemas.openxmlformats.org/officeDocument/2006/relationships/notesSlide" Target="/ppt/notesSlides/notesSlide14.xml" Id="Rd2a538b72caa428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02aecc3a74a7a" /><Relationship Type="http://schemas.openxmlformats.org/officeDocument/2006/relationships/notesSlide" Target="/ppt/notesSlides/notesSlide15.xml" Id="R0842bf2a511543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5bc5a9b3441e0" /><Relationship Type="http://schemas.openxmlformats.org/officeDocument/2006/relationships/notesSlide" Target="/ppt/notesSlides/notesSlide16.xml" Id="R0357fee4f61a4a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637e5eac541fa" /><Relationship Type="http://schemas.openxmlformats.org/officeDocument/2006/relationships/notesSlide" Target="/ppt/notesSlides/notesSlide17.xml" Id="Rdcd0c074e1ff41c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139d6cb834ca9" /><Relationship Type="http://schemas.openxmlformats.org/officeDocument/2006/relationships/notesSlide" Target="/ppt/notesSlides/notesSlide18.xml" Id="R910879c514a642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f819c34ea407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551AED2-72D2-4176-BC9A-4DF5A50F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A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DA8BFD6-CD29-4B54-848E-CB863834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762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4A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F0EAE60-7F98-476A-BC64-EFDBA298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85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SPRING BOOT 3 × VUE 3 + VITE</a:t>
            </a:r>
          </a:p>
        </p:txBody>
      </p:sp>
      <p:sp>
        <p:nvSpPr>
          <p:cNvPr id="5" name="deck-title">
            <a:extLst xmlns:a="http://schemas.openxmlformats.org/drawingml/2006/main">
              <a:ext uri="{FF2B5EF4-FFF2-40B4-BE49-F238E27FC236}">
                <a16:creationId xmlns:a16="http://schemas.microsoft.com/office/drawing/2014/main" id="{A3D5D8C8-E0BD-4011-A81B-8948EB97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43100"/>
            <a:ext cx="590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7F3EA"/>
                </a:solidFill>
              </a:defRPr>
            </a:pPr>
            <a:r>
              <a:rPr sz="4350" b="1">
                <a:solidFill>
                  <a:srgbClr val="F7F3EA"/>
                </a:solidFill>
              </a:rPr>
              <a:t>暗室藏书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FB48E42-C3AB-49D8-8355-DFDDA967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D8DDD8"/>
                </a:solidFill>
              </a:defRPr>
            </a:pPr>
            <a:r>
              <a:rPr sz="1725" b="0">
                <a:solidFill>
                  <a:srgbClr val="D8DDD8"/>
                </a:solidFill>
              </a:rPr>
              <a:t>一套把借阅、互动、采购、审计与降级真正连起来的图书管理系统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25C5F0C-FCAD-4EA7-B9D8-A6DE3269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项目介绍 · 2026.07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1ADCEFF-D87D-428D-A754-2A50B130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F7F3EA"/>
                </a:solidFill>
              </a:defRPr>
            </a:pPr>
            <a:r>
              <a:rPr sz="1650" b="1">
                <a:solidFill>
                  <a:srgbClr val="F7F3EA"/>
                </a:solidFill>
              </a:rPr>
              <a:t>DRL</a:t>
            </a:r>
          </a:p>
        </p:txBody>
      </p:sp>
    </p:spTree>
    <p:extLst>
      <p:ext uri="{BB962C8B-B14F-4D97-AF65-F5344CB8AC3E}">
        <p14:creationId xmlns:p14="http://schemas.microsoft.com/office/powerpoint/2010/main" val="787154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A60B31-F611-4DC9-AC61-7C6E1C42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01 · WHAT IT IS</a:t>
            </a:r>
          </a:p>
        </p:txBody>
      </p:sp>
      <p:sp>
        <p:nvSpPr>
          <p:cNvPr id="3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72BE3599-2C27-46AB-8A6A-B0C8CC8B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它不止管理书，还管理一条完整链路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6FF2A3B-B136-4F15-B396-43AA9EE6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前台让读者愿意停留，后台让每一次流转都有结果。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520C5906-8A28-4623-A74B-FBD24A72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3F4C9BD-DF89-44AC-957D-9DCF4F8C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9883601-F3DB-4E66-A09E-9AAB99A8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4FBC54C-E4FA-4026-A992-7F4F2F43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74A3C"/>
                </a:solidFill>
              </a:defRPr>
            </a:pPr>
            <a:r>
              <a:rPr sz="1650" b="1">
                <a:solidFill>
                  <a:srgbClr val="A74A3C"/>
                </a:solidFill>
              </a:rPr>
              <a:t>流通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8394A44-DC7F-4380-B6EC-1EB68668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431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借书、归还、续借、预约与罚款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08965480-F915-4EE1-B4D8-A25C2524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D78DBCC-DDE8-4F4C-B311-129D89BC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43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E8074"/>
                </a:solidFill>
              </a:defRPr>
            </a:pPr>
            <a:r>
              <a:rPr sz="165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8469479-2355-440F-A346-B3C7FE76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书评、点赞、回复、举报与审核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7D925DB-BD26-49AD-A034-70057C7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9F61FCE-C813-4029-86D3-DDA0BEA0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供应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0C83247-C693-4D2E-9FDB-7F6FB207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低库存、采购、物流、入库补货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8B38160F-9C67-4B66-90DC-409F3BC3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7192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64C8AA-0A5F-42E8-A790-1C3DE056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52F"/>
                </a:solidFill>
              </a:defRPr>
            </a:pPr>
            <a:r>
              <a:rPr sz="1650" b="1">
                <a:solidFill>
                  <a:srgbClr val="26352F"/>
                </a:solidFill>
              </a:rPr>
              <a:t>治理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772CE27-9488-40BB-8ECA-199F9538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权限、文件、通知、日志与导出</a:t>
            </a: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D4599834-78E9-42FB-BD6D-F4BEB76D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36CF7475-F502-4344-977C-3DF7F325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14500"/>
            <a:ext cx="6076950" cy="428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43" name="图片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5d13c171a470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984521" y="1771650"/>
            <a:ext cx="4928308" cy="4171950"/>
          </a:xfrm>
          <a:prstGeom xmlns:a="http://schemas.openxmlformats.org/drawingml/2006/main" prst="rect">
            <a:avLst/>
          </a:prstGeom>
        </p:spPr>
      </p:pic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212F298-7C5C-4177-803B-3250DE79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A74A3C"/>
                </a:solidFill>
              </a:defRPr>
            </a:pPr>
            <a:r>
              <a:rPr sz="975" b="1">
                <a:solidFill>
                  <a:srgbClr val="A74A3C"/>
                </a:solidFill>
              </a:rPr>
              <a:t>一句话理解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CFCF3475-60EE-4B25-8B98-ECFB1D12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E766F"/>
                </a:solidFill>
              </a:defRPr>
            </a:pPr>
            <a:r>
              <a:rPr sz="1350" b="0">
                <a:solidFill>
                  <a:srgbClr val="6E766F"/>
                </a:solidFill>
              </a:rPr>
              <a:t>让一本书从“被发现”到“被归还、被补货、被审计”都有明确去处。</a:t>
            </a:r>
          </a:p>
        </p:txBody>
      </p:sp>
    </p:spTree>
    <p:extLst>
      <p:ext uri="{BB962C8B-B14F-4D97-AF65-F5344CB8AC3E}">
        <p14:creationId xmlns:p14="http://schemas.microsoft.com/office/powerpoint/2010/main" val="674797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77327A-3BE5-46E8-96DC-3BABBC48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02 · PEOPLE</a:t>
            </a:r>
          </a:p>
        </p:txBody>
      </p:sp>
      <p:sp>
        <p:nvSpPr>
          <p:cNvPr id="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E61955F8-F88F-4D73-8013-82DDC3CB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五类角色共同完成一件事：让书真正流动起来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33B29C1-599D-43A5-9295-85B55CF0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每个人只看见职责范围内的数据，跨岗位协作必须留痕。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A6147F2-CE2C-4440-93BA-45AC6CC0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7AEF196-AA36-4A85-9FAB-70C6B7CB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BC89973-1063-4298-8C70-3F2C811C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03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C49A8536-E68D-476E-AC6E-C8705CCB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876F8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读者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借阅互动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提出真实需求</a:t>
            </a:r>
          </a:p>
        </p:txBody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5D8FB680-DAB6-4AA6-B209-45470E33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管理员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馆藏流通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内容与需求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D0E3972C-8ED7-457C-8D64-CF5F9EC5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采购员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认领采购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连接物流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1B741065-6D69-453B-9FAC-423E188B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73869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物流员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运输到馆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完成入库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59FA5FEE-93BD-4B73-A0A6-1DC15CD7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超级管理员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全局控制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审计与授权</a:t>
            </a:r>
          </a:p>
        </p:txBody>
      </p:sp>
      <p:cxnSp>
        <p:nvCxnSpPr>
          <p:cNvPr id="120" name="直接箭头连接符 29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5745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21" name="直接箭头连接符 30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68630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22" name="直接箭头连接符 31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91515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23" name="直接箭头连接符 32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14400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D7258479-BADB-4017-BDCE-AAF1A1FD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10668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B5B5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68255D4-F02C-4A04-A68D-F7E130A3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100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馆务协调权限不是第六类角色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4982FEC-6D33-4B01-9A8D-FDFA530D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33875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它是超级管理员授予普通管理员的协调能力：可以跨管理员处理采购事项，但仍不能触碰文件治理、完整导出和超级管理员权限。</a:t>
            </a:r>
          </a:p>
        </p:txBody>
      </p:sp>
    </p:spTree>
    <p:extLst>
      <p:ext uri="{BB962C8B-B14F-4D97-AF65-F5344CB8AC3E}">
        <p14:creationId xmlns:p14="http://schemas.microsoft.com/office/powerpoint/2010/main" val="756901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B4B916C-BC28-4797-99FF-9A7C5259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03 · READER JOURNEY</a:t>
            </a:r>
          </a:p>
        </p:txBody>
      </p:sp>
      <p:sp>
        <p:nvSpPr>
          <p:cNvPr id="3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AEC346E9-85E5-4575-9424-04623559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读者看到的是一间书房，背后是一套完整服务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E2E745-C0AE-49EA-88E6-CF99CAD9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氛围负责邀请用户进入，清晰的操作负责让用户留下。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B56370D9-28D5-4E65-97EB-A9DC0CFF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9777F16-3BD9-4F6B-962E-F9195EFC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3D586CF-098F-46AE-81EB-7C9FD4A2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04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072C6BB8-1A73-40A7-AF0E-998324C9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6934200" cy="426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6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d66c5ee317452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" y="1752600"/>
            <a:ext cx="6819900" cy="4152900"/>
          </a:xfrm>
          <a:prstGeom xmlns:a="http://schemas.openxmlformats.org/drawingml/2006/main" prst="rect">
            <a:avLst/>
          </a:prstGeom>
        </p:spPr>
      </p:pic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EC83433-E394-429A-BDBB-DD6E7412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621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找书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01B87BB-5B3A-4B53-918F-6048CEC9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716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检索、分类筛选、详情与库存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99CF25C-B90B-4ECB-BA7F-EE152D64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575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借书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58ABBD3-56C4-4330-9370-243C34AB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670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并发保护、配额与预约归属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C5B8C89-FE11-45A1-871D-D533B0EB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管理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75DAE2F-2304-409D-BC06-68FBE475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623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我的借阅、续借、预约、收藏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2A82014-6FD3-457A-B960-39119927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交流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FD5B615-D838-4A5E-8740-87BE3972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577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留言附件、书评、点赞与回复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4A4A88B-4E5C-4FD7-8F11-D1A16F4D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1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8074"/>
                </a:solidFill>
              </a:defRPr>
            </a:pPr>
            <a:r>
              <a:rPr sz="1200" b="1">
                <a:solidFill>
                  <a:srgbClr val="5E8074"/>
                </a:solidFill>
              </a:rPr>
              <a:t>夜间沉浸 / 白天清朗</a:t>
            </a:r>
          </a:p>
        </p:txBody>
      </p:sp>
    </p:spTree>
    <p:extLst>
      <p:ext uri="{BB962C8B-B14F-4D97-AF65-F5344CB8AC3E}">
        <p14:creationId xmlns:p14="http://schemas.microsoft.com/office/powerpoint/2010/main" val="3213413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7469F94-7B9D-48AD-8807-4F7889EA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04 · CORE TRANSACTION</a:t>
            </a:r>
          </a:p>
        </p:txBody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20025FC-2F67-44E0-A467-DBE4F3E1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借阅正确性的核心只有一句：库存永不为负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A1960F0-4A0A-49F5-A8D3-0583D66C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最终库存只认 MySQL；Redis 不保存最终库存。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4CADEBED-6E5A-4C07-8532-3BBED26C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7BF9097-2FA3-468F-A5C7-67133C70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5022023-3451-47A0-8E2B-09713EA8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05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041FAD5B-1D0C-41CE-BA79-557C01F5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B6DBF62-0648-4F09-8C9C-B3A1539C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DEA152D-EFFA-4AE5-88DC-679D4980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校验读者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682EF26-5D29-49BF-9DA1-7DD26D60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账号状态、配额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199F1216-F0C0-4F10-9AEE-59A2CB7B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A2356E5-84D0-4236-B8E5-F824E057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2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8A9E0D3-702A-4D95-BA12-C95BD9EC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校验图书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7B56879-5837-43E8-96B5-7AA5847D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在架、预约归属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554C8755-6A93-451E-90AC-68C2A75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5F5EAA1-AFAE-49D1-B5B9-BE49A7F5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836E705-AE3B-4587-8366-087E570C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条件扣库存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4BB84B0-2879-4E43-8D7A-4EAB5406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available_num &gt; 0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BAF6AEAA-76AF-4A2E-9270-96C65A21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6E95358-88B3-4B67-B85B-76B1EA44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26A4002-D04E-44F9-8741-CCB7CDA0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写借阅记录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9057D419-0E20-4C87-826C-EF98DE40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同一事务提交</a:t>
            </a:r>
          </a:p>
        </p:txBody>
      </p:sp>
      <p:cxnSp>
        <p:nvCxnSpPr>
          <p:cNvPr id="201" name="直接箭头连接符 50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9337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02" name="直接箭头连接符 51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6388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03" name="直接箭头连接符 52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3439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403009BC-B10A-443D-8947-CCE437A1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267950" cy="990600"/>
          </a:xfrm>
          <a:prstGeom xmlns:a="http://schemas.openxmlformats.org/drawingml/2006/main" prst="roundRect">
            <a:avLst>
              <a:gd name="adj" fmla="val 4808"/>
            </a:avLst>
          </a:prstGeom>
          <a:solidFill xmlns:a="http://schemas.openxmlformats.org/drawingml/2006/main">
            <a:srgbClr val="0D1310"/>
          </a:solidFill>
          <a:ln xmlns:a="http://schemas.openxmlformats.org/drawingml/2006/main" w="9525">
            <a:solidFill>
              <a:srgbClr val="3E4D4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95BE05E0-FA9D-4FA9-905B-4B0B2CC7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9625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B9D6CB"/>
                </a:solidFill>
              </a:defRPr>
            </a:pPr>
            <a:r>
              <a:rPr sz="1275" b="1">
                <a:solidFill>
                  <a:srgbClr val="B9D6CB"/>
                </a:solidFill>
              </a:rPr>
              <a:t>UPDATE book SET available_num = available_num - 1 WHERE id = ? AND available_num &gt; 0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1E88CA57-55CA-4551-88B3-BA95B7B2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多个读者同时抢最后一本时，只有一条更新会成功；失败请求不会产生借阅记录。</a:t>
            </a:r>
          </a:p>
        </p:txBody>
      </p:sp>
    </p:spTree>
    <p:extLst>
      <p:ext uri="{BB962C8B-B14F-4D97-AF65-F5344CB8AC3E}">
        <p14:creationId xmlns:p14="http://schemas.microsoft.com/office/powerpoint/2010/main" val="16732333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4292C98-D559-4883-BF96-00D6DB85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05 · AFTER BORROWING</a:t>
            </a:r>
          </a:p>
        </p:txBody>
      </p:sp>
      <p:sp>
        <p:nvSpPr>
          <p:cNvPr id="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5DA494ED-5A90-468C-A62F-A0B1653C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预约、续借、罚款补上了借书之后的空白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53363A0-987A-4965-9735-B9BB6EA3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规则不隐藏在代码里，而是形成可解释、可验收的状态。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C3929B22-9035-4E18-9C92-F503796E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F3BC8A3-04A5-4A0B-A502-028C5244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C974867-F6F6-4481-A935-B4D149CE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06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7B59FB0-AEE3-46E7-AE94-D3023CA8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FFF0C23-4A5F-4294-98AC-359ACF73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A74A3C"/>
                </a:solidFill>
              </a:defRPr>
            </a:pPr>
            <a:r>
              <a:rPr sz="2025" b="1">
                <a:solidFill>
                  <a:srgbClr val="A74A3C"/>
                </a:solidFill>
              </a:rPr>
              <a:t>预约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28066E6-384E-475F-87AF-A32139F7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无库存才进入 FIFO 队列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每位读者有有效预约上限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归还后通知最早预约人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48 小时未取自动过期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96C79EE5-C0C1-462D-AF27-3C54C831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E8074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47FA2E4-940C-4818-9180-A3E73372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E8074"/>
                </a:solidFill>
              </a:defRPr>
            </a:pPr>
            <a:r>
              <a:rPr sz="2025" b="1">
                <a:solidFill>
                  <a:srgbClr val="5E8074"/>
                </a:solidFill>
              </a:rPr>
              <a:t>续借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414042C-B5A7-4F39-9230-E7E19B83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每条借阅最多一次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仅到期前三天开放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存在预约队列时禁止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当天发送一次邮件提醒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51C1C053-D184-4790-8FFE-E0CD67E3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48A5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CF201B2-D91B-4B4D-8F6F-26699783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B48A55"/>
                </a:solidFill>
              </a:defRPr>
            </a:pPr>
            <a:r>
              <a:rPr sz="2025" b="1">
                <a:solidFill>
                  <a:srgbClr val="B48A55"/>
                </a:solidFill>
              </a:rPr>
              <a:t>逾期罚款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C30B066-A332-430A-B541-25E4CFE4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按逾期天数计算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金额不超过图书价格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归还时恢复库存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邮件失败不回滚还书</a:t>
            </a: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A1EA5F36-103E-4083-9A9A-4886A336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668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B90E299-C24C-40B4-88BC-5A41B5BE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9117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预约状态：等待 → 已通知 → 已借阅 / 已取消 / 已过期</a:t>
            </a:r>
          </a:p>
        </p:txBody>
      </p:sp>
    </p:spTree>
    <p:extLst>
      <p:ext uri="{BB962C8B-B14F-4D97-AF65-F5344CB8AC3E}">
        <p14:creationId xmlns:p14="http://schemas.microsoft.com/office/powerpoint/2010/main" val="12741290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85BBBBD-3F4C-415D-89F5-39CA55B9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06 · COMMUNITY</a:t>
            </a:r>
          </a:p>
        </p:txBody>
      </p:sp>
      <p:sp>
        <p:nvSpPr>
          <p:cNvPr id="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2173C75E-6229-44CD-82F2-14730F08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读者之间可以互动，但内容必须有人负责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E2C9584-C1F9-4A83-AE2E-85F85DBE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书评从发表到审核形成闭环，而不是只多一张评论表。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013E526-3ADD-4E0B-859B-75D95437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46297B0-3958-4D42-ADFE-F2B4B0AB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1113D68-9A72-4A42-BF35-5F6F21E8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0BB78BE-2D94-4EC8-BDC1-5A931986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发表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1AB5C73-522C-48DB-9710-AAA13DFC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书评与评分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B7764402-6622-41B5-B5C9-67858789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D5D55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32B6452-6565-43D8-A823-B55D0B11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互动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0E9EF50-6901-47A0-A6FD-2A146B8F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最新 / 最热 · 点赞 · 回复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5588147-D95C-4B6C-BE8B-EFFEA4E1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D5D55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43F32F5-35FD-4B11-9EB4-FAACE9A4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治理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A288DCA-3DD5-4F27-936D-718B1E77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962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举报 · 隐藏 · 忽略 · 审计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D26ECFAC-C3B7-4D54-BF8C-A095AFA8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95450"/>
            <a:ext cx="7239000" cy="43243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33" name="图片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de8dd8085404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229100" y="1752600"/>
            <a:ext cx="7124700" cy="4210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0722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5657C9E-5340-4112-B7EC-181B4AFE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07 · SUPPLY CHAIN</a:t>
            </a:r>
          </a:p>
        </p:txBody>
      </p:sp>
      <p:sp>
        <p:nvSpPr>
          <p:cNvPr id="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EF58BEDF-101C-4541-90BC-6EE50BF6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低库存不再只是告警，它会走到真正入库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EA0D0CC-462C-4CB6-85FF-DE06BF04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采购与物流使用同一订单状态，但通信通道严格隔离。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955DAF23-C07E-4912-A331-2D4EF593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7C0A3F7-7405-41AA-9C55-B972D277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4D1CFB3-DDC1-4661-A413-CB5754BA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08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0A4310A6-3ADB-4551-A97E-F907E3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38300"/>
            <a:ext cx="6343650" cy="45529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122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b669536c9489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81600" y="1697732"/>
            <a:ext cx="6229350" cy="4434086"/>
          </a:xfrm>
          <a:prstGeom xmlns:a="http://schemas.openxmlformats.org/drawingml/2006/main" prst="rect">
            <a:avLst/>
          </a:prstGeom>
        </p:spPr>
      </p:pic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7A01129C-DAC3-4152-AFE1-F5EF170E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8F5ED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管理员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创建需求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0C26F6F7-73FA-43B7-B4E8-7FDECB92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采购员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认领 / 下单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BD328026-4487-47E0-82EF-65164C7D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8F5ED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物流员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运输 / 到馆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B3074AF3-93E8-4E58-8B4E-6C85149F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系统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入库补库存</a:t>
            </a:r>
          </a:p>
        </p:txBody>
      </p:sp>
      <p:cxnSp>
        <p:nvCxnSpPr>
          <p:cNvPr id="127" name="直接箭头连接符 3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1628775" y="25717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28" name="直接箭头连接符 31"/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628775" y="35623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29" name="直接箭头连接符 32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628775" y="45529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18A9F6B-D181-4463-8A42-7D9F9357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95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通信隔离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D422CBE-0255-4AF4-9533-5696A6DE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76500"/>
            <a:ext cx="19431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管理员 ↔ 采购员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采购员 ↔ 物流员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物流员不能直接调度管理员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DF6E23E-9946-4526-9306-EA3BBD3F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4152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每次状态变化记录操作者、时间、前后状态和备注；重复入库不会重复增加库存。</a:t>
            </a:r>
          </a:p>
        </p:txBody>
      </p:sp>
    </p:spTree>
    <p:extLst>
      <p:ext uri="{BB962C8B-B14F-4D97-AF65-F5344CB8AC3E}">
        <p14:creationId xmlns:p14="http://schemas.microsoft.com/office/powerpoint/2010/main" val="11580319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25D1037-975D-4D3B-9853-7A52EC48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08 · AUTHORITY</a:t>
            </a:r>
          </a:p>
        </p:txBody>
      </p:sp>
      <p:sp>
        <p:nvSpPr>
          <p:cNvPr id="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ABED1B4-6766-40C5-B74B-30B4E794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效率可以提升，但权力必须与责任一起留下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6765D90-BEA1-4A00-8A10-E30C00BD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权限不是只藏在前端菜单里：接口、Service 和数据范围都会再次校验。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7F9ECA4A-0D30-449E-BDCB-C61EE9DB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C06EB90-CC53-48FC-9340-C15764BF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F40A789-6144-463E-BD7C-77706A67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09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A1527043-293F-4DBF-9A29-F5D50F98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6934200" cy="428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25" name="图片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f6634a3a648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1097942" y="1762125"/>
            <a:ext cx="5995617" cy="4171950"/>
          </a:xfrm>
          <a:prstGeom xmlns:a="http://schemas.openxmlformats.org/drawingml/2006/main" prst="rect">
            <a:avLst/>
          </a:prstGeom>
        </p:spPr>
      </p:pic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89D26F3-71BD-4856-9219-90937ECF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85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74A3C"/>
                </a:solidFill>
              </a:defRPr>
            </a:pPr>
            <a:r>
              <a:rPr sz="1425" b="1">
                <a:solidFill>
                  <a:srgbClr val="A74A3C"/>
                </a:solidFill>
              </a:rPr>
              <a:t>超级管理员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F8AB7B9-FBDF-4237-988F-4F55C44F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任免角色与馆务协调权限、查看全局审计、治理文件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877AA36-82FB-421F-B9C4-08ED4DA7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8607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B48A55"/>
                </a:solidFill>
              </a:defRPr>
            </a:pPr>
            <a:r>
              <a:rPr sz="1425" b="1">
                <a:solidFill>
                  <a:srgbClr val="B48A55"/>
                </a:solidFill>
              </a:rPr>
              <a:t>普通管理员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FEB214A-5DC9-4419-9F0F-80942E7A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099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不能修改同级、馆务协调员或超级管理员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B8496B0-BFBD-45AE-83F0-8FD6136E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862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E8074"/>
                </a:solidFill>
              </a:defRPr>
            </a:pPr>
            <a:r>
              <a:rPr sz="1425" b="1">
                <a:solidFill>
                  <a:srgbClr val="5E8074"/>
                </a:solidFill>
              </a:rPr>
              <a:t>馆务协调员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3C2F6A8-9CAF-4CE9-BED1-F514E9E2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100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可跨管理员协调采购，但没有超级管理员专权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C0761A3-4140-4BD0-B41B-FA97CD9D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8863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99BB2"/>
                </a:solidFill>
              </a:defRPr>
            </a:pPr>
            <a:r>
              <a:rPr sz="1425" b="1">
                <a:solidFill>
                  <a:srgbClr val="A99BB2"/>
                </a:solidFill>
              </a:rPr>
              <a:t>岗位人员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D4AACB3-3B34-446F-80F6-7054D9E9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101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采购员与物流员只能访问自己的任务和通信</a:t>
            </a:r>
          </a:p>
        </p:txBody>
      </p:sp>
    </p:spTree>
    <p:extLst>
      <p:ext uri="{BB962C8B-B14F-4D97-AF65-F5344CB8AC3E}">
        <p14:creationId xmlns:p14="http://schemas.microsoft.com/office/powerpoint/2010/main" val="5745696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C13FDCE-1A90-45C1-880D-AE2218B1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09 · ARCHITECTURE</a:t>
            </a:r>
          </a:p>
        </p:txBody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162A148E-7A93-4279-A6C3-28AF0AB2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单体不等于耦合：边界清楚比服务数量更重要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B2FA844-37FE-4A3F-9928-44EC5C1A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业务规则留在 Service，中间件通过适配层接入。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98072DB5-B159-48B1-AFAE-23E33B69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FFA6C43-A0CB-42F2-ACE3-E08D93A1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5DF8FC1-CA5A-419D-95C3-F72ABCB2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10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832ADE4F-419E-4260-AC02-0854D620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D9E4D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1E52929-D668-485B-81E5-1EE06BD2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76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Vue 3 + Vite 表现层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A1C4F8-3365-404E-866B-AA18B5E8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954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读者端 / 管理端 / 采购物流工作台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7C0BA605-EBD0-42F3-8706-0193954D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9DFC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EE89851-8C04-40D9-87EB-A6427C06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Controller 接入层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30B92CD-249B-4B2E-9A25-D3F6C7A4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参数校验 / JWT / 限流 / 权限注解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7A97A554-0584-42E6-A50A-44383A16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5D5C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3AC410F-A94D-4932-8796-41E2E40B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Service 应用与领域层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ED0B83D-4E88-4BB7-AADB-043D6FE7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718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事务 / 状态 / 角色边界 / 业务编排</a:t>
            </a: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AA55536B-CC5E-4C00-A4AA-5F49A790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D7E0E5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65A2D49-F72B-4E0B-BF1B-D21B482B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Mapper 数据访问层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C3316F7-EACC-4481-B90A-D02CEF65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100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MyBatis-Plus 3.5 / Mapper XML / 条件更新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BAF77E14-FB0E-4210-972F-E93AD5F5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CCD8D1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7FFECFC-2B44-4F7F-A0F1-3B01AC81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MySQL 最终事实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8CD7682-67D1-41E2-B121-1CBF4A6F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2482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19 张表 / 外键 / 唯一约束 / 审计</a:t>
            </a:r>
          </a:p>
        </p:txBody>
      </p:sp>
      <p:cxnSp>
        <p:nvCxnSpPr>
          <p:cNvPr id="201" name="直接箭头连接符 50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4152900" y="23812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02" name="直接箭头连接符 51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4152900" y="32194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03" name="直接箭头连接符 52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152900" y="40576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04" name="直接箭头连接符 53"/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4152900" y="48958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361B259E-C82A-43BB-99DC-CF6D4B3D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19300"/>
            <a:ext cx="3257550" cy="2781300"/>
          </a:xfrm>
          <a:prstGeom xmlns:a="http://schemas.openxmlformats.org/drawingml/2006/main" prst="roundRect">
            <a:avLst>
              <a:gd name="adj" fmla="val 2055"/>
            </a:avLst>
          </a:prstGeom>
          <a:solidFill xmlns:a="http://schemas.openxmlformats.org/drawingml/2006/main">
            <a:srgbClr val="FAF7F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FFB9639D-2FBC-44C4-8E64-6DCA38BB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基础设施适配层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E264A6AE-C215-40B9-98DE-340565A8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6098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Redis 缓存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RabbitMQ 事件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邮件与补偿任务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文件存储与定时清理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C3E61004-ED13-4B6F-BABB-778D1847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E8074"/>
                </a:solidFill>
              </a:defRPr>
            </a:pPr>
            <a:r>
              <a:rPr sz="1350" b="1">
                <a:solidFill>
                  <a:srgbClr val="5E8074"/>
                </a:solidFill>
              </a:rPr>
              <a:t>可替换 · 可关闭 · 可测试</a:t>
            </a:r>
          </a:p>
        </p:txBody>
      </p:sp>
    </p:spTree>
    <p:extLst>
      <p:ext uri="{BB962C8B-B14F-4D97-AF65-F5344CB8AC3E}">
        <p14:creationId xmlns:p14="http://schemas.microsoft.com/office/powerpoint/2010/main" val="10641087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6EF0F8B-5251-4A4C-9BCE-7EBCBD5D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10 · DATA MODEL</a:t>
            </a:r>
          </a:p>
        </p:txBody>
      </p:sp>
      <p:sp>
        <p:nvSpPr>
          <p:cNvPr id="3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EFC41EF8-0A89-4D83-8081-E466671A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19 张表不是堆出来的，它们按业务责任分组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CFED4F9-22BE-405B-8001-8886AC74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外键负责引用完整性，唯一约束和状态字段阻止重复动作。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61A869A-4C21-4F42-9344-260A07E1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97445C6-AFE9-4B56-8023-E7A2E3EA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6A94899-A59D-4A8C-9DA5-A2E4E007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C80E46-16EB-4E55-9150-9B2B301C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476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A74A3C"/>
                </a:solidFill>
              </a:defRPr>
            </a:pPr>
            <a:r>
              <a:rPr sz="6300" b="1">
                <a:solidFill>
                  <a:srgbClr val="A74A3C"/>
                </a:solidFill>
              </a:rPr>
              <a:t>19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72ED52D-C5E4-4453-9791-CA0CECF0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BUSINESS TABLES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109BB63-7B56-42E6-95AA-AC2099D9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27 条外键约束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借阅、预约、互动、供应和文件治理各自有表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898271B1-2F8D-4794-8DDC-0EC7D7FD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74A3C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147BC34-8873-401C-9EAA-636DF130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812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用户与馆藏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B46146F-63A7-4908-9111-4EA852B6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user · category · bookshelf · book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6F57FEE7-E660-446B-BE4D-FA6E552B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74A3C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6D5179E-8A19-4602-B160-5AABC1F6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812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流通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BC13334-E77A-4FE7-BD9E-E6692973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borrow_record · favorite · reservation</a:t>
            </a: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6EBAC04E-FE62-4AF1-B9A7-6EFD1E3B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670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E8074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BDB00E8-AB9E-4D61-A898-1EF3E138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238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内容互动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4DF20CC-423F-4545-853D-179F04CF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19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notice · review · like · reply · report · message</a:t>
            </a: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CE268CD3-965B-4C97-9933-64F375E6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E8074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74687FA-DD65-4172-93E4-7015A2CB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38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审计通知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40428B1-AC62-47D8-8070-4BFDB0BC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19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operation_log · notification_task</a:t>
            </a: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BA90E504-1E6C-4059-AEBF-1D2345C0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8A55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EE5343FB-3637-462B-B3EE-82D1B49E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采购物流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092FD38-BF16-4DDB-9E85-355B4A82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order · logistics · procurement_message</a:t>
            </a:r>
          </a:p>
        </p:txBody>
      </p:sp>
      <p:sp>
        <p:nvSpPr>
          <p:cNvPr id="26" name="直接连接符 25">
            <a:extLst xmlns:a="http://schemas.openxmlformats.org/drawingml/2006/main">
              <a:ext uri="{FF2B5EF4-FFF2-40B4-BE49-F238E27FC236}">
                <a16:creationId xmlns:a16="http://schemas.microsoft.com/office/drawing/2014/main" id="{B79E7027-5C33-4241-8BFD-8172D9D1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8A5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3952B4AC-8225-4C67-9B46-E1A6DD58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文件治理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E3AE3C75-1784-4781-A046-00D80168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stored_file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EF65C36A-E0D2-47D9-AC77-2272C151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MySQL 是最终事实来源</a:t>
            </a:r>
          </a:p>
        </p:txBody>
      </p:sp>
    </p:spTree>
    <p:extLst>
      <p:ext uri="{BB962C8B-B14F-4D97-AF65-F5344CB8AC3E}">
        <p14:creationId xmlns:p14="http://schemas.microsoft.com/office/powerpoint/2010/main" val="7090192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CFFFB05-6FE8-449F-B71D-3879129E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11 · RELIABILITY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D197E969-541D-4F86-85C6-CE4077F3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中间件能加速系统，但不能决定系统能否工作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8DF4E3B-CEF0-4B15-9F49-93A6ED34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正常时走增强路径，故障时自动回到 MySQL、内存或补偿任务。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1D9EC1AD-8DAB-4C66-81E3-A25AE9F1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167A1E6-5889-494C-810C-D98E5D89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911EF3F-CD8D-41CB-ADA0-4DBF9A6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12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3EA2DD89-8162-47A9-ACE4-0567BE1E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62150"/>
            <a:ext cx="3009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8E4DF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正常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验证码 TTL · 登录风控 · 查询缓存</a:t>
            </a:r>
          </a:p>
        </p:txBody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0770C584-F717-4388-BB04-0AEEDB97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3200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E6DA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故障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内存验证码 · 内存计数 · 直接查 MySQL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11D4CD0A-5F23-494F-8D9D-6A258586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52650"/>
            <a:ext cx="2628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核心登录与查询继续</a:t>
            </a:r>
          </a:p>
        </p:txBody>
      </p:sp>
      <p:cxnSp>
        <p:nvCxnSpPr>
          <p:cNvPr id="124" name="直接箭头连接符 27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52850" y="2476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25" name="直接箭头连接符 28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791450" y="2476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22E515FD-4FDE-49B7-92B0-F26B21E5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3009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8E4DF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正常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日志与通知异步消费</a:t>
            </a: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3DB85F98-50D5-4DF3-B2DB-D03366D6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52850"/>
            <a:ext cx="3200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E6DA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/ 邮件故障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日志同步写库 · 通知写补偿表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A4C5DC8A-9A9A-47E6-8E90-BE8C4670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43350"/>
            <a:ext cx="2628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借还与预约事务成功</a:t>
            </a:r>
          </a:p>
        </p:txBody>
      </p:sp>
      <p:cxnSp>
        <p:nvCxnSpPr>
          <p:cNvPr id="129" name="直接箭头连接符 32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752850" y="42672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30" name="直接箭头连接符 33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791450" y="42672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07CB1E41-8103-434A-BF5C-AED7CF7E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515600" cy="571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34C8D10-CDEE-4C5E-98F9-7729978F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34025"/>
            <a:ext cx="975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原则：消息通知可以晚到，但库存、借阅记录和权限判断不能失真。</a:t>
            </a:r>
          </a:p>
        </p:txBody>
      </p:sp>
    </p:spTree>
    <p:extLst>
      <p:ext uri="{BB962C8B-B14F-4D97-AF65-F5344CB8AC3E}">
        <p14:creationId xmlns:p14="http://schemas.microsoft.com/office/powerpoint/2010/main" val="5884701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BCBF07D-E32B-4E7D-ADE1-12EB4E79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12 · SAFETY</a:t>
            </a:r>
          </a:p>
        </p:txBody>
      </p:sp>
      <p:sp>
        <p:nvSpPr>
          <p:cNvPr id="3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EB202751-6588-48E5-B5FF-ABCB17E4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安全不是一个登录框，而是一组连续边界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1E16DA7-3827-45E8-B177-F79CCF92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身份、输入、文件、导出和关键操作都必须能够被追溯。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A873FFB2-0092-46E6-830F-08CCCFAF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938880F-98DD-4ADB-83E8-A84A65B0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089D064-F49F-4763-AB1B-70EEA8E7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13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F011CBF-B145-4B68-979F-457D8CE6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身份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6742E8-8C74-4963-ADA0-4C35991F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383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BCrypt · JWT · 数学验证码 · 邮箱验证码用途隔离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091ABC2-5AE8-40E3-8522-933E2415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48A55"/>
                </a:solidFill>
              </a:defRPr>
            </a:pPr>
            <a:r>
              <a:rPr sz="1500" b="1">
                <a:solidFill>
                  <a:srgbClr val="B48A55"/>
                </a:solidFill>
              </a:rPr>
              <a:t>风控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24523A3-DF8F-4268-9968-BAFAA74F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连续失败锁定 · 频率限制 · 可信代理显式开启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CC0A284-EDAB-4DF7-8CE2-93AEF44E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1B14E39-C20A-45E7-8F1F-A317506C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004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长度限制 · Jsoup 净化 · 富文本白名单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309873C-E84C-4800-870A-B07EF1A4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296A8"/>
                </a:solidFill>
              </a:defRPr>
            </a:pPr>
            <a:r>
              <a:rPr sz="1500" b="1">
                <a:solidFill>
                  <a:srgbClr val="8296A8"/>
                </a:solidFill>
              </a:rPr>
              <a:t>文件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2942403-7230-4433-8D42-5A715840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18147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MIME/扩展名校验 · 权限下载 · HTML 强制下载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6034F3D-67E9-47FC-9046-57ED8034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997AD"/>
                </a:solidFill>
              </a:defRPr>
            </a:pPr>
            <a:r>
              <a:rPr sz="1500" b="1">
                <a:solidFill>
                  <a:srgbClr val="A997AD"/>
                </a:solidFill>
              </a:rPr>
              <a:t>审计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E18DD22-5940-4945-B243-9D6BA831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625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角色变化 · 内容审核 · 采购物流 · 文件清理留痕</a:t>
            </a: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9AF0F104-7ED3-4671-B8BD-04B3D518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76400"/>
            <a:ext cx="4914900" cy="44005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38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71fb43b204f3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553200" y="2011442"/>
            <a:ext cx="4800600" cy="3730466"/>
          </a:xfrm>
          <a:prstGeom xmlns:a="http://schemas.openxmlformats.org/drawingml/2006/main" prst="rect">
            <a:avLst/>
          </a:prstGeom>
        </p:spPr>
      </p:pic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9F42E14-E908-4257-9C02-C2905148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B48A55"/>
                </a:solidFill>
              </a:defRPr>
            </a:pPr>
            <a:r>
              <a:rPr sz="1125" b="1">
                <a:solidFill>
                  <a:srgbClr val="B48A55"/>
                </a:solidFill>
              </a:rPr>
              <a:t>动态提示让隐性规则变得可见</a:t>
            </a:r>
          </a:p>
        </p:txBody>
      </p:sp>
    </p:spTree>
    <p:extLst>
      <p:ext uri="{BB962C8B-B14F-4D97-AF65-F5344CB8AC3E}">
        <p14:creationId xmlns:p14="http://schemas.microsoft.com/office/powerpoint/2010/main" val="1147105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6C552D0-8764-4D8E-9FE7-4E02848D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13 · INTERFACE</a:t>
            </a:r>
          </a:p>
        </p:txBody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1143EAA4-0F51-48BA-9EC2-AE19D70E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前台有气质，后台有效率，两者不必长得一样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0119B9D-9083-4B0A-914F-EBCE4466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同一套书卷语言，用在不同任务上必须有不同密度。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A3473DC5-BC36-41A0-B85B-78084A2C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FFCF439-EA79-468B-AD4B-223CC5D4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02F5B26-95F1-4D72-86B9-02F45342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14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AD5B55D6-8994-4849-8F75-BB1244A8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5219700" cy="38481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5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a31b9f9eb40c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04850" y="1752600"/>
            <a:ext cx="5105400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7D732874-2AC2-4912-BFD9-D2F7B937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5219700" cy="38481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7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2e027d0e948e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384977" y="1752600"/>
            <a:ext cx="3098946" cy="3733800"/>
          </a:xfrm>
          <a:prstGeom xmlns:a="http://schemas.openxmlformats.org/drawingml/2006/main" prst="rect">
            <a:avLst/>
          </a:prstGeom>
        </p:spPr>
      </p:pic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9AE15B1-23FE-4E63-976E-2452F9E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资料页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2CB06B4-76C6-42C6-BA4B-64E7A46D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7912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纸面表单、清楚提示、封蜡红保存按钮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AF2F988-6828-41A6-9850-2C1562C8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772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管理端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99F0145-6220-4F42-BA05-A346451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7912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顶部导航、宣纸/竹简主题、清晰表格与图表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10EC12D-2AD2-4ED2-AC5B-427C4FA4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191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48A55"/>
                </a:solidFill>
              </a:defRPr>
            </a:pPr>
            <a:r>
              <a:rPr sz="975" b="1">
                <a:solidFill>
                  <a:srgbClr val="B48A55"/>
                </a:solidFill>
              </a:rPr>
              <a:t>Vite 8 · 86 路由零异常</a:t>
            </a:r>
          </a:p>
        </p:txBody>
      </p:sp>
    </p:spTree>
    <p:extLst>
      <p:ext uri="{BB962C8B-B14F-4D97-AF65-F5344CB8AC3E}">
        <p14:creationId xmlns:p14="http://schemas.microsoft.com/office/powerpoint/2010/main" val="7509621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22F3F2-C508-4AF4-A341-6887ED08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14 · EVIDENCE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D701A90B-1615-4446-9B78-7B306009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功能很多不等于可靠；可靠必须有可重复证据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C09CFBF-8115-423D-8B94-64B08E9F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自动测试、真实 API、并发、浏览器与数据库共同给出证据。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E518CF86-19BD-4603-A4D3-36DE14C2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4FEB0B5-D43A-4530-B079-5F74B844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1878743-6F37-4BEA-A0E1-A345561B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15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EF5F770-B082-44AA-BB3F-45D94142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A74A3C"/>
                </a:solidFill>
              </a:defRPr>
            </a:pPr>
            <a:r>
              <a:rPr sz="4200" b="1">
                <a:solidFill>
                  <a:srgbClr val="A74A3C"/>
                </a:solidFill>
              </a:rPr>
              <a:t>165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CDB11CA-8C35-4E93-9CA5-DE57A8A8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后端测试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30823D9-F538-422D-98EA-52D6E7F1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5E8074"/>
                </a:solidFill>
              </a:defRPr>
            </a:pPr>
            <a:r>
              <a:rPr sz="4200" b="1">
                <a:solidFill>
                  <a:srgbClr val="5E8074"/>
                </a:solidFill>
              </a:rPr>
              <a:t>26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A82C45F-B2AE-4B34-84DB-D8382436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前端单元测试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A0C6B69B-83EC-492C-B060-201A2E5B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B48A55"/>
                </a:solidFill>
              </a:defRPr>
            </a:pPr>
            <a:r>
              <a:rPr sz="4200" b="1">
                <a:solidFill>
                  <a:srgbClr val="B48A55"/>
                </a:solidFill>
              </a:rPr>
              <a:t>5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4A19236-480A-43E0-AD15-E0C3E317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角色 E2E 身份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A3889C5-5290-4352-9112-D9FCCA65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8896A7"/>
                </a:solidFill>
              </a:defRPr>
            </a:pPr>
            <a:r>
              <a:rPr sz="4200" b="1">
                <a:solidFill>
                  <a:srgbClr val="8896A7"/>
                </a:solidFill>
              </a:rPr>
              <a:t>0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5348D94-72D9-4B66-A974-38E2F549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当前失败 / 错误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091ECFE9-4BE3-43FA-94E0-A64D1EFD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5086350" cy="21717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0D1310"/>
          </a:solidFill>
          <a:ln xmlns:a="http://schemas.openxmlformats.org/drawingml/2006/main" w="9525">
            <a:solidFill>
              <a:srgbClr val="3F5047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A469F65-E78D-4DCB-A2ED-41C89E5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已覆盖的关键风险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CA6DCCB-DA71-4E02-9082-6446519F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324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库存为 1 的并发抢借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五角色权限绕过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文件类型与下载权限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预约、续借、罚款和重复入库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输入净化、导出字段与审计日志</a:t>
            </a: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F1F95D72-9DCB-4EE2-9F1C-4F8641EC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90900"/>
            <a:ext cx="5048250" cy="21717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B5B53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9DB6377-C7FD-4920-818F-01716C7A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38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真实环境还验证了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4288EAA-58D7-4514-A6F8-2345F208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95750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Redis TTL 与 RabbitMQ 消费链路实测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五角色完成 75 次真实 API 响应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19 场景 / 392 请求，最大 P95 99 ms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86 路由 Console / Network / 页面错误为 0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ESLint / Vite build / npm audit 全部通过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7C6303E-1800-4374-B38F-FED0C91D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9245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E7B74"/>
                </a:solidFill>
              </a:defRPr>
            </a:pPr>
            <a:r>
              <a:rPr sz="825" b="0">
                <a:solidFill>
                  <a:srgbClr val="6E7B74"/>
                </a:solidFill>
              </a:rPr>
              <a:t>验证日期：2026-07-26</a:t>
            </a:r>
          </a:p>
        </p:txBody>
      </p:sp>
    </p:spTree>
    <p:extLst>
      <p:ext uri="{BB962C8B-B14F-4D97-AF65-F5344CB8AC3E}">
        <p14:creationId xmlns:p14="http://schemas.microsoft.com/office/powerpoint/2010/main" val="15456027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2966F37-17F9-4E8F-972B-EED90C3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15 · DELIVERY</a:t>
            </a:r>
          </a:p>
        </p:txBody>
      </p:sp>
      <p:sp>
        <p:nvSpPr>
          <p:cNvPr id="3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68AE69C8-5675-44D1-8F4A-A650C0C7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一个新手也能在四步内把系统跑起来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89E34F2-0BAF-4D4B-9579-2C5B2273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SQL 只有一个入口，中间件默认关闭，先跑通核心功能再启用增强。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C9A07E29-9106-4A88-8831-3DE5D51D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1D2544F-8C11-4F64-BBE6-019E1737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E874672-1AE4-4BC3-B616-D64765E7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16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24A70911-1C52-47A5-898D-4A962418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9F6EF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43C5A2B-06A2-4686-B849-72576CBA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01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11DAF79-5E61-48E6-B2F0-9AC2F102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初始化 MySQL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0C8382D-484A-49BD-8451-6DDAD713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执行 sql/init-dark-room-library.sql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74680FBD-F9BC-4B23-9A6E-CBB07A81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E6E0D3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A798D4F-DC1D-4440-B2EA-45F88569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02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2EBA983-C0A3-482A-911D-91BD7FD5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启动后端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E7D7AD2-1071-481E-8DBB-9C928C99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mvn spring-boot:run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7869BB09-4D6F-43DA-B997-477765E4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9F6EF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63EB-7F92-43F4-9799-41432BDC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B4C659F-06B7-4501-A402-242B32D6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启动前端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370F3E2-DF51-453A-9222-696C1999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npm ci  /  npm run dev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4E1C0CB5-9103-4142-B66B-72626A6F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E6E0D3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72F1F3AC-B8DC-4112-AC63-B30EA8B6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26F5F3B-CAEE-421B-A2C7-94256C6B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打开浏览器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ED0D8C47-91AE-44EE-A7C1-CDD652B7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http://localhost:5175</a:t>
            </a:r>
          </a:p>
        </p:txBody>
      </p:sp>
      <p:cxnSp>
        <p:nvCxnSpPr>
          <p:cNvPr id="201" name="直接箭头连接符 50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9337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02" name="直接箭头连接符 51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6388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03" name="直接箭头连接符 52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3439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E928D7B8-DC72-4445-B0DE-8806297E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477500" cy="1066800"/>
          </a:xfrm>
          <a:prstGeom xmlns:a="http://schemas.openxmlformats.org/drawingml/2006/main" prst="roundRect">
            <a:avLst>
              <a:gd name="adj" fmla="val 4464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23FA1E11-D77C-4173-8FB8-72EB0885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33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演示账号通过本地环境变量配置，密码不进入公开材料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6E512258-B87C-42F5-BCA1-18E188FF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首次登录后立即改密；邮件、Redis、RabbitMQ 按需通过环境变量开启。</a:t>
            </a:r>
          </a:p>
        </p:txBody>
      </p:sp>
    </p:spTree>
    <p:extLst>
      <p:ext uri="{BB962C8B-B14F-4D97-AF65-F5344CB8AC3E}">
        <p14:creationId xmlns:p14="http://schemas.microsoft.com/office/powerpoint/2010/main" val="20713738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2040EF7-0CCF-4EC6-AC75-CA6910B9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16 · ENGINEERING JUDGMENT</a:t>
            </a:r>
          </a:p>
        </p:txBody>
      </p:sp>
      <p:sp>
        <p:nvSpPr>
          <p:cNvPr id="3" name="slide-17-title">
            <a:extLst xmlns:a="http://schemas.openxmlformats.org/drawingml/2006/main">
              <a:ext uri="{FF2B5EF4-FFF2-40B4-BE49-F238E27FC236}">
                <a16:creationId xmlns:a16="http://schemas.microsoft.com/office/drawing/2014/main" id="{17DC7745-F716-4231-AB9D-1361E696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有意识地统一边界，才让项目保持可维护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7733B0D-3B8F-4401-AEAE-5D0400D9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技术选择、版本与公开说明都必须服从可验证事实。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1BF52B62-4EA2-423D-8530-A8F08D7E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6C733CC-1F0B-4EE7-B07B-42836BD7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C19338D-C0A7-4D7A-AEAB-12C3860D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5CB6893-55A7-4622-A707-3EDC017D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不保留 Vue 2 双轨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01BF743-22D0-44B1-947D-E3745C91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192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前端统一到 Vue 3 + Vite，避免两套脚手架长期并存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96B46555-88D3-436B-BF88-71BE97CC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780CA87-461F-4CC6-A7FB-646319AF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48A55"/>
                </a:solidFill>
              </a:defRPr>
            </a:pPr>
            <a:r>
              <a:rPr sz="1575" b="1">
                <a:solidFill>
                  <a:srgbClr val="B48A55"/>
                </a:solidFill>
              </a:rPr>
              <a:t>不伪造 Git 历史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68F3F81-9B1E-4CAA-BF0F-348B40E3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574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Git 中途加入，首次提交只代表审查后的公开基线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3EB1C76B-91A1-466D-BA86-CB9078F6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9C6B528-6B4A-4CD7-8971-F6FFAF67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E8074"/>
                </a:solidFill>
              </a:defRPr>
            </a:pPr>
            <a:r>
              <a:rPr sz="1575" b="1">
                <a:solidFill>
                  <a:srgbClr val="5E8074"/>
                </a:solidFill>
              </a:rPr>
              <a:t>不引入 TCC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66C073B-580D-498B-9156-BB1CCB61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956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当前事务边界在单库内，补偿复杂度没有收益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40DB0254-2E76-4972-B262-3BF2F9C8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BBEA1AB-B043-41E9-9901-A1BB30BD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8CA0B0"/>
                </a:solidFill>
              </a:defRPr>
            </a:pPr>
            <a:r>
              <a:rPr sz="1575" b="1">
                <a:solidFill>
                  <a:srgbClr val="8CA0B0"/>
                </a:solidFill>
              </a:rPr>
              <a:t>不强上 Elasticsearch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BB6C5E9-21B1-46FF-903E-8BB52EF6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338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现有数据规模用 MySQL 检索足够，先保留演进空间</a:t>
            </a: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5B910CCF-9FC0-4F42-A304-1779FA55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19784E4-07B3-4D6C-9DA3-AAB9D226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E9CB4"/>
                </a:solidFill>
              </a:defRPr>
            </a:pPr>
            <a:r>
              <a:rPr sz="1575" b="1">
                <a:solidFill>
                  <a:srgbClr val="AE9CB4"/>
                </a:solidFill>
              </a:rPr>
              <a:t>大模型不直写数据库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DD7B612-FF67-4CB1-B6A9-31DCA6ED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720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未来可做只读馆员助手，核心业务仍由确定性规则控制</a:t>
            </a:r>
          </a:p>
        </p:txBody>
      </p:sp>
      <p:sp>
        <p:nvSpPr>
          <p:cNvPr id="22" name="直接连接符 21">
            <a:extLst xmlns:a="http://schemas.openxmlformats.org/drawingml/2006/main">
              <a:ext uri="{FF2B5EF4-FFF2-40B4-BE49-F238E27FC236}">
                <a16:creationId xmlns:a16="http://schemas.microsoft.com/office/drawing/2014/main" id="{8EA83294-7DE6-46C8-8C63-8DF411C5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EC34CF24-28A1-4BFB-B558-C99DA855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325100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C0AE759-78B4-4BBA-BCEE-9C747193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86450"/>
            <a:ext cx="960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7F3EA"/>
                </a:solidFill>
              </a:defRPr>
            </a:pPr>
            <a:r>
              <a:rPr sz="1125" b="1">
                <a:solidFill>
                  <a:srgbClr val="F7F3EA"/>
                </a:solidFill>
              </a:rPr>
              <a:t>复杂度和叙事都必须服从可验证的事实。</a:t>
            </a:r>
          </a:p>
        </p:txBody>
      </p:sp>
    </p:spTree>
    <p:extLst>
      <p:ext uri="{BB962C8B-B14F-4D97-AF65-F5344CB8AC3E}">
        <p14:creationId xmlns:p14="http://schemas.microsoft.com/office/powerpoint/2010/main" val="13132586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3B08C51-B8EC-4B95-A759-FF8FD1E8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4A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98B4467-B116-4B6A-B334-B292E843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B48A55"/>
                </a:solidFill>
              </a:defRPr>
            </a:pPr>
            <a:r>
              <a:rPr sz="3150" b="1">
                <a:solidFill>
                  <a:srgbClr val="B48A55"/>
                </a:solidFill>
              </a:rPr>
              <a:t>暗室藏书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9136E727-B0F5-452F-818E-5E3E474A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项目的价值，不是功能多，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而是每条链路都有开始、有结果、有证据。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76D293C8-1EC2-4E8E-A2B3-390C20D1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35B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BF40435-E5B1-4D99-819F-7415E1F3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业务闭环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1C6B52E2-71A9-4DFB-AAFC-C91A48AC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E8074"/>
                </a:solidFill>
              </a:defRPr>
            </a:pPr>
            <a:r>
              <a:rPr sz="1725" b="1">
                <a:solidFill>
                  <a:srgbClr val="5E8074"/>
                </a:solidFill>
              </a:rPr>
              <a:t>可降级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655C00D-4B0F-4F51-993D-EF2D59E8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48A55"/>
                </a:solidFill>
              </a:defRPr>
            </a:pPr>
            <a:r>
              <a:rPr sz="1725" b="1">
                <a:solidFill>
                  <a:srgbClr val="B48A55"/>
                </a:solidFill>
              </a:rPr>
              <a:t>可验证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5C26BDC-B84E-43B0-8995-42FFD369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9AA8B8"/>
                </a:solidFill>
              </a:defRPr>
            </a:pPr>
            <a:r>
              <a:rPr sz="1725" b="1">
                <a:solidFill>
                  <a:srgbClr val="9AA8B8"/>
                </a:solidFill>
              </a:rPr>
              <a:t>可交付</a:t>
            </a: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28C7A082-481E-4995-817A-72D766E4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1428750" cy="1428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DRL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完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72708F-6ED7-4AF3-80AA-490BC45C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1BA"/>
                </a:solidFill>
              </a:defRPr>
            </a:pPr>
            <a:r>
              <a:rPr sz="1500" b="0">
                <a:solidFill>
                  <a:srgbClr val="B8C1BA"/>
                </a:solidFill>
              </a:rPr>
              <a:t>一套能运行、能解释、能维护，也诚实说明来路的系统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031ABA1-420E-493D-ACAC-27E2E256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436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8756E"/>
                </a:solidFill>
              </a:defRPr>
            </a:pPr>
            <a:r>
              <a:rPr sz="975" b="0">
                <a:solidFill>
                  <a:srgbClr val="68756E"/>
                </a:solidFill>
              </a:rPr>
              <a:t>DarkRoomLibrary · 2026</a:t>
            </a:r>
          </a:p>
        </p:txBody>
      </p:sp>
    </p:spTree>
    <p:extLst>
      <p:ext uri="{BB962C8B-B14F-4D97-AF65-F5344CB8AC3E}">
        <p14:creationId xmlns:p14="http://schemas.microsoft.com/office/powerpoint/2010/main" val="90535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2026-07-26T03:32:32.1140000Z</dcterms:created>
  <dcterms:modified xsi:type="dcterms:W3CDTF">2026-07-26T03:32:32.1140000Z</dcterms:modified>
</coreProperties>
</file>