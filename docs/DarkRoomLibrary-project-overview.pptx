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开场先说明：项目想法始于 2026 年 5 月；7 月短学期提供了集中实现机会，课程提交后继续在暑假独立重构。早期课程版本很简单，当前公开基线已统一为 Vue 3 + Vite 和 Spring Boot 3，并覆盖借阅、归还、预约、采购补货、内容审核、系统审计和中间件降级。Git 在项目中途引入，因此仓库从审查后的公开基线开始；截图使用当前前端和固定的虚构演示数据生成。</a:t>
            </a:r>
          </a:p>
          <a:p>
            <a:endParaRPr/>
          </a:p>
          <a:p>
            <a:r>
              <a:t>[Sources]</a:t>
            </a:r>
          </a:p>
          <a:p>
            <a:r>
              <a:t>- Local screenshot: tests/e2e/docs-screenshots.mjs, generated 2026-07-26.</a:t>
            </a:r>
          </a:p>
          <a:p>
            <a:r>
              <a:t>- Project history: docs/project-history.md.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给非技术观众一个最简单的定义：系统处理的是书的完整生命周期，而不是数据库里的一行记录。四条链路分别对应读者使用、社区互动、馆藏供应和系统治理。</a:t>
            </a:r>
          </a:p>
          <a:p>
            <a:endParaRPr/>
          </a:p>
          <a:p>
            <a:r>
              <a:t>[Sources]</a:t>
            </a:r>
          </a:p>
          <a:p>
            <a:r>
              <a:t>- Local screenshot: tests/e2e/docs-screenshots.mjs, generated 2026-07-26.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重点解释角色边界。系统只有五个基础角色编码，馆务协调员只是管理员记录上的能力标记。这样既允许跨管理员协调采购，又避免产生难以维护的第六套权限体系。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读者端不是传统左侧菜单后台。首次进入保留暗室与灯火意象，登录后仍提供明确的找书、借阅、收藏和留言入口。书名、作者、评论和封面均使用项目专用的虚构演示数据。</a:t>
            </a:r>
          </a:p>
          <a:p>
            <a:endParaRPr/>
          </a:p>
          <a:p>
            <a:r>
              <a:t>[Sources]</a:t>
            </a:r>
          </a:p>
          <a:p>
            <a:r>
              <a:t>- Local screenshot: tests/e2e/docs-screenshots.mjs, generated 2026-07-26.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这里是系统最重要的技术点。库存扣减和借阅记录写入在同一个数据库事务中，通过条件更新解决并发竞争。测试已经覆盖库存为 1、多线程同时借阅时只能成功一人的场景。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这页解释为什么系统不是简单的借还表。续借受次数、时间窗口和预约队列限制；预约遵循先来先服务；罚款有封顶，避免无限增长。通知属于旁路，不影响核心事务。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读者可以查看最新或最热书评、点赞、取消点赞、回复和举报。管理员在内容审核中选择隐藏违规内容或忽略无效举报，这些操作会进入审计日志。演示评论和用户名均为重新编写的虚构内容。</a:t>
            </a:r>
          </a:p>
          <a:p>
            <a:endParaRPr/>
          </a:p>
          <a:p>
            <a:r>
              <a:t>[Sources]</a:t>
            </a:r>
          </a:p>
          <a:p>
            <a:r>
              <a:t>- Local screenshot: tests/e2e/docs-screenshots.mjs, generated 2026-07-26.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采购闭环从低库存开始：管理员提出需求，采购员认领并推进，物流员只处理分配给自己的任务。入库状态触发库存补充，状态条件防止重复入库。超级管理员可以查看全局记录。</a:t>
            </a:r>
          </a:p>
          <a:p>
            <a:endParaRPr/>
          </a:p>
          <a:p>
            <a:r>
              <a:t>[Sources]</a:t>
            </a:r>
          </a:p>
          <a:p>
            <a:r>
              <a:t>- Local screenshot: tests/e2e/docs-screenshots.mjs, generated 2026-07-26.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这里强调纵深防护。前端隐藏菜单只是体验层；后端权限 AOP 判断角色和馆务协调权限，Service 继续判断目标用户、订单和文件的数据范围。用户名唯一约束、资料校验和敏感导出过滤共同守住边界。</a:t>
            </a:r>
          </a:p>
          <a:p>
            <a:endParaRPr/>
          </a:p>
          <a:p>
            <a:r>
              <a:t>[Sources]</a:t>
            </a:r>
          </a:p>
          <a:p>
            <a:r>
              <a:t>- Local screenshot: tests/e2e/docs-screenshots.mjs, generated 2026-07-26.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系统使用清晰的单体分层。当前基线为 Spring Boot 3.5.16、MyBatis-Plus 3.5.17、Vue 3.5.40 和 Vite 8.1.5。Controller 不直连 Mapper；Service 管理事务和业务规则；Redis、MQ、邮件和文件系统通过适配层接入。</a:t>
            </a:r>
          </a:p>
          <a:p>
            <a:endParaRPr/>
          </a:p>
          <a:p>
            <a:r>
              <a:t>[Sources]</a:t>
            </a:r>
          </a:p>
          <a:p>
            <a:r>
              <a:t>- Technical versions: README.md and backend/frontend dependency manifests.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数据表按业务域分组。比如点赞和预约使用唯一约束防止重复，采购与物流用状态字段限制非法跳转，文件表同时记录物理文件、业务类型、引用编号和生命周期状态。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Redis 不可用时，验证码和登录失败计数切到本机内存，缓存查询直接访问数据库；Redis 恢复前会先回放删除意图，避免旧验证码或登录锁定键重新生效。RabbitMQ 不可用时，借还、预约等 MySQL 核心事务仍可提交，通知任务保留在数据库中并由定时任务补偿。操作审计不依赖 RabbitMQ，而是在业务提交后通过独立事务尽力写入；进程恰好在两次提交之间崩溃时，可能少一条审计记录。邮件失败只保留待重试任务，不回滚借还和预约。</a:t>
            </a:r>
          </a:p>
          <a:p>
            <a:endParaRPr/>
          </a:p>
          <a:p>
            <a:r>
              <a:t>[Sources]</a:t>
            </a:r>
          </a:p>
          <a:p>
            <a:r>
              <a:t>- Architecture review: docs/architecture-review.md.</a:t>
            </a:r>
          </a:p>
          <a:p>
            <a:r>
              <a:t>- Verification report: docs/verification-report.md.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注册页面在输入密码时动态显示规则，后端仍会再次验证密码强度。文件上传同时检查扩展名、MIME、大小和文件头，HTML 只能下载，私有附件需要登录和数据权限。</a:t>
            </a:r>
          </a:p>
          <a:p>
            <a:endParaRPr/>
          </a:p>
          <a:p>
            <a:r>
              <a:t>[Sources]</a:t>
            </a:r>
          </a:p>
          <a:p>
            <a:r>
              <a:t>- Local screenshot: tests/e2e/docs-screenshots.mjs, generated 2026-07-26.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读者端强调进入和阅读的氛围，但核心按钮保持清楚；个人资料弹窗沿用登录页的纸面底色、提示语和输入逻辑，保存按钮使用封蜡红。管理端优先信息密度和长期操作。最终浏览器诊断覆盖 86 个路由，没有 Console、页面、网络或横向溢出异常。</a:t>
            </a:r>
          </a:p>
          <a:p>
            <a:endParaRPr/>
          </a:p>
          <a:p>
            <a:r>
              <a:t>[Sources]</a:t>
            </a:r>
          </a:p>
          <a:p>
            <a:r>
              <a:t>- Local screenshots: tests/e2e/docs-screenshots.mjs, generated 2026-07-26.</a:t>
            </a:r>
          </a:p>
          <a:p>
            <a:r>
              <a:t>- Browser evidence: docs/verification-report.md.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数字来自 </a:t>
            </a:r>
            <a:r>
              <a:rPr lang="en-US" altLang="zh-CN"/>
              <a:t>2026-07-27 </a:t>
            </a:r>
            <a:r>
              <a:rPr lang="zh-CN" altLang="en-US"/>
              <a:t>最终干净回归：后端 </a:t>
            </a:r>
            <a:r>
              <a:rPr lang="en-US" altLang="zh-CN"/>
              <a:t>225 </a:t>
            </a:r>
            <a:r>
              <a:rPr lang="zh-CN" altLang="en-US"/>
              <a:t>项、前端 </a:t>
            </a:r>
            <a:r>
              <a:rPr lang="en-US" altLang="zh-CN"/>
              <a:t>31 </a:t>
            </a:r>
            <a:r>
              <a:rPr lang="zh-CN" altLang="en-US"/>
              <a:t>项全部通过；五角色完成 </a:t>
            </a:r>
            <a:r>
              <a:rPr lang="en-US" altLang="zh-CN"/>
              <a:t>75 </a:t>
            </a:r>
            <a:r>
              <a:rPr lang="zh-CN" altLang="en-US"/>
              <a:t>次真实 </a:t>
            </a:r>
            <a:r>
              <a:rPr lang="en-US" altLang="zh-CN"/>
              <a:t>API </a:t>
            </a:r>
            <a:r>
              <a:rPr lang="zh-CN" altLang="en-US"/>
              <a:t>响应；单实例并发一致性覆盖 </a:t>
            </a:r>
            <a:r>
              <a:rPr lang="en-US" altLang="zh-CN"/>
              <a:t>20 </a:t>
            </a:r>
            <a:r>
              <a:rPr lang="zh-CN" altLang="en-US"/>
              <a:t>个场景和 </a:t>
            </a:r>
            <a:r>
              <a:rPr lang="en-US" altLang="zh-CN"/>
              <a:t>393 </a:t>
            </a:r>
            <a:r>
              <a:rPr lang="zh-CN" altLang="en-US"/>
              <a:t>次请求，最大场景 </a:t>
            </a:r>
            <a:r>
              <a:rPr lang="en-US" altLang="zh-CN"/>
              <a:t>P95 </a:t>
            </a:r>
            <a:r>
              <a:rPr lang="zh-CN" altLang="en-US"/>
              <a:t>为 </a:t>
            </a:r>
            <a:r>
              <a:rPr lang="en-US" altLang="zh-CN"/>
              <a:t>117 ms</a:t>
            </a:r>
            <a:r>
              <a:rPr lang="zh-CN" altLang="en-US"/>
              <a:t>；双实例覆盖 </a:t>
            </a:r>
            <a:r>
              <a:rPr lang="en-US" altLang="zh-CN"/>
              <a:t>6 </a:t>
            </a:r>
            <a:r>
              <a:rPr lang="zh-CN" altLang="en-US"/>
              <a:t>个场景和 </a:t>
            </a:r>
            <a:r>
              <a:rPr lang="en-US" altLang="zh-CN"/>
              <a:t>125 </a:t>
            </a:r>
            <a:r>
              <a:rPr lang="zh-CN" altLang="en-US"/>
              <a:t>次请求，最大场景 </a:t>
            </a:r>
            <a:r>
              <a:rPr lang="en-US" altLang="zh-CN"/>
              <a:t>P95 </a:t>
            </a:r>
            <a:r>
              <a:rPr lang="zh-CN" altLang="en-US"/>
              <a:t>为 </a:t>
            </a:r>
            <a:r>
              <a:rPr lang="en-US" altLang="zh-CN"/>
              <a:t>119 ms</a:t>
            </a:r>
            <a:r>
              <a:rPr lang="zh-CN" altLang="en-US"/>
              <a:t>；浏览器完成 </a:t>
            </a:r>
            <a:r>
              <a:rPr lang="en-US" altLang="zh-CN"/>
              <a:t>86 </a:t>
            </a:r>
            <a:r>
              <a:rPr lang="zh-CN" altLang="en-US"/>
              <a:t>个路由检查、</a:t>
            </a:r>
            <a:r>
              <a:rPr lang="en-US" altLang="zh-CN"/>
              <a:t>248 </a:t>
            </a:r>
            <a:r>
              <a:rPr lang="zh-CN" altLang="en-US"/>
              <a:t>次 </a:t>
            </a:r>
            <a:r>
              <a:rPr lang="en-US" altLang="zh-CN"/>
              <a:t>API </a:t>
            </a:r>
            <a:r>
              <a:rPr lang="zh-CN" altLang="en-US"/>
              <a:t>响应和 </a:t>
            </a:r>
            <a:r>
              <a:rPr lang="en-US" altLang="zh-CN"/>
              <a:t>3968 </a:t>
            </a:r>
            <a:r>
              <a:rPr lang="zh-CN" altLang="en-US"/>
              <a:t>次总网络响应。</a:t>
            </a:r>
            <a:r>
              <a:rPr lang="en-US" altLang="zh-CN"/>
              <a:t>27 </a:t>
            </a:r>
            <a:r>
              <a:rPr lang="zh-CN" altLang="en-US"/>
              <a:t>个外键关系、领域不变量、</a:t>
            </a:r>
            <a:r>
              <a:rPr lang="en-US" altLang="zh-CN"/>
              <a:t>Redis TTL</a:t>
            </a:r>
            <a:r>
              <a:rPr lang="zh-CN" altLang="en-US"/>
              <a:t>、</a:t>
            </a:r>
            <a:r>
              <a:rPr lang="en-US" altLang="zh-CN"/>
              <a:t>Redis/RabbitMQ </a:t>
            </a:r>
            <a:r>
              <a:rPr lang="zh-CN" altLang="en-US"/>
              <a:t>故障恢复与队列消费均通过。最终并发套件保留 </a:t>
            </a:r>
            <a:r>
              <a:rPr lang="en-US" altLang="zh-CN"/>
              <a:t>2 </a:t>
            </a:r>
            <a:r>
              <a:rPr lang="zh-CN" altLang="en-US"/>
              <a:t>条发送到虚构 </a:t>
            </a:r>
            <a:r>
              <a:rPr lang="en-US" altLang="zh-CN"/>
              <a:t>.local </a:t>
            </a:r>
            <a:r>
              <a:rPr lang="zh-CN" altLang="en-US"/>
              <a:t>地址的可补偿通知任务，用于验证邮件失败恢复路径。当前数字是正确性证据，不是容量基准；双实例证据不包含共享文件存储。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Verification summary: docs/verification-report.md.</a:t>
            </a:r>
          </a:p>
          <a:p>
            <a:r>
              <a:rPr lang="en-US" altLang="zh-CN"/>
              <a:t>- Single-instance concurrency: frontend/dark-room-library-web/test-results/concurrency/report.json.</a:t>
            </a:r>
          </a:p>
          <a:p>
            <a:r>
              <a:rPr lang="en-US" altLang="zh-CN"/>
              <a:t>- Multi-instance concurrency: frontend/dark-room-library-web/test-results/multi-instance/report.json.</a:t>
            </a:r>
          </a:p>
          <a:p>
            <a:r>
              <a:rPr lang="en-US" altLang="zh-CN"/>
              <a:t>- Browser diagnostics: frontend/dark-room-library-web/test-results/browser-diagnostics/report.json.</a:t>
            </a:r>
          </a:p>
          <a:p>
            <a:r>
              <a:rPr lang="en-US" altLang="zh-CN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交付包不包含依赖和本地数据。新环境执行 </a:t>
            </a:r>
            <a:r>
              <a:rPr lang="en-US" altLang="zh-CN"/>
              <a:t>sql/init-dark-room-library.sql</a:t>
            </a:r>
            <a:r>
              <a:rPr lang="zh-CN" altLang="en-US"/>
              <a:t>，后端默认监听 </a:t>
            </a:r>
            <a:r>
              <a:rPr lang="en-US" altLang="zh-CN"/>
              <a:t>20606</a:t>
            </a:r>
            <a:r>
              <a:rPr lang="zh-CN" altLang="en-US"/>
              <a:t>，前端监听 </a:t>
            </a:r>
            <a:r>
              <a:rPr lang="en-US" altLang="zh-CN"/>
              <a:t>5175</a:t>
            </a:r>
            <a:r>
              <a:rPr lang="zh-CN" altLang="en-US"/>
              <a:t>。统一演示密码写在 </a:t>
            </a:r>
            <a:r>
              <a:rPr lang="en-US" altLang="zh-CN"/>
              <a:t>README </a:t>
            </a:r>
            <a:r>
              <a:rPr lang="zh-CN" altLang="en-US"/>
              <a:t>与初始化 </a:t>
            </a:r>
            <a:r>
              <a:rPr lang="en-US" altLang="zh-CN"/>
              <a:t>SQL </a:t>
            </a:r>
            <a:r>
              <a:rPr lang="zh-CN" altLang="en-US"/>
              <a:t>中，仅用于本地验收；面向公网部署前必须删除演示账号或逐个改密。中间件默认关闭，可在核心功能跑通后通过环境变量启用。</a:t>
            </a:r>
          </a:p>
          <a:p>
            <a:endParaRPr lang="zh-CN" altLang="en-US"/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- README.md and sql/init-dark-room-library.sql.</a:t>
            </a:r>
          </a:p>
          <a:p>
            <a:r>
              <a:rPr lang="en-US" altLang="zh-CN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这页说明系统级取舍。当前代码已经统一为 Vue 3 + Vite 和 Spring Boot 3，并保留模块化单体与单库本地事务；不为了叙事拆微服务，也不在没有收益时强上 TCC 或 Elasticsearch。若未来真正拆分跨服务流程，再引入 transactional outbox、幂等消费和显式补偿。Git 在项目中途加入，因此首次提交明确标记为审查后的公开基线，不伪造课程阶段和暑假早期的提交。</a:t>
            </a:r>
          </a:p>
          <a:p>
            <a:endParaRPr/>
          </a:p>
          <a:p>
            <a:r>
              <a:t>[Sources]</a:t>
            </a:r>
          </a:p>
          <a:p>
            <a:r>
              <a:t>- Architecture review: docs/architecture-review.md.</a:t>
            </a:r>
          </a:p>
          <a:p>
            <a:r>
              <a:t>- Project history: docs/project-history.md.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结尾回到开场：项目的价值不是罗列 Controller 或数据表，而是业务、权限、数据和基础设施形成闭环；一致性边界、降级限制和测试证据都公开写清。当前版本可以运行、测试、解释和交付，历史说明只记录真实发生的中途 Git 采用、课程实现机会和暑假重构。</a:t>
            </a:r>
          </a:p>
          <a:p>
            <a:endParaRPr/>
          </a:p>
          <a:p>
            <a:r>
              <a:t>[Sources]</a:t>
            </a:r>
          </a:p>
          <a:p>
            <a:r>
              <a:t>- Project documentation: README.md, docs/project-history.md, docs/architecture-review.md, docs/verification-report.md.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D0A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23900" y="1390650"/>
            <a:ext cx="47625" cy="2762250"/>
          </a:xfrm>
          <a:prstGeom prst="rect">
            <a:avLst/>
          </a:prstGeom>
          <a:solidFill>
            <a:srgbClr val="A74A3C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" y="14859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B48A55"/>
                </a:solidFill>
              </a:defRPr>
            </a:pPr>
            <a:r>
              <a:rPr sz="1050" b="1">
                <a:solidFill>
                  <a:srgbClr val="B48A55"/>
                </a:solidFill>
              </a:rPr>
              <a:t>SPRING BOOT 3 × VUE 3 + VITE</a:t>
            </a:r>
          </a:p>
        </p:txBody>
      </p:sp>
      <p:sp>
        <p:nvSpPr>
          <p:cNvPr id="5" name="deck-title"/>
          <p:cNvSpPr>
            <a:spLocks noGrp="1"/>
          </p:cNvSpPr>
          <p:nvPr/>
        </p:nvSpPr>
        <p:spPr>
          <a:xfrm>
            <a:off x="990600" y="1943100"/>
            <a:ext cx="590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350" b="1">
                <a:solidFill>
                  <a:srgbClr val="F7F3EA"/>
                </a:solidFill>
              </a:defRPr>
            </a:pPr>
            <a:r>
              <a:rPr sz="4350" b="1">
                <a:solidFill>
                  <a:srgbClr val="F7F3EA"/>
                </a:solidFill>
              </a:rPr>
              <a:t>暗室藏书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14650"/>
            <a:ext cx="676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D8DDD8"/>
                </a:solidFill>
              </a:defRPr>
            </a:pPr>
            <a:r>
              <a:rPr sz="1725" b="0">
                <a:solidFill>
                  <a:srgbClr val="D8DDD8"/>
                </a:solidFill>
              </a:rPr>
              <a:t>一套把借阅、互动、采购、审计与降级真正连起来的图书管理系统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8671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B8C1BA"/>
                </a:solidFill>
              </a:defRPr>
            </a:pPr>
            <a:r>
              <a:rPr sz="1050" b="0">
                <a:solidFill>
                  <a:srgbClr val="B8C1BA"/>
                </a:solidFill>
              </a:rPr>
              <a:t>项目介绍 · 2026.07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572750" y="592455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650" b="1">
                <a:solidFill>
                  <a:srgbClr val="F7F3EA"/>
                </a:solidFill>
              </a:defRPr>
            </a:pPr>
            <a:r>
              <a:rPr sz="1650" b="1">
                <a:solidFill>
                  <a:srgbClr val="F7F3EA"/>
                </a:solidFill>
              </a:rPr>
              <a:t>DRL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A74A3C"/>
                </a:solidFill>
              </a:defRPr>
            </a:pPr>
            <a:r>
              <a:rPr sz="900" b="1">
                <a:solidFill>
                  <a:srgbClr val="A74A3C"/>
                </a:solidFill>
              </a:rPr>
              <a:t>01 · WHAT IT IS</a:t>
            </a:r>
          </a:p>
        </p:txBody>
      </p:sp>
      <p:sp>
        <p:nvSpPr>
          <p:cNvPr id="3" name="slide-2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C"/>
                </a:solidFill>
              </a:defRPr>
            </a:pPr>
            <a:r>
              <a:rPr sz="2700" b="1">
                <a:solidFill>
                  <a:srgbClr val="17201C"/>
                </a:solidFill>
              </a:rPr>
              <a:t>它不止管理书，还管理一条完整链路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766F"/>
                </a:solidFill>
              </a:defRPr>
            </a:pPr>
            <a:r>
              <a:rPr sz="1200" b="0">
                <a:solidFill>
                  <a:srgbClr val="6E766F"/>
                </a:solidFill>
              </a:rPr>
              <a:t>前台让读者愿意停留，后台让每一次流转都有结果。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AAA29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AAA294"/>
                </a:solidFill>
              </a:defRPr>
            </a:pPr>
            <a:r>
              <a:rPr sz="750" b="0">
                <a:solidFill>
                  <a:srgbClr val="AAA294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AAA294"/>
                </a:solidFill>
              </a:defRPr>
            </a:pPr>
            <a:r>
              <a:rPr sz="825" b="1">
                <a:solidFill>
                  <a:srgbClr val="AAA294"/>
                </a:solidFill>
              </a:rPr>
              <a:t>02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192405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A74A3C"/>
                </a:solidFill>
              </a:defRPr>
            </a:pPr>
            <a:r>
              <a:rPr sz="1650" b="1">
                <a:solidFill>
                  <a:srgbClr val="A74A3C"/>
                </a:solidFill>
              </a:rPr>
              <a:t>流通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94310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借书、归还、续借、预约与罚款</a:t>
            </a: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704850" y="2333625"/>
            <a:ext cx="4191000" cy="0"/>
          </a:xfrm>
          <a:prstGeom prst="line">
            <a:avLst/>
          </a:prstGeom>
          <a:noFill/>
          <a:ln w="9525">
            <a:solidFill>
              <a:srgbClr val="B8B0A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27432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5E8074"/>
                </a:solidFill>
              </a:defRPr>
            </a:pPr>
            <a:r>
              <a:rPr sz="1650" b="1">
                <a:solidFill>
                  <a:srgbClr val="5E8074"/>
                </a:solidFill>
              </a:rPr>
              <a:t>内容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657350" y="27622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书评、点赞、回复、举报与审核</a:t>
            </a: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704850" y="3152775"/>
            <a:ext cx="4191000" cy="0"/>
          </a:xfrm>
          <a:prstGeom prst="line">
            <a:avLst/>
          </a:prstGeom>
          <a:noFill/>
          <a:ln w="9525">
            <a:solidFill>
              <a:srgbClr val="B8B0A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356235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B48A55"/>
                </a:solidFill>
              </a:defRPr>
            </a:pPr>
            <a:r>
              <a:rPr sz="1650" b="1">
                <a:solidFill>
                  <a:srgbClr val="B48A55"/>
                </a:solidFill>
              </a:rPr>
              <a:t>供应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58140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低库存、采购、物流、入库补货</a:t>
            </a: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704850" y="3971925"/>
            <a:ext cx="4191000" cy="0"/>
          </a:xfrm>
          <a:prstGeom prst="line">
            <a:avLst/>
          </a:prstGeom>
          <a:noFill/>
          <a:ln w="9525">
            <a:solidFill>
              <a:srgbClr val="B8B0A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04850" y="43815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6352F"/>
                </a:solidFill>
              </a:defRPr>
            </a:pPr>
            <a:r>
              <a:rPr sz="1650" b="1">
                <a:solidFill>
                  <a:srgbClr val="26352F"/>
                </a:solidFill>
              </a:rPr>
              <a:t>治理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657350" y="44005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权限、文件、通知、日志与导出</a:t>
            </a: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04850" y="4791075"/>
            <a:ext cx="4191000" cy="0"/>
          </a:xfrm>
          <a:prstGeom prst="line">
            <a:avLst/>
          </a:prstGeom>
          <a:noFill/>
          <a:ln w="9525">
            <a:solidFill>
              <a:srgbClr val="B8B0A2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5410200" y="1714500"/>
            <a:ext cx="6076950" cy="4286250"/>
          </a:xfrm>
          <a:prstGeom prst="roundRect">
            <a:avLst>
              <a:gd name="adj" fmla="val 0"/>
            </a:avLst>
          </a:prstGeom>
          <a:solidFill>
            <a:srgbClr val="E4DED0"/>
          </a:solidFill>
          <a:ln w="9525">
            <a:solidFill>
              <a:srgbClr val="B8B0A2"/>
            </a:solidFill>
            <a:prstDash val="solid"/>
          </a:ln>
        </p:spPr>
      </p:sp>
      <p:pic>
        <p:nvPicPr>
          <p:cNvPr id="43" name="图片 4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84521" y="1771650"/>
            <a:ext cx="4928308" cy="417195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723900" y="54483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A74A3C"/>
                </a:solidFill>
              </a:defRPr>
            </a:pPr>
            <a:r>
              <a:rPr sz="975" b="1">
                <a:solidFill>
                  <a:srgbClr val="A74A3C"/>
                </a:solidFill>
              </a:rPr>
              <a:t>一句话理解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23900" y="5676900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E766F"/>
                </a:solidFill>
              </a:defRPr>
            </a:pPr>
            <a:r>
              <a:rPr sz="1350" b="0">
                <a:solidFill>
                  <a:srgbClr val="6E766F"/>
                </a:solidFill>
              </a:rPr>
              <a:t>让一本书从“被发现”到“被归还、被补货、被审计”都有明确去处。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B48A55"/>
                </a:solidFill>
              </a:defRPr>
            </a:pPr>
            <a:r>
              <a:rPr sz="900" b="1">
                <a:solidFill>
                  <a:srgbClr val="B48A55"/>
                </a:solidFill>
              </a:rPr>
              <a:t>02 · PEOPLE</a:t>
            </a:r>
          </a:p>
        </p:txBody>
      </p:sp>
      <p:sp>
        <p:nvSpPr>
          <p:cNvPr id="3" name="slide-3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F7F3EA"/>
                </a:solidFill>
              </a:defRPr>
            </a:pPr>
            <a:r>
              <a:rPr sz="2700" b="1">
                <a:solidFill>
                  <a:srgbClr val="F7F3EA"/>
                </a:solidFill>
              </a:rPr>
              <a:t>五类角色共同完成一件事：让书真正流动起来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每个人只看见职责范围内的数据，跨岗位协作必须留痕。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66736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736C"/>
                </a:solidFill>
              </a:defRPr>
            </a:pPr>
            <a:r>
              <a:rPr sz="750" b="0">
                <a:solidFill>
                  <a:srgbClr val="66736C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66736C"/>
                </a:solidFill>
              </a:defRPr>
            </a:pPr>
            <a:r>
              <a:rPr sz="825" b="1">
                <a:solidFill>
                  <a:srgbClr val="66736C"/>
                </a:solidFill>
              </a:rPr>
              <a:t>03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2190750"/>
            <a:ext cx="1733550" cy="1390650"/>
          </a:xfrm>
          <a:prstGeom prst="roundRect">
            <a:avLst>
              <a:gd name="adj" fmla="val 4110"/>
            </a:avLst>
          </a:prstGeom>
          <a:solidFill>
            <a:srgbClr val="1B2822"/>
          </a:solidFill>
          <a:ln w="9525">
            <a:solidFill>
              <a:srgbClr val="876F85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读者</a:t>
            </a:r>
          </a:p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借阅互动</a:t>
            </a:r>
          </a:p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提出真实需求</a:t>
            </a: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952750" y="2190750"/>
            <a:ext cx="1733550" cy="1390650"/>
          </a:xfrm>
          <a:prstGeom prst="roundRect">
            <a:avLst>
              <a:gd name="adj" fmla="val 4110"/>
            </a:avLst>
          </a:prstGeom>
          <a:solidFill>
            <a:srgbClr val="1B2822"/>
          </a:solidFill>
          <a:ln w="9525">
            <a:solidFill>
              <a:srgbClr val="B48A55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管理员</a:t>
            </a:r>
          </a:p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馆藏流通</a:t>
            </a:r>
          </a:p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内容与需求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181600" y="2190750"/>
            <a:ext cx="1733550" cy="1390650"/>
          </a:xfrm>
          <a:prstGeom prst="roundRect">
            <a:avLst>
              <a:gd name="adj" fmla="val 4110"/>
            </a:avLst>
          </a:prstGeom>
          <a:solidFill>
            <a:srgbClr val="1B2822"/>
          </a:solidFill>
          <a:ln w="9525">
            <a:solidFill>
              <a:srgbClr val="5E8074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采购员</a:t>
            </a:r>
          </a:p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认领采购</a:t>
            </a:r>
          </a:p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连接物流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410450" y="2190750"/>
            <a:ext cx="1733550" cy="1390650"/>
          </a:xfrm>
          <a:prstGeom prst="roundRect">
            <a:avLst>
              <a:gd name="adj" fmla="val 4110"/>
            </a:avLst>
          </a:prstGeom>
          <a:solidFill>
            <a:srgbClr val="1B2822"/>
          </a:solidFill>
          <a:ln w="9525">
            <a:solidFill>
              <a:srgbClr val="73869B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物流员</a:t>
            </a:r>
          </a:p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运输到馆</a:t>
            </a:r>
          </a:p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完成入库</a:t>
            </a: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9639300" y="2190750"/>
            <a:ext cx="1733550" cy="1390650"/>
          </a:xfrm>
          <a:prstGeom prst="roundRect">
            <a:avLst>
              <a:gd name="adj" fmla="val 4110"/>
            </a:avLst>
          </a:prstGeom>
          <a:solidFill>
            <a:srgbClr val="1B2822"/>
          </a:solidFill>
          <a:ln w="9525">
            <a:solidFill>
              <a:srgbClr val="A74A3C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超级管理员</a:t>
            </a:r>
          </a:p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全局控制</a:t>
            </a:r>
          </a:p>
          <a:p>
            <a:pPr algn="ctr"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审计与授权</a:t>
            </a:r>
          </a:p>
        </p:txBody>
      </p:sp>
      <p:cxnSp>
        <p:nvCxnSpPr>
          <p:cNvPr id="150" name="直接箭头连接符 29"/>
          <p:cNvCxnSpPr>
            <a:stCxn id="7" idx="3"/>
            <a:endCxn id="8" idx="1"/>
          </p:cNvCxnSpPr>
          <p:nvPr/>
        </p:nvCxnSpPr>
        <p:spPr>
          <a:xfrm>
            <a:off x="2457450" y="2886075"/>
            <a:ext cx="495300" cy="0"/>
          </a:xfrm>
          <a:prstGeom prst="straightConnector1">
            <a:avLst/>
          </a:prstGeom>
          <a:ln w="19050">
            <a:solidFill>
              <a:srgbClr val="68776F"/>
            </a:solidFill>
            <a:prstDash val="solid"/>
            <a:tailEnd type="arrow" w="med" len="med"/>
          </a:ln>
        </p:spPr>
      </p:cxnSp>
      <p:cxnSp>
        <p:nvCxnSpPr>
          <p:cNvPr id="151" name="直接箭头连接符 30"/>
          <p:cNvCxnSpPr>
            <a:stCxn id="8" idx="3"/>
            <a:endCxn id="9" idx="1"/>
          </p:cNvCxnSpPr>
          <p:nvPr/>
        </p:nvCxnSpPr>
        <p:spPr>
          <a:xfrm>
            <a:off x="4686300" y="2886075"/>
            <a:ext cx="495300" cy="0"/>
          </a:xfrm>
          <a:prstGeom prst="straightConnector1">
            <a:avLst/>
          </a:prstGeom>
          <a:ln w="19050">
            <a:solidFill>
              <a:srgbClr val="68776F"/>
            </a:solidFill>
            <a:prstDash val="solid"/>
            <a:tailEnd type="arrow" w="med" len="med"/>
          </a:ln>
        </p:spPr>
      </p:cxnSp>
      <p:cxnSp>
        <p:nvCxnSpPr>
          <p:cNvPr id="152" name="直接箭头连接符 31"/>
          <p:cNvCxnSpPr>
            <a:stCxn id="9" idx="3"/>
            <a:endCxn id="10" idx="1"/>
          </p:cNvCxnSpPr>
          <p:nvPr/>
        </p:nvCxnSpPr>
        <p:spPr>
          <a:xfrm>
            <a:off x="6915150" y="2886075"/>
            <a:ext cx="495300" cy="0"/>
          </a:xfrm>
          <a:prstGeom prst="straightConnector1">
            <a:avLst/>
          </a:prstGeom>
          <a:ln w="19050">
            <a:solidFill>
              <a:srgbClr val="68776F"/>
            </a:solidFill>
            <a:prstDash val="solid"/>
            <a:tailEnd type="arrow" w="med" len="med"/>
          </a:ln>
        </p:spPr>
      </p:cxnSp>
      <p:cxnSp>
        <p:nvCxnSpPr>
          <p:cNvPr id="153" name="直接箭头连接符 32"/>
          <p:cNvCxnSpPr>
            <a:stCxn id="10" idx="3"/>
            <a:endCxn id="11" idx="1"/>
          </p:cNvCxnSpPr>
          <p:nvPr/>
        </p:nvCxnSpPr>
        <p:spPr>
          <a:xfrm>
            <a:off x="9144000" y="2886075"/>
            <a:ext cx="495300" cy="0"/>
          </a:xfrm>
          <a:prstGeom prst="straightConnector1">
            <a:avLst/>
          </a:prstGeom>
          <a:ln w="19050">
            <a:solidFill>
              <a:srgbClr val="68776F"/>
            </a:solidFill>
            <a:prstDash val="solid"/>
            <a:tailEnd type="arrow" w="med" len="med"/>
          </a:ln>
        </p:spPr>
      </p:cxnSp>
      <p:sp>
        <p:nvSpPr>
          <p:cNvPr id="16" name="圆角矩形 15"/>
          <p:cNvSpPr>
            <a:spLocks noGrp="1"/>
          </p:cNvSpPr>
          <p:nvPr/>
        </p:nvSpPr>
        <p:spPr>
          <a:xfrm>
            <a:off x="723900" y="4171950"/>
            <a:ext cx="10668000" cy="1066800"/>
          </a:xfrm>
          <a:prstGeom prst="roundRect">
            <a:avLst>
              <a:gd name="adj" fmla="val 5357"/>
            </a:avLst>
          </a:prstGeom>
          <a:solidFill>
            <a:srgbClr val="202E27"/>
          </a:solidFill>
          <a:ln w="9525">
            <a:solidFill>
              <a:srgbClr val="4B5B53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71550" y="4410075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B48A55"/>
                </a:solidFill>
              </a:defRPr>
            </a:pPr>
            <a:r>
              <a:rPr sz="1650" b="1">
                <a:solidFill>
                  <a:srgbClr val="B48A55"/>
                </a:solidFill>
              </a:rPr>
              <a:t>馆务协调权限不是第六类角色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38650" y="4333875"/>
            <a:ext cx="657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B8C1BA"/>
                </a:solidFill>
              </a:defRPr>
            </a:pPr>
            <a:r>
              <a:rPr sz="1275" b="0">
                <a:solidFill>
                  <a:srgbClr val="B8C1BA"/>
                </a:solidFill>
              </a:rPr>
              <a:t>它是超级管理员授予普通管理员的协调能力：可以跨管理员处理采购事项，但仍不能触碰文件治理、完整导出和超级管理员权限。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A74A3C"/>
                </a:solidFill>
              </a:defRPr>
            </a:pPr>
            <a:r>
              <a:rPr sz="900" b="1">
                <a:solidFill>
                  <a:srgbClr val="A74A3C"/>
                </a:solidFill>
              </a:rPr>
              <a:t>03 · READER JOURNEY</a:t>
            </a:r>
          </a:p>
        </p:txBody>
      </p:sp>
      <p:sp>
        <p:nvSpPr>
          <p:cNvPr id="3" name="slide-4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C"/>
                </a:solidFill>
              </a:defRPr>
            </a:pPr>
            <a:r>
              <a:rPr sz="2700" b="1">
                <a:solidFill>
                  <a:srgbClr val="17201C"/>
                </a:solidFill>
              </a:rPr>
              <a:t>读者看到的是一间书房，背后是一套完整服务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766F"/>
                </a:solidFill>
              </a:defRPr>
            </a:pPr>
            <a:r>
              <a:rPr sz="1200" b="0">
                <a:solidFill>
                  <a:srgbClr val="6E766F"/>
                </a:solidFill>
              </a:rPr>
              <a:t>氛围负责邀请用户进入，清晰的操作负责让用户留下。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AAA29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AAA294"/>
                </a:solidFill>
              </a:defRPr>
            </a:pPr>
            <a:r>
              <a:rPr sz="750" b="0">
                <a:solidFill>
                  <a:srgbClr val="AAA294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AAA294"/>
                </a:solidFill>
              </a:defRPr>
            </a:pPr>
            <a:r>
              <a:rPr sz="825" b="1">
                <a:solidFill>
                  <a:srgbClr val="AAA294"/>
                </a:solidFill>
              </a:rPr>
              <a:t>04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28650" y="1695450"/>
            <a:ext cx="6934200" cy="4267200"/>
          </a:xfrm>
          <a:prstGeom prst="roundRect">
            <a:avLst>
              <a:gd name="adj" fmla="val 0"/>
            </a:avLst>
          </a:prstGeom>
          <a:solidFill>
            <a:srgbClr val="E4DED0"/>
          </a:solidFill>
          <a:ln w="9525">
            <a:solidFill>
              <a:srgbClr val="B8B0A2"/>
            </a:solidFill>
            <a:prstDash val="solid"/>
          </a:ln>
        </p:spPr>
      </p:sp>
      <p:pic>
        <p:nvPicPr>
          <p:cNvPr id="26" name="图片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1752600"/>
            <a:ext cx="6819900" cy="41529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8020050" y="19621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A74A3C"/>
                </a:solidFill>
              </a:defRPr>
            </a:pPr>
            <a:r>
              <a:rPr sz="1575" b="1">
                <a:solidFill>
                  <a:srgbClr val="A74A3C"/>
                </a:solidFill>
              </a:rPr>
              <a:t>找书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915400" y="1971675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检索、分类筛选、详情与库存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20050" y="285750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A74A3C"/>
                </a:solidFill>
              </a:defRPr>
            </a:pPr>
            <a:r>
              <a:rPr sz="1575" b="1">
                <a:solidFill>
                  <a:srgbClr val="A74A3C"/>
                </a:solidFill>
              </a:rPr>
              <a:t>借书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915400" y="2867025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并发保护、配额与预约归属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20050" y="375285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A74A3C"/>
                </a:solidFill>
              </a:defRPr>
            </a:pPr>
            <a:r>
              <a:rPr sz="1575" b="1">
                <a:solidFill>
                  <a:srgbClr val="A74A3C"/>
                </a:solidFill>
              </a:rPr>
              <a:t>管理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15400" y="3762375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我的借阅、续借、预约、收藏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20050" y="4648200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A74A3C"/>
                </a:solidFill>
              </a:defRPr>
            </a:pPr>
            <a:r>
              <a:rPr sz="1575" b="1">
                <a:solidFill>
                  <a:srgbClr val="A74A3C"/>
                </a:solidFill>
              </a:rPr>
              <a:t>交流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15400" y="4657725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留言附件、书评、点赞与回复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20050" y="56197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5E8074"/>
                </a:solidFill>
              </a:defRPr>
            </a:pPr>
            <a:r>
              <a:rPr sz="1200" b="1">
                <a:solidFill>
                  <a:srgbClr val="5E8074"/>
                </a:solidFill>
              </a:rPr>
              <a:t>夜间沉浸 / 白天清朗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B48A55"/>
                </a:solidFill>
              </a:defRPr>
            </a:pPr>
            <a:r>
              <a:rPr sz="900" b="1">
                <a:solidFill>
                  <a:srgbClr val="B48A55"/>
                </a:solidFill>
              </a:rPr>
              <a:t>04 · CORE TRANSACTION</a:t>
            </a:r>
          </a:p>
        </p:txBody>
      </p:sp>
      <p:sp>
        <p:nvSpPr>
          <p:cNvPr id="3" name="slide-5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F7F3EA"/>
                </a:solidFill>
              </a:defRPr>
            </a:pPr>
            <a:r>
              <a:rPr sz="2700" b="1">
                <a:solidFill>
                  <a:srgbClr val="F7F3EA"/>
                </a:solidFill>
              </a:rPr>
              <a:t>借阅正确性的核心只有一句：库存永不为负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最终库存只认 MySQL；Redis 不保存最终库存。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66736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736C"/>
                </a:solidFill>
              </a:defRPr>
            </a:pPr>
            <a:r>
              <a:rPr sz="750" b="0">
                <a:solidFill>
                  <a:srgbClr val="66736C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66736C"/>
                </a:solidFill>
              </a:defRPr>
            </a:pPr>
            <a:r>
              <a:rPr sz="825" b="1">
                <a:solidFill>
                  <a:srgbClr val="66736C"/>
                </a:solidFill>
              </a:rPr>
              <a:t>05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81050" y="2286000"/>
            <a:ext cx="2152650" cy="1428750"/>
          </a:xfrm>
          <a:prstGeom prst="roundRect">
            <a:avLst>
              <a:gd name="adj" fmla="val 5333"/>
            </a:avLst>
          </a:prstGeom>
          <a:solidFill>
            <a:srgbClr val="1B2822"/>
          </a:solidFill>
          <a:ln w="9525">
            <a:solidFill>
              <a:srgbClr val="46574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24193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B48A55"/>
                </a:solidFill>
              </a:defRPr>
            </a:pPr>
            <a:r>
              <a:rPr sz="1800" b="1">
                <a:solidFill>
                  <a:srgbClr val="B48A55"/>
                </a:solidFill>
              </a:rPr>
              <a:t>1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28670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7F3EA"/>
                </a:solidFill>
              </a:defRPr>
            </a:pPr>
            <a:r>
              <a:rPr sz="1500" b="1">
                <a:solidFill>
                  <a:srgbClr val="F7F3EA"/>
                </a:solidFill>
              </a:rPr>
              <a:t>校验读者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3267075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账号状态、配额</a:t>
            </a: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486150" y="2286000"/>
            <a:ext cx="2152650" cy="1428750"/>
          </a:xfrm>
          <a:prstGeom prst="roundRect">
            <a:avLst>
              <a:gd name="adj" fmla="val 5333"/>
            </a:avLst>
          </a:prstGeom>
          <a:solidFill>
            <a:srgbClr val="1B2822"/>
          </a:solidFill>
          <a:ln w="9525">
            <a:solidFill>
              <a:srgbClr val="46574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57600" y="24193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B48A55"/>
                </a:solidFill>
              </a:defRPr>
            </a:pPr>
            <a:r>
              <a:rPr sz="1800" b="1">
                <a:solidFill>
                  <a:srgbClr val="B48A55"/>
                </a:solidFill>
              </a:rPr>
              <a:t>2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76650" y="28670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7F3EA"/>
                </a:solidFill>
              </a:defRPr>
            </a:pPr>
            <a:r>
              <a:rPr sz="1500" b="1">
                <a:solidFill>
                  <a:srgbClr val="F7F3EA"/>
                </a:solidFill>
              </a:rPr>
              <a:t>校验图书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76650" y="3267075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在架、预约归属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191250" y="2286000"/>
            <a:ext cx="2152650" cy="1428750"/>
          </a:xfrm>
          <a:prstGeom prst="roundRect">
            <a:avLst>
              <a:gd name="adj" fmla="val 5333"/>
            </a:avLst>
          </a:prstGeom>
          <a:solidFill>
            <a:srgbClr val="1B2822"/>
          </a:solidFill>
          <a:ln w="9525">
            <a:solidFill>
              <a:srgbClr val="A74A3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362700" y="24193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A74A3C"/>
                </a:solidFill>
              </a:defRPr>
            </a:pPr>
            <a:r>
              <a:rPr sz="1800" b="1">
                <a:solidFill>
                  <a:srgbClr val="A74A3C"/>
                </a:solidFill>
              </a:rPr>
              <a:t>3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81750" y="28670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7F3EA"/>
                </a:solidFill>
              </a:defRPr>
            </a:pPr>
            <a:r>
              <a:rPr sz="1500" b="1">
                <a:solidFill>
                  <a:srgbClr val="F7F3EA"/>
                </a:solidFill>
              </a:rPr>
              <a:t>条件扣库存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81750" y="3267075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available_num &gt; 0</a:t>
            </a: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896350" y="2286000"/>
            <a:ext cx="2152650" cy="1428750"/>
          </a:xfrm>
          <a:prstGeom prst="roundRect">
            <a:avLst>
              <a:gd name="adj" fmla="val 5333"/>
            </a:avLst>
          </a:prstGeom>
          <a:solidFill>
            <a:srgbClr val="1B2822"/>
          </a:solidFill>
          <a:ln w="9525">
            <a:solidFill>
              <a:srgbClr val="46574E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067800" y="241935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B48A55"/>
                </a:solidFill>
              </a:defRPr>
            </a:pPr>
            <a:r>
              <a:rPr sz="1800" b="1">
                <a:solidFill>
                  <a:srgbClr val="B48A55"/>
                </a:solidFill>
              </a:rPr>
              <a:t>4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86850" y="28670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7F3EA"/>
                </a:solidFill>
              </a:defRPr>
            </a:pPr>
            <a:r>
              <a:rPr sz="1500" b="1">
                <a:solidFill>
                  <a:srgbClr val="F7F3EA"/>
                </a:solidFill>
              </a:rPr>
              <a:t>写借阅记录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86850" y="3267075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同一事务提交</a:t>
            </a:r>
          </a:p>
        </p:txBody>
      </p:sp>
      <p:cxnSp>
        <p:nvCxnSpPr>
          <p:cNvPr id="251" name="直接箭头连接符 50"/>
          <p:cNvCxnSpPr>
            <a:stCxn id="7" idx="3"/>
            <a:endCxn id="11" idx="1"/>
          </p:cNvCxnSpPr>
          <p:nvPr/>
        </p:nvCxnSpPr>
        <p:spPr>
          <a:xfrm>
            <a:off x="2933700" y="3000375"/>
            <a:ext cx="552450" cy="0"/>
          </a:xfrm>
          <a:prstGeom prst="straightConnector1">
            <a:avLst/>
          </a:prstGeom>
          <a:ln w="19050">
            <a:solidFill>
              <a:srgbClr val="5E8074"/>
            </a:solidFill>
            <a:prstDash val="solid"/>
            <a:tailEnd type="arrow" w="med" len="med"/>
          </a:ln>
        </p:spPr>
      </p:cxnSp>
      <p:cxnSp>
        <p:nvCxnSpPr>
          <p:cNvPr id="252" name="直接箭头连接符 51"/>
          <p:cNvCxnSpPr>
            <a:stCxn id="11" idx="3"/>
            <a:endCxn id="15" idx="1"/>
          </p:cNvCxnSpPr>
          <p:nvPr/>
        </p:nvCxnSpPr>
        <p:spPr>
          <a:xfrm>
            <a:off x="5638800" y="3000375"/>
            <a:ext cx="552450" cy="0"/>
          </a:xfrm>
          <a:prstGeom prst="straightConnector1">
            <a:avLst/>
          </a:prstGeom>
          <a:ln w="19050">
            <a:solidFill>
              <a:srgbClr val="5E8074"/>
            </a:solidFill>
            <a:prstDash val="solid"/>
            <a:tailEnd type="arrow" w="med" len="med"/>
          </a:ln>
        </p:spPr>
      </p:cxnSp>
      <p:cxnSp>
        <p:nvCxnSpPr>
          <p:cNvPr id="253" name="直接箭头连接符 52"/>
          <p:cNvCxnSpPr>
            <a:stCxn id="15" idx="3"/>
            <a:endCxn id="19" idx="1"/>
          </p:cNvCxnSpPr>
          <p:nvPr/>
        </p:nvCxnSpPr>
        <p:spPr>
          <a:xfrm>
            <a:off x="8343900" y="3000375"/>
            <a:ext cx="552450" cy="0"/>
          </a:xfrm>
          <a:prstGeom prst="straightConnector1">
            <a:avLst/>
          </a:prstGeom>
          <a:ln w="19050">
            <a:solidFill>
              <a:srgbClr val="5E8074"/>
            </a:solidFill>
            <a:prstDash val="solid"/>
            <a:tailEnd type="arrow" w="med" len="med"/>
          </a:ln>
        </p:spPr>
      </p:cxnSp>
      <p:sp>
        <p:nvSpPr>
          <p:cNvPr id="26" name="圆角矩形 25"/>
          <p:cNvSpPr>
            <a:spLocks noGrp="1"/>
          </p:cNvSpPr>
          <p:nvPr/>
        </p:nvSpPr>
        <p:spPr>
          <a:xfrm>
            <a:off x="781050" y="4381500"/>
            <a:ext cx="10267950" cy="990600"/>
          </a:xfrm>
          <a:prstGeom prst="roundRect">
            <a:avLst>
              <a:gd name="adj" fmla="val 4808"/>
            </a:avLst>
          </a:prstGeom>
          <a:solidFill>
            <a:srgbClr val="0D1310"/>
          </a:solidFill>
          <a:ln w="9525">
            <a:solidFill>
              <a:srgbClr val="3E4D45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4619625"/>
            <a:ext cx="969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B9D6CB"/>
                </a:solidFill>
              </a:defRPr>
            </a:pPr>
            <a:r>
              <a:rPr sz="1275" b="1">
                <a:solidFill>
                  <a:srgbClr val="B9D6CB"/>
                </a:solidFill>
              </a:rPr>
              <a:t>UPDATE book SET available_num = available_num - 1 WHERE id = ? AND available_num &gt; 0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428750" y="5010150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多个读者同时抢最后一本时，只有一条更新会成功；失败请求不会产生借阅记录。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A74A3C"/>
                </a:solidFill>
              </a:defRPr>
            </a:pPr>
            <a:r>
              <a:rPr sz="900" b="1">
                <a:solidFill>
                  <a:srgbClr val="A74A3C"/>
                </a:solidFill>
              </a:rPr>
              <a:t>05 · AFTER BORROWING</a:t>
            </a:r>
          </a:p>
        </p:txBody>
      </p:sp>
      <p:sp>
        <p:nvSpPr>
          <p:cNvPr id="3" name="slide-6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C"/>
                </a:solidFill>
              </a:defRPr>
            </a:pPr>
            <a:r>
              <a:rPr sz="2700" b="1">
                <a:solidFill>
                  <a:srgbClr val="17201C"/>
                </a:solidFill>
              </a:rPr>
              <a:t>预约、续借、罚款补上了借书之后的空白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766F"/>
                </a:solidFill>
              </a:defRPr>
            </a:pPr>
            <a:r>
              <a:rPr sz="1200" b="0">
                <a:solidFill>
                  <a:srgbClr val="6E766F"/>
                </a:solidFill>
              </a:rPr>
              <a:t>规则不隐藏在代码里，而是形成可解释、可验收的状态。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AAA29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AAA294"/>
                </a:solidFill>
              </a:defRPr>
            </a:pPr>
            <a:r>
              <a:rPr sz="750" b="0">
                <a:solidFill>
                  <a:srgbClr val="AAA294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AAA294"/>
                </a:solidFill>
              </a:defRPr>
            </a:pPr>
            <a:r>
              <a:rPr sz="825" b="1">
                <a:solidFill>
                  <a:srgbClr val="AAA294"/>
                </a:solidFill>
              </a:rPr>
              <a:t>06</a:t>
            </a: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723900" y="1885950"/>
            <a:ext cx="3238500" cy="0"/>
          </a:xfrm>
          <a:prstGeom prst="line">
            <a:avLst/>
          </a:prstGeom>
          <a:noFill/>
          <a:ln w="38100">
            <a:solidFill>
              <a:srgbClr val="A74A3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0955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A74A3C"/>
                </a:solidFill>
              </a:defRPr>
            </a:pPr>
            <a:r>
              <a:rPr sz="2025" b="1">
                <a:solidFill>
                  <a:srgbClr val="A74A3C"/>
                </a:solidFill>
              </a:rPr>
              <a:t>预约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724150"/>
            <a:ext cx="314325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• 无库存才进入 FIFO 队列</a:t>
            </a:r>
          </a:p>
          <a:p>
            <a:endParaRPr sz="1350"/>
          </a:p>
          <a:p>
            <a:pPr algn="l">
              <a:buNone/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• 每位读者有有效预约上限</a:t>
            </a:r>
          </a:p>
          <a:p>
            <a:endParaRPr sz="1350"/>
          </a:p>
          <a:p>
            <a:pPr algn="l">
              <a:buNone/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• 归还后通知最早预约人</a:t>
            </a:r>
          </a:p>
          <a:p>
            <a:endParaRPr sz="1350"/>
          </a:p>
          <a:p>
            <a:pPr algn="l">
              <a:buNone/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• 48 小时未取自动过期</a:t>
            </a: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4362450" y="1885950"/>
            <a:ext cx="3238500" cy="0"/>
          </a:xfrm>
          <a:prstGeom prst="line">
            <a:avLst/>
          </a:prstGeom>
          <a:noFill/>
          <a:ln w="38100">
            <a:solidFill>
              <a:srgbClr val="5E807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362450" y="20955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5E8074"/>
                </a:solidFill>
              </a:defRPr>
            </a:pPr>
            <a:r>
              <a:rPr sz="2025" b="1">
                <a:solidFill>
                  <a:srgbClr val="5E8074"/>
                </a:solidFill>
              </a:rPr>
              <a:t>续借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62450" y="2724150"/>
            <a:ext cx="314325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• 每条借阅最多一次</a:t>
            </a:r>
          </a:p>
          <a:p>
            <a:endParaRPr sz="1350"/>
          </a:p>
          <a:p>
            <a:pPr algn="l">
              <a:buNone/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• 仅到期前三天开放</a:t>
            </a:r>
          </a:p>
          <a:p>
            <a:endParaRPr sz="1350"/>
          </a:p>
          <a:p>
            <a:pPr algn="l">
              <a:buNone/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• 存在预约队列时禁止</a:t>
            </a:r>
          </a:p>
          <a:p>
            <a:endParaRPr sz="1350"/>
          </a:p>
          <a:p>
            <a:pPr algn="l">
              <a:buNone/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• 当天发送一次邮件提醒</a:t>
            </a: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8001000" y="1885950"/>
            <a:ext cx="3238500" cy="0"/>
          </a:xfrm>
          <a:prstGeom prst="line">
            <a:avLst/>
          </a:prstGeom>
          <a:noFill/>
          <a:ln w="38100">
            <a:solidFill>
              <a:srgbClr val="B48A5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001000" y="20955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B48A55"/>
                </a:solidFill>
              </a:defRPr>
            </a:pPr>
            <a:r>
              <a:rPr sz="2025" b="1">
                <a:solidFill>
                  <a:srgbClr val="B48A55"/>
                </a:solidFill>
              </a:rPr>
              <a:t>逾期罚款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01000" y="2724150"/>
            <a:ext cx="314325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• 按逾期天数计算</a:t>
            </a:r>
          </a:p>
          <a:p>
            <a:endParaRPr sz="1350"/>
          </a:p>
          <a:p>
            <a:pPr algn="l">
              <a:buNone/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• 金额不超过图书价格</a:t>
            </a:r>
          </a:p>
          <a:p>
            <a:endParaRPr sz="1350"/>
          </a:p>
          <a:p>
            <a:pPr algn="l">
              <a:buNone/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• 归还时恢复库存</a:t>
            </a:r>
          </a:p>
          <a:p>
            <a:endParaRPr sz="1350"/>
          </a:p>
          <a:p>
            <a:pPr algn="l">
              <a:buNone/>
              <a:defRPr sz="1350" b="0">
                <a:solidFill>
                  <a:srgbClr val="17201C"/>
                </a:solidFill>
              </a:defRPr>
            </a:pPr>
            <a:r>
              <a:rPr sz="1350" b="0">
                <a:solidFill>
                  <a:srgbClr val="17201C"/>
                </a:solidFill>
              </a:rPr>
              <a:t>• 邮件失败不回滚还书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23900" y="5429250"/>
            <a:ext cx="10668000" cy="590550"/>
          </a:xfrm>
          <a:prstGeom prst="roundRect">
            <a:avLst>
              <a:gd name="adj" fmla="val 6452"/>
            </a:avLst>
          </a:prstGeom>
          <a:solidFill>
            <a:srgbClr val="E4DED0"/>
          </a:solidFill>
          <a:ln w="9525">
            <a:solidFill>
              <a:srgbClr val="B8B0A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04900" y="5591175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6352F"/>
                </a:solidFill>
              </a:defRPr>
            </a:pPr>
            <a:r>
              <a:rPr sz="1350" b="1">
                <a:solidFill>
                  <a:srgbClr val="26352F"/>
                </a:solidFill>
              </a:rPr>
              <a:t>预约状态：等待 → 已通知 → 已借阅 / 已取消 / 已过期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B48A55"/>
                </a:solidFill>
              </a:defRPr>
            </a:pPr>
            <a:r>
              <a:rPr sz="900" b="1">
                <a:solidFill>
                  <a:srgbClr val="B48A55"/>
                </a:solidFill>
              </a:rPr>
              <a:t>06 · COMMUNITY</a:t>
            </a:r>
          </a:p>
        </p:txBody>
      </p:sp>
      <p:sp>
        <p:nvSpPr>
          <p:cNvPr id="3" name="slide-7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F7F3EA"/>
                </a:solidFill>
              </a:defRPr>
            </a:pPr>
            <a:r>
              <a:rPr sz="2700" b="1">
                <a:solidFill>
                  <a:srgbClr val="F7F3EA"/>
                </a:solidFill>
              </a:rPr>
              <a:t>读者之间可以互动，但内容必须有人负责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书评从发表到审核形成闭环，而不是只多一张评论表。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66736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736C"/>
                </a:solidFill>
              </a:defRPr>
            </a:pPr>
            <a:r>
              <a:rPr sz="750" b="0">
                <a:solidFill>
                  <a:srgbClr val="66736C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66736C"/>
                </a:solidFill>
              </a:defRPr>
            </a:pPr>
            <a:r>
              <a:rPr sz="825" b="1">
                <a:solidFill>
                  <a:srgbClr val="66736C"/>
                </a:solidFill>
              </a:rPr>
              <a:t>07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215265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B48A55"/>
                </a:solidFill>
              </a:defRPr>
            </a:pPr>
            <a:r>
              <a:rPr sz="1800" b="1">
                <a:solidFill>
                  <a:srgbClr val="B48A55"/>
                </a:solidFill>
              </a:rPr>
              <a:t>发表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250507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B8C1BA"/>
                </a:solidFill>
              </a:defRPr>
            </a:pPr>
            <a:r>
              <a:rPr sz="1275" b="0">
                <a:solidFill>
                  <a:srgbClr val="B8C1BA"/>
                </a:solidFill>
              </a:rPr>
              <a:t>书评与评分</a:t>
            </a: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00100" y="2943225"/>
            <a:ext cx="2667000" cy="0"/>
          </a:xfrm>
          <a:prstGeom prst="line">
            <a:avLst/>
          </a:prstGeom>
          <a:noFill/>
          <a:ln w="9525">
            <a:solidFill>
              <a:srgbClr val="4D5D5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3209925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5E8074"/>
                </a:solidFill>
              </a:defRPr>
            </a:pPr>
            <a:r>
              <a:rPr sz="1800" b="1">
                <a:solidFill>
                  <a:srgbClr val="5E8074"/>
                </a:solidFill>
              </a:rPr>
              <a:t>互动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35623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B8C1BA"/>
                </a:solidFill>
              </a:defRPr>
            </a:pPr>
            <a:r>
              <a:rPr sz="1275" b="0">
                <a:solidFill>
                  <a:srgbClr val="B8C1BA"/>
                </a:solidFill>
              </a:rPr>
              <a:t>最新 / 最热 · 点赞 · 回复</a:t>
            </a: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800100" y="4000500"/>
            <a:ext cx="2667000" cy="0"/>
          </a:xfrm>
          <a:prstGeom prst="line">
            <a:avLst/>
          </a:prstGeom>
          <a:noFill/>
          <a:ln w="9525">
            <a:solidFill>
              <a:srgbClr val="4D5D5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0100" y="42672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A74A3C"/>
                </a:solidFill>
              </a:defRPr>
            </a:pPr>
            <a:r>
              <a:rPr sz="1800" b="1">
                <a:solidFill>
                  <a:srgbClr val="A74A3C"/>
                </a:solidFill>
              </a:rPr>
              <a:t>治理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0100" y="461962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B8C1BA"/>
                </a:solidFill>
              </a:defRPr>
            </a:pPr>
            <a:r>
              <a:rPr sz="1275" b="0">
                <a:solidFill>
                  <a:srgbClr val="B8C1BA"/>
                </a:solidFill>
              </a:rPr>
              <a:t>举报 · 隐藏 · 忽略 · 审计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171950" y="1695450"/>
            <a:ext cx="7239000" cy="4324350"/>
          </a:xfrm>
          <a:prstGeom prst="roundRect">
            <a:avLst>
              <a:gd name="adj" fmla="val 0"/>
            </a:avLst>
          </a:prstGeom>
          <a:solidFill>
            <a:srgbClr val="26322C"/>
          </a:solidFill>
          <a:ln w="9525">
            <a:solidFill>
              <a:srgbClr val="536259"/>
            </a:solidFill>
            <a:prstDash val="solid"/>
          </a:ln>
        </p:spPr>
      </p:sp>
      <p:pic>
        <p:nvPicPr>
          <p:cNvPr id="33" name="图片 3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29100" y="1752600"/>
            <a:ext cx="7124700" cy="4210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A74A3C"/>
                </a:solidFill>
              </a:defRPr>
            </a:pPr>
            <a:r>
              <a:rPr sz="900" b="1">
                <a:solidFill>
                  <a:srgbClr val="A74A3C"/>
                </a:solidFill>
              </a:rPr>
              <a:t>07 · SUPPLY CHAIN</a:t>
            </a:r>
          </a:p>
        </p:txBody>
      </p:sp>
      <p:sp>
        <p:nvSpPr>
          <p:cNvPr id="3" name="slide-8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C"/>
                </a:solidFill>
              </a:defRPr>
            </a:pPr>
            <a:r>
              <a:rPr sz="2700" b="1">
                <a:solidFill>
                  <a:srgbClr val="17201C"/>
                </a:solidFill>
              </a:rPr>
              <a:t>低库存不再只是告警，它会走到真正入库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766F"/>
                </a:solidFill>
              </a:defRPr>
            </a:pPr>
            <a:r>
              <a:rPr sz="1200" b="0">
                <a:solidFill>
                  <a:srgbClr val="6E766F"/>
                </a:solidFill>
              </a:rPr>
              <a:t>采购与物流使用同一订单状态，但通信通道严格隔离。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AAA29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AAA294"/>
                </a:solidFill>
              </a:defRPr>
            </a:pPr>
            <a:r>
              <a:rPr sz="750" b="0">
                <a:solidFill>
                  <a:srgbClr val="AAA294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AAA294"/>
                </a:solidFill>
              </a:defRPr>
            </a:pPr>
            <a:r>
              <a:rPr sz="825" b="1">
                <a:solidFill>
                  <a:srgbClr val="AAA294"/>
                </a:solidFill>
              </a:rPr>
              <a:t>08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124450" y="1638300"/>
            <a:ext cx="6343650" cy="4552950"/>
          </a:xfrm>
          <a:prstGeom prst="roundRect">
            <a:avLst>
              <a:gd name="adj" fmla="val 0"/>
            </a:avLst>
          </a:prstGeom>
          <a:solidFill>
            <a:srgbClr val="E4DED0"/>
          </a:solidFill>
          <a:ln w="9525">
            <a:solidFill>
              <a:srgbClr val="B8B0A2"/>
            </a:solidFill>
            <a:prstDash val="solid"/>
          </a:ln>
        </p:spPr>
      </p:sp>
      <p:pic>
        <p:nvPicPr>
          <p:cNvPr id="154" name="图片 2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81600" y="1697732"/>
            <a:ext cx="6229350" cy="4434086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742950" y="1847850"/>
            <a:ext cx="1771650" cy="723900"/>
          </a:xfrm>
          <a:prstGeom prst="roundRect">
            <a:avLst>
              <a:gd name="adj" fmla="val 6579"/>
            </a:avLst>
          </a:prstGeom>
          <a:solidFill>
            <a:srgbClr val="F8F5ED"/>
          </a:solidFill>
          <a:ln w="9525">
            <a:solidFill>
              <a:srgbClr val="B8B0A2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7201C"/>
                </a:solidFill>
              </a:defRPr>
            </a:pPr>
            <a:r>
              <a:rPr sz="1200" b="1">
                <a:solidFill>
                  <a:srgbClr val="17201C"/>
                </a:solidFill>
              </a:rPr>
              <a:t>管理员</a:t>
            </a:r>
          </a:p>
          <a:p>
            <a:pPr algn="ctr">
              <a:buNone/>
              <a:defRPr sz="1200" b="1">
                <a:solidFill>
                  <a:srgbClr val="17201C"/>
                </a:solidFill>
              </a:defRPr>
            </a:pPr>
            <a:r>
              <a:rPr sz="1200" b="1">
                <a:solidFill>
                  <a:srgbClr val="17201C"/>
                </a:solidFill>
              </a:rPr>
              <a:t>创建需求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42950" y="2838450"/>
            <a:ext cx="1771650" cy="723900"/>
          </a:xfrm>
          <a:prstGeom prst="roundRect">
            <a:avLst>
              <a:gd name="adj" fmla="val 6579"/>
            </a:avLst>
          </a:prstGeom>
          <a:solidFill>
            <a:srgbClr val="E4DED0"/>
          </a:solidFill>
          <a:ln w="9525">
            <a:solidFill>
              <a:srgbClr val="B8B0A2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7201C"/>
                </a:solidFill>
              </a:defRPr>
            </a:pPr>
            <a:r>
              <a:rPr sz="1200" b="1">
                <a:solidFill>
                  <a:srgbClr val="17201C"/>
                </a:solidFill>
              </a:rPr>
              <a:t>采购员</a:t>
            </a:r>
          </a:p>
          <a:p>
            <a:pPr algn="ctr">
              <a:buNone/>
              <a:defRPr sz="1200" b="1">
                <a:solidFill>
                  <a:srgbClr val="17201C"/>
                </a:solidFill>
              </a:defRPr>
            </a:pPr>
            <a:r>
              <a:rPr sz="1200" b="1">
                <a:solidFill>
                  <a:srgbClr val="17201C"/>
                </a:solidFill>
              </a:rPr>
              <a:t>认领 / 下单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42950" y="3829050"/>
            <a:ext cx="1771650" cy="723900"/>
          </a:xfrm>
          <a:prstGeom prst="roundRect">
            <a:avLst>
              <a:gd name="adj" fmla="val 6579"/>
            </a:avLst>
          </a:prstGeom>
          <a:solidFill>
            <a:srgbClr val="F8F5ED"/>
          </a:solidFill>
          <a:ln w="9525">
            <a:solidFill>
              <a:srgbClr val="B8B0A2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7201C"/>
                </a:solidFill>
              </a:defRPr>
            </a:pPr>
            <a:r>
              <a:rPr sz="1200" b="1">
                <a:solidFill>
                  <a:srgbClr val="17201C"/>
                </a:solidFill>
              </a:rPr>
              <a:t>物流员</a:t>
            </a:r>
          </a:p>
          <a:p>
            <a:pPr algn="ctr">
              <a:buNone/>
              <a:defRPr sz="1200" b="1">
                <a:solidFill>
                  <a:srgbClr val="17201C"/>
                </a:solidFill>
              </a:defRPr>
            </a:pPr>
            <a:r>
              <a:rPr sz="1200" b="1">
                <a:solidFill>
                  <a:srgbClr val="17201C"/>
                </a:solidFill>
              </a:rPr>
              <a:t>运输 / 到馆</a:t>
            </a: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42950" y="4819650"/>
            <a:ext cx="1771650" cy="723900"/>
          </a:xfrm>
          <a:prstGeom prst="roundRect">
            <a:avLst>
              <a:gd name="adj" fmla="val 6579"/>
            </a:avLst>
          </a:prstGeom>
          <a:solidFill>
            <a:srgbClr val="E4DED0"/>
          </a:solidFill>
          <a:ln w="9525">
            <a:solidFill>
              <a:srgbClr val="A74A3C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7201C"/>
                </a:solidFill>
              </a:defRPr>
            </a:pPr>
            <a:r>
              <a:rPr sz="1200" b="1">
                <a:solidFill>
                  <a:srgbClr val="17201C"/>
                </a:solidFill>
              </a:rPr>
              <a:t>系统</a:t>
            </a:r>
          </a:p>
          <a:p>
            <a:pPr algn="ctr">
              <a:buNone/>
              <a:defRPr sz="1200" b="1">
                <a:solidFill>
                  <a:srgbClr val="17201C"/>
                </a:solidFill>
              </a:defRPr>
            </a:pPr>
            <a:r>
              <a:rPr sz="1200" b="1">
                <a:solidFill>
                  <a:srgbClr val="17201C"/>
                </a:solidFill>
              </a:rPr>
              <a:t>入库补库存</a:t>
            </a:r>
          </a:p>
        </p:txBody>
      </p:sp>
      <p:cxnSp>
        <p:nvCxnSpPr>
          <p:cNvPr id="159" name="直接箭头连接符 30"/>
          <p:cNvCxnSpPr>
            <a:stCxn id="9" idx="2"/>
            <a:endCxn id="10" idx="0"/>
          </p:cNvCxnSpPr>
          <p:nvPr/>
        </p:nvCxnSpPr>
        <p:spPr>
          <a:xfrm>
            <a:off x="1628775" y="2571750"/>
            <a:ext cx="0" cy="266700"/>
          </a:xfrm>
          <a:prstGeom prst="straightConnector1">
            <a:avLst/>
          </a:prstGeom>
          <a:ln w="19050">
            <a:solidFill>
              <a:srgbClr val="5E8074"/>
            </a:solidFill>
            <a:prstDash val="solid"/>
            <a:tailEnd type="arrow" w="med" len="med"/>
          </a:ln>
        </p:spPr>
      </p:cxnSp>
      <p:cxnSp>
        <p:nvCxnSpPr>
          <p:cNvPr id="160" name="直接箭头连接符 31"/>
          <p:cNvCxnSpPr>
            <a:stCxn id="10" idx="2"/>
            <a:endCxn id="11" idx="0"/>
          </p:cNvCxnSpPr>
          <p:nvPr/>
        </p:nvCxnSpPr>
        <p:spPr>
          <a:xfrm>
            <a:off x="1628775" y="3562350"/>
            <a:ext cx="0" cy="266700"/>
          </a:xfrm>
          <a:prstGeom prst="straightConnector1">
            <a:avLst/>
          </a:prstGeom>
          <a:ln w="19050">
            <a:solidFill>
              <a:srgbClr val="5E8074"/>
            </a:solidFill>
            <a:prstDash val="solid"/>
            <a:tailEnd type="arrow" w="med" len="med"/>
          </a:ln>
        </p:spPr>
      </p:cxnSp>
      <p:cxnSp>
        <p:nvCxnSpPr>
          <p:cNvPr id="161" name="直接箭头连接符 32"/>
          <p:cNvCxnSpPr>
            <a:stCxn id="11" idx="2"/>
            <a:endCxn id="12" idx="0"/>
          </p:cNvCxnSpPr>
          <p:nvPr/>
        </p:nvCxnSpPr>
        <p:spPr>
          <a:xfrm>
            <a:off x="1628775" y="4552950"/>
            <a:ext cx="0" cy="266700"/>
          </a:xfrm>
          <a:prstGeom prst="straightConnector1">
            <a:avLst/>
          </a:prstGeom>
          <a:ln w="19050">
            <a:solidFill>
              <a:srgbClr val="5E8074"/>
            </a:solidFill>
            <a:prstDash val="solid"/>
            <a:tailEnd type="arrow" w="med" len="med"/>
          </a:ln>
        </p:spPr>
      </p:cxnSp>
      <p:sp>
        <p:nvSpPr>
          <p:cNvPr id="16" name="矩形 15"/>
          <p:cNvSpPr>
            <a:spLocks noGrp="1"/>
          </p:cNvSpPr>
          <p:nvPr/>
        </p:nvSpPr>
        <p:spPr>
          <a:xfrm>
            <a:off x="2933700" y="20955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A74A3C"/>
                </a:solidFill>
              </a:defRPr>
            </a:pPr>
            <a:r>
              <a:rPr sz="1500" b="1">
                <a:solidFill>
                  <a:srgbClr val="A74A3C"/>
                </a:solidFill>
              </a:rPr>
              <a:t>通信隔离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933700" y="2476500"/>
            <a:ext cx="1943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管理员 ↔ 采购员</a:t>
            </a:r>
          </a:p>
          <a:p>
            <a:endParaRPr sz="1200"/>
          </a:p>
          <a:p>
            <a:pPr algn="l">
              <a:buNone/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采购员 ↔ 物流员</a:t>
            </a:r>
          </a:p>
          <a:p>
            <a:endParaRPr sz="1200"/>
          </a:p>
          <a:p>
            <a:pPr algn="l">
              <a:buNone/>
              <a:defRPr sz="1200" b="0">
                <a:solidFill>
                  <a:srgbClr val="17201C"/>
                </a:solidFill>
              </a:defRPr>
            </a:pPr>
            <a:r>
              <a:rPr sz="1200" b="0">
                <a:solidFill>
                  <a:srgbClr val="17201C"/>
                </a:solidFill>
              </a:rPr>
              <a:t>物流员不能直接调度管理员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5657850"/>
            <a:ext cx="4152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66F"/>
                </a:solidFill>
              </a:defRPr>
            </a:pPr>
            <a:r>
              <a:rPr sz="1125" b="0">
                <a:solidFill>
                  <a:srgbClr val="6E766F"/>
                </a:solidFill>
              </a:rPr>
              <a:t>每次状态变化记录操作者、时间、前后状态和备注；重复入库不会重复增加库存。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B48A55"/>
                </a:solidFill>
              </a:defRPr>
            </a:pPr>
            <a:r>
              <a:rPr sz="900" b="1">
                <a:solidFill>
                  <a:srgbClr val="B48A55"/>
                </a:solidFill>
              </a:rPr>
              <a:t>08 · AUTHORITY</a:t>
            </a:r>
          </a:p>
        </p:txBody>
      </p:sp>
      <p:sp>
        <p:nvSpPr>
          <p:cNvPr id="3" name="slide-9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F7F3EA"/>
                </a:solidFill>
              </a:defRPr>
            </a:pPr>
            <a:r>
              <a:rPr sz="2700" b="1">
                <a:solidFill>
                  <a:srgbClr val="F7F3EA"/>
                </a:solidFill>
              </a:rPr>
              <a:t>效率可以提升，但权力必须与责任一起留下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权限不是只藏在前端菜单里：接口、Service 和数据范围都会再次校验。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66736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736C"/>
                </a:solidFill>
              </a:defRPr>
            </a:pPr>
            <a:r>
              <a:rPr sz="750" b="0">
                <a:solidFill>
                  <a:srgbClr val="66736C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66736C"/>
                </a:solidFill>
              </a:defRPr>
            </a:pPr>
            <a:r>
              <a:rPr sz="825" b="1">
                <a:solidFill>
                  <a:srgbClr val="66736C"/>
                </a:solidFill>
              </a:rPr>
              <a:t>09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28650" y="1704975"/>
            <a:ext cx="6934200" cy="4286250"/>
          </a:xfrm>
          <a:prstGeom prst="roundRect">
            <a:avLst>
              <a:gd name="adj" fmla="val 0"/>
            </a:avLst>
          </a:prstGeom>
          <a:solidFill>
            <a:srgbClr val="26322C"/>
          </a:solidFill>
          <a:ln w="9525">
            <a:solidFill>
              <a:srgbClr val="536259"/>
            </a:solidFill>
            <a:prstDash val="solid"/>
          </a:ln>
        </p:spPr>
      </p:sp>
      <p:pic>
        <p:nvPicPr>
          <p:cNvPr id="25" name="图片 2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942" y="1762125"/>
            <a:ext cx="5995617" cy="417195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7962900" y="18859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A74A3C"/>
                </a:solidFill>
              </a:defRPr>
            </a:pPr>
            <a:r>
              <a:rPr sz="1425" b="1">
                <a:solidFill>
                  <a:srgbClr val="A74A3C"/>
                </a:solidFill>
              </a:rPr>
              <a:t>超级管理员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962900" y="220980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任免角色与馆务协调权限、查看全局审计、治理文件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62900" y="288607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B48A55"/>
                </a:solidFill>
              </a:defRPr>
            </a:pPr>
            <a:r>
              <a:rPr sz="1425" b="1">
                <a:solidFill>
                  <a:srgbClr val="B48A55"/>
                </a:solidFill>
              </a:rPr>
              <a:t>普通管理员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62900" y="3209925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不能修改同级、馆务协调员或超级管理员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962900" y="38862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5E8074"/>
                </a:solidFill>
              </a:defRPr>
            </a:pPr>
            <a:r>
              <a:rPr sz="1425" b="1">
                <a:solidFill>
                  <a:srgbClr val="5E8074"/>
                </a:solidFill>
              </a:rPr>
              <a:t>馆务协调员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962900" y="421005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可跨管理员协调采购，但没有超级管理员专权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962900" y="4886325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A99BB2"/>
                </a:solidFill>
              </a:defRPr>
            </a:pPr>
            <a:r>
              <a:rPr sz="1425" b="1">
                <a:solidFill>
                  <a:srgbClr val="A99BB2"/>
                </a:solidFill>
              </a:rPr>
              <a:t>岗位人员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962900" y="5210175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采购员与物流员只能访问自己的任务和通信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A74A3C"/>
                </a:solidFill>
              </a:defRPr>
            </a:pPr>
            <a:r>
              <a:rPr sz="900" b="1">
                <a:solidFill>
                  <a:srgbClr val="A74A3C"/>
                </a:solidFill>
              </a:rPr>
              <a:t>09 · ARCHITECTURE</a:t>
            </a:r>
          </a:p>
        </p:txBody>
      </p:sp>
      <p:sp>
        <p:nvSpPr>
          <p:cNvPr id="3" name="slide-10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C"/>
                </a:solidFill>
              </a:defRPr>
            </a:pPr>
            <a:r>
              <a:rPr sz="2700" b="1">
                <a:solidFill>
                  <a:srgbClr val="17201C"/>
                </a:solidFill>
              </a:rPr>
              <a:t>单体不等于耦合：边界清楚比服务数量更重要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766F"/>
                </a:solidFill>
              </a:defRPr>
            </a:pPr>
            <a:r>
              <a:rPr sz="1200" b="0">
                <a:solidFill>
                  <a:srgbClr val="6E766F"/>
                </a:solidFill>
              </a:rPr>
              <a:t>业务规则留在 Service，中间件通过适配层接入。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AAA29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AAA294"/>
                </a:solidFill>
              </a:defRPr>
            </a:pPr>
            <a:r>
              <a:rPr sz="750" b="0">
                <a:solidFill>
                  <a:srgbClr val="AAA294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AAA294"/>
                </a:solidFill>
              </a:defRPr>
            </a:pPr>
            <a:r>
              <a:rPr sz="825" b="1">
                <a:solidFill>
                  <a:srgbClr val="AAA294"/>
                </a:solidFill>
              </a:rPr>
              <a:t>10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19150" y="1752600"/>
            <a:ext cx="6667500" cy="628650"/>
          </a:xfrm>
          <a:prstGeom prst="roundRect">
            <a:avLst>
              <a:gd name="adj" fmla="val 7576"/>
            </a:avLst>
          </a:prstGeom>
          <a:solidFill>
            <a:srgbClr val="D9E4DF"/>
          </a:solidFill>
          <a:ln w="9525">
            <a:solidFill>
              <a:srgbClr val="A9A19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18764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17201C"/>
                </a:solidFill>
              </a:defRPr>
            </a:pPr>
            <a:r>
              <a:rPr sz="1425" b="1">
                <a:solidFill>
                  <a:srgbClr val="17201C"/>
                </a:solidFill>
              </a:rPr>
              <a:t>Vue 3 + Vite 表现层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71850" y="1895475"/>
            <a:ext cx="386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66F"/>
                </a:solidFill>
              </a:defRPr>
            </a:pPr>
            <a:r>
              <a:rPr sz="1125" b="0">
                <a:solidFill>
                  <a:srgbClr val="6E766F"/>
                </a:solidFill>
              </a:rPr>
              <a:t>读者端 / 管理端 / 采购物流工作台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19150" y="2590800"/>
            <a:ext cx="6667500" cy="628650"/>
          </a:xfrm>
          <a:prstGeom prst="roundRect">
            <a:avLst>
              <a:gd name="adj" fmla="val 7576"/>
            </a:avLst>
          </a:prstGeom>
          <a:solidFill>
            <a:srgbClr val="E9DFCF"/>
          </a:solidFill>
          <a:ln w="9525">
            <a:solidFill>
              <a:srgbClr val="A9A192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7146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17201C"/>
                </a:solidFill>
              </a:defRPr>
            </a:pPr>
            <a:r>
              <a:rPr sz="1425" b="1">
                <a:solidFill>
                  <a:srgbClr val="17201C"/>
                </a:solidFill>
              </a:rPr>
              <a:t>Controller 接入层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71850" y="2733675"/>
            <a:ext cx="386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66F"/>
                </a:solidFill>
              </a:defRPr>
            </a:pPr>
            <a:r>
              <a:rPr sz="1125" b="0">
                <a:solidFill>
                  <a:srgbClr val="6E766F"/>
                </a:solidFill>
              </a:rPr>
              <a:t>参数校验 / JWT / 限流 / 权限注解</a:t>
            </a: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19150" y="3429000"/>
            <a:ext cx="6667500" cy="628650"/>
          </a:xfrm>
          <a:prstGeom prst="roundRect">
            <a:avLst>
              <a:gd name="adj" fmla="val 7576"/>
            </a:avLst>
          </a:prstGeom>
          <a:solidFill>
            <a:srgbClr val="E5D5CF"/>
          </a:solidFill>
          <a:ln w="9525">
            <a:solidFill>
              <a:srgbClr val="A9A19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35528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17201C"/>
                </a:solidFill>
              </a:defRPr>
            </a:pPr>
            <a:r>
              <a:rPr sz="1425" b="1">
                <a:solidFill>
                  <a:srgbClr val="17201C"/>
                </a:solidFill>
              </a:rPr>
              <a:t>Service 应用与领域层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371850" y="3571875"/>
            <a:ext cx="386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66F"/>
                </a:solidFill>
              </a:defRPr>
            </a:pPr>
            <a:r>
              <a:rPr sz="1125" b="0">
                <a:solidFill>
                  <a:srgbClr val="6E766F"/>
                </a:solidFill>
              </a:rPr>
              <a:t>事务 / 状态 / 角色边界 / 业务编排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19150" y="4267200"/>
            <a:ext cx="6667500" cy="628650"/>
          </a:xfrm>
          <a:prstGeom prst="roundRect">
            <a:avLst>
              <a:gd name="adj" fmla="val 7576"/>
            </a:avLst>
          </a:prstGeom>
          <a:solidFill>
            <a:srgbClr val="D7E0E5"/>
          </a:solidFill>
          <a:ln w="9525">
            <a:solidFill>
              <a:srgbClr val="A9A19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66800" y="43910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17201C"/>
                </a:solidFill>
              </a:defRPr>
            </a:pPr>
            <a:r>
              <a:rPr sz="1425" b="1">
                <a:solidFill>
                  <a:srgbClr val="17201C"/>
                </a:solidFill>
              </a:rPr>
              <a:t>Mapper 数据访问层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71850" y="4410075"/>
            <a:ext cx="386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66F"/>
                </a:solidFill>
              </a:defRPr>
            </a:pPr>
            <a:r>
              <a:rPr sz="1125" b="0">
                <a:solidFill>
                  <a:srgbClr val="6E766F"/>
                </a:solidFill>
              </a:rPr>
              <a:t>MyBatis-Plus 3.5 / Mapper XML / 条件更新</a:t>
            </a: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19150" y="5105400"/>
            <a:ext cx="6667500" cy="628650"/>
          </a:xfrm>
          <a:prstGeom prst="roundRect">
            <a:avLst>
              <a:gd name="adj" fmla="val 7576"/>
            </a:avLst>
          </a:prstGeom>
          <a:solidFill>
            <a:srgbClr val="CCD8D1"/>
          </a:solidFill>
          <a:ln w="9525">
            <a:solidFill>
              <a:srgbClr val="A9A19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66800" y="52292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17201C"/>
                </a:solidFill>
              </a:defRPr>
            </a:pPr>
            <a:r>
              <a:rPr sz="1425" b="1">
                <a:solidFill>
                  <a:srgbClr val="17201C"/>
                </a:solidFill>
              </a:rPr>
              <a:t>MySQL 最终事实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371850" y="5248275"/>
            <a:ext cx="386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66F"/>
                </a:solidFill>
              </a:defRPr>
            </a:pPr>
            <a:r>
              <a:rPr sz="1125" b="0">
                <a:solidFill>
                  <a:srgbClr val="6E766F"/>
                </a:solidFill>
              </a:rPr>
              <a:t>19 张表 / 外键 / 唯一约束 / 审计</a:t>
            </a:r>
          </a:p>
        </p:txBody>
      </p:sp>
      <p:cxnSp>
        <p:nvCxnSpPr>
          <p:cNvPr id="251" name="直接箭头连接符 50"/>
          <p:cNvCxnSpPr>
            <a:stCxn id="7" idx="2"/>
            <a:endCxn id="10" idx="0"/>
          </p:cNvCxnSpPr>
          <p:nvPr/>
        </p:nvCxnSpPr>
        <p:spPr>
          <a:xfrm>
            <a:off x="4152900" y="2381250"/>
            <a:ext cx="0" cy="209550"/>
          </a:xfrm>
          <a:prstGeom prst="straightConnector1">
            <a:avLst/>
          </a:prstGeom>
          <a:ln w="19050">
            <a:solidFill>
              <a:srgbClr val="80948A"/>
            </a:solidFill>
            <a:prstDash val="solid"/>
            <a:tailEnd type="arrow" w="med" len="med"/>
          </a:ln>
        </p:spPr>
      </p:cxnSp>
      <p:cxnSp>
        <p:nvCxnSpPr>
          <p:cNvPr id="252" name="直接箭头连接符 51"/>
          <p:cNvCxnSpPr>
            <a:stCxn id="10" idx="2"/>
            <a:endCxn id="13" idx="0"/>
          </p:cNvCxnSpPr>
          <p:nvPr/>
        </p:nvCxnSpPr>
        <p:spPr>
          <a:xfrm>
            <a:off x="4152900" y="3219450"/>
            <a:ext cx="0" cy="209550"/>
          </a:xfrm>
          <a:prstGeom prst="straightConnector1">
            <a:avLst/>
          </a:prstGeom>
          <a:ln w="19050">
            <a:solidFill>
              <a:srgbClr val="80948A"/>
            </a:solidFill>
            <a:prstDash val="solid"/>
            <a:tailEnd type="arrow" w="med" len="med"/>
          </a:ln>
        </p:spPr>
      </p:cxnSp>
      <p:cxnSp>
        <p:nvCxnSpPr>
          <p:cNvPr id="253" name="直接箭头连接符 52"/>
          <p:cNvCxnSpPr>
            <a:stCxn id="13" idx="2"/>
            <a:endCxn id="16" idx="0"/>
          </p:cNvCxnSpPr>
          <p:nvPr/>
        </p:nvCxnSpPr>
        <p:spPr>
          <a:xfrm>
            <a:off x="4152900" y="4057650"/>
            <a:ext cx="0" cy="209550"/>
          </a:xfrm>
          <a:prstGeom prst="straightConnector1">
            <a:avLst/>
          </a:prstGeom>
          <a:ln w="19050">
            <a:solidFill>
              <a:srgbClr val="80948A"/>
            </a:solidFill>
            <a:prstDash val="solid"/>
            <a:tailEnd type="arrow" w="med" len="med"/>
          </a:ln>
        </p:spPr>
      </p:cxnSp>
      <p:cxnSp>
        <p:nvCxnSpPr>
          <p:cNvPr id="254" name="直接箭头连接符 53"/>
          <p:cNvCxnSpPr>
            <a:stCxn id="16" idx="2"/>
            <a:endCxn id="19" idx="0"/>
          </p:cNvCxnSpPr>
          <p:nvPr/>
        </p:nvCxnSpPr>
        <p:spPr>
          <a:xfrm>
            <a:off x="4152900" y="4895850"/>
            <a:ext cx="0" cy="209550"/>
          </a:xfrm>
          <a:prstGeom prst="straightConnector1">
            <a:avLst/>
          </a:prstGeom>
          <a:ln w="19050">
            <a:solidFill>
              <a:srgbClr val="80948A"/>
            </a:solidFill>
            <a:prstDash val="solid"/>
            <a:tailEnd type="arrow" w="med" len="med"/>
          </a:ln>
        </p:spPr>
      </p:cxnSp>
      <p:sp>
        <p:nvSpPr>
          <p:cNvPr id="26" name="圆角矩形 25"/>
          <p:cNvSpPr>
            <a:spLocks noGrp="1"/>
          </p:cNvSpPr>
          <p:nvPr/>
        </p:nvSpPr>
        <p:spPr>
          <a:xfrm>
            <a:off x="8077200" y="2019300"/>
            <a:ext cx="3257550" cy="2781300"/>
          </a:xfrm>
          <a:prstGeom prst="roundRect">
            <a:avLst>
              <a:gd name="adj" fmla="val 2055"/>
            </a:avLst>
          </a:prstGeom>
          <a:solidFill>
            <a:srgbClr val="FAF7F0"/>
          </a:solidFill>
          <a:ln w="9525">
            <a:solidFill>
              <a:srgbClr val="B8B0A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362950" y="22669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A74A3C"/>
                </a:solidFill>
              </a:defRPr>
            </a:pPr>
            <a:r>
              <a:rPr sz="1725" b="1">
                <a:solidFill>
                  <a:srgbClr val="A74A3C"/>
                </a:solidFill>
              </a:rPr>
              <a:t>基础设施适配层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420100" y="2781300"/>
            <a:ext cx="26098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Redis 缓存</a:t>
            </a:r>
          </a:p>
          <a:p>
            <a:endParaRPr sz="1275"/>
          </a:p>
          <a:p>
            <a:pPr algn="l">
              <a:buNone/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RabbitMQ 事件</a:t>
            </a:r>
          </a:p>
          <a:p>
            <a:endParaRPr sz="1275"/>
          </a:p>
          <a:p>
            <a:pPr algn="l">
              <a:buNone/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邮件与补偿任务</a:t>
            </a:r>
          </a:p>
          <a:p>
            <a:endParaRPr sz="1275"/>
          </a:p>
          <a:p>
            <a:pPr algn="l">
              <a:buNone/>
              <a:defRPr sz="1275" b="0">
                <a:solidFill>
                  <a:srgbClr val="17201C"/>
                </a:solidFill>
              </a:defRPr>
            </a:pPr>
            <a:r>
              <a:rPr sz="1275" b="0">
                <a:solidFill>
                  <a:srgbClr val="17201C"/>
                </a:solidFill>
              </a:rPr>
              <a:t>文件存储与定时清理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324850" y="5143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5E8074"/>
                </a:solidFill>
              </a:defRPr>
            </a:pPr>
            <a:r>
              <a:rPr sz="1350" b="1">
                <a:solidFill>
                  <a:srgbClr val="5E8074"/>
                </a:solidFill>
              </a:rPr>
              <a:t>可替换 · 可关闭 · 可测试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B48A55"/>
                </a:solidFill>
              </a:defRPr>
            </a:pPr>
            <a:r>
              <a:rPr sz="900" b="1">
                <a:solidFill>
                  <a:srgbClr val="B48A55"/>
                </a:solidFill>
              </a:rPr>
              <a:t>10 · DATA MODEL</a:t>
            </a:r>
          </a:p>
        </p:txBody>
      </p:sp>
      <p:sp>
        <p:nvSpPr>
          <p:cNvPr id="3" name="slide-11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F7F3EA"/>
                </a:solidFill>
              </a:defRPr>
            </a:pPr>
            <a:r>
              <a:rPr sz="2700" b="1">
                <a:solidFill>
                  <a:srgbClr val="F7F3EA"/>
                </a:solidFill>
              </a:rPr>
              <a:t>19 张表不是堆出来的，它们按业务责任分组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外键负责引用完整性，唯一约束和状态字段阻止重复动作。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66736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736C"/>
                </a:solidFill>
              </a:defRPr>
            </a:pPr>
            <a:r>
              <a:rPr sz="750" b="0">
                <a:solidFill>
                  <a:srgbClr val="66736C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66736C"/>
                </a:solidFill>
              </a:defRPr>
            </a:pPr>
            <a:r>
              <a:rPr sz="825" b="1">
                <a:solidFill>
                  <a:srgbClr val="66736C"/>
                </a:solidFill>
              </a:rPr>
              <a:t>11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790700"/>
            <a:ext cx="2476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300" b="1">
                <a:solidFill>
                  <a:srgbClr val="A74A3C"/>
                </a:solidFill>
              </a:defRPr>
            </a:pPr>
            <a:r>
              <a:rPr sz="6300" b="1">
                <a:solidFill>
                  <a:srgbClr val="A74A3C"/>
                </a:solidFill>
              </a:rPr>
              <a:t>19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2914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B48A55"/>
                </a:solidFill>
              </a:defRPr>
            </a:pPr>
            <a:r>
              <a:rPr sz="1050" b="1">
                <a:solidFill>
                  <a:srgbClr val="B48A55"/>
                </a:solidFill>
              </a:rPr>
              <a:t>BUSINESS TABLES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42900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B8C1BA"/>
                </a:solidFill>
              </a:defRPr>
            </a:pPr>
            <a:r>
              <a:rPr sz="1275" b="0">
                <a:solidFill>
                  <a:srgbClr val="B8C1BA"/>
                </a:solidFill>
              </a:rPr>
              <a:t>27 条外键约束</a:t>
            </a:r>
          </a:p>
          <a:p>
            <a:pPr algn="l">
              <a:buNone/>
              <a:defRPr sz="1275" b="0">
                <a:solidFill>
                  <a:srgbClr val="B8C1BA"/>
                </a:solidFill>
              </a:defRPr>
            </a:pPr>
            <a:r>
              <a:rPr sz="1275" b="0">
                <a:solidFill>
                  <a:srgbClr val="B8C1BA"/>
                </a:solidFill>
              </a:rPr>
              <a:t>借阅、预约、互动、供应和文件治理各自有表</a:t>
            </a: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4210050" y="1809750"/>
            <a:ext cx="3143250" cy="0"/>
          </a:xfrm>
          <a:prstGeom prst="line">
            <a:avLst/>
          </a:prstGeom>
          <a:noFill/>
          <a:ln w="28575">
            <a:solidFill>
              <a:srgbClr val="A74A3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210050" y="19812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7F3EA"/>
                </a:solidFill>
              </a:defRPr>
            </a:pPr>
            <a:r>
              <a:rPr sz="1500" b="1">
                <a:solidFill>
                  <a:srgbClr val="F7F3EA"/>
                </a:solidFill>
              </a:rPr>
              <a:t>用户与馆藏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10050" y="23622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B8C1BA"/>
                </a:solidFill>
              </a:defRPr>
            </a:pPr>
            <a:r>
              <a:rPr sz="1050" b="0">
                <a:solidFill>
                  <a:srgbClr val="B8C1BA"/>
                </a:solidFill>
              </a:rPr>
              <a:t>user · category · bookshelf · book</a:t>
            </a: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7848600" y="1809750"/>
            <a:ext cx="3143250" cy="0"/>
          </a:xfrm>
          <a:prstGeom prst="line">
            <a:avLst/>
          </a:prstGeom>
          <a:noFill/>
          <a:ln w="28575">
            <a:solidFill>
              <a:srgbClr val="A74A3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48600" y="19812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7F3EA"/>
                </a:solidFill>
              </a:defRPr>
            </a:pPr>
            <a:r>
              <a:rPr sz="1500" b="1">
                <a:solidFill>
                  <a:srgbClr val="F7F3EA"/>
                </a:solidFill>
              </a:rPr>
              <a:t>流通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48600" y="23622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B8C1BA"/>
                </a:solidFill>
              </a:defRPr>
            </a:pPr>
            <a:r>
              <a:rPr sz="1050" b="0">
                <a:solidFill>
                  <a:srgbClr val="B8C1BA"/>
                </a:solidFill>
              </a:rPr>
              <a:t>borrow_record · favorite · reservation</a:t>
            </a: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4210050" y="3067050"/>
            <a:ext cx="3143250" cy="0"/>
          </a:xfrm>
          <a:prstGeom prst="line">
            <a:avLst/>
          </a:prstGeom>
          <a:noFill/>
          <a:ln w="28575">
            <a:solidFill>
              <a:srgbClr val="5E807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210050" y="32385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7F3EA"/>
                </a:solidFill>
              </a:defRPr>
            </a:pPr>
            <a:r>
              <a:rPr sz="1500" b="1">
                <a:solidFill>
                  <a:srgbClr val="F7F3EA"/>
                </a:solidFill>
              </a:rPr>
              <a:t>内容互动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210050" y="36195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B8C1BA"/>
                </a:solidFill>
              </a:defRPr>
            </a:pPr>
            <a:r>
              <a:rPr sz="1050" b="0">
                <a:solidFill>
                  <a:srgbClr val="B8C1BA"/>
                </a:solidFill>
              </a:rPr>
              <a:t>notice · review · like · reply · report · message</a:t>
            </a: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7848600" y="3067050"/>
            <a:ext cx="3143250" cy="0"/>
          </a:xfrm>
          <a:prstGeom prst="line">
            <a:avLst/>
          </a:prstGeom>
          <a:noFill/>
          <a:ln w="28575">
            <a:solidFill>
              <a:srgbClr val="5E807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848600" y="32385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7F3EA"/>
                </a:solidFill>
              </a:defRPr>
            </a:pPr>
            <a:r>
              <a:rPr sz="1500" b="1">
                <a:solidFill>
                  <a:srgbClr val="F7F3EA"/>
                </a:solidFill>
              </a:rPr>
              <a:t>审计通知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48600" y="36195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B8C1BA"/>
                </a:solidFill>
              </a:defRPr>
            </a:pPr>
            <a:r>
              <a:rPr sz="1050" b="0">
                <a:solidFill>
                  <a:srgbClr val="B8C1BA"/>
                </a:solidFill>
              </a:rPr>
              <a:t>operation_log · notification_task</a:t>
            </a: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4210050" y="4324350"/>
            <a:ext cx="3143250" cy="0"/>
          </a:xfrm>
          <a:prstGeom prst="line">
            <a:avLst/>
          </a:prstGeom>
          <a:noFill/>
          <a:ln w="28575">
            <a:solidFill>
              <a:srgbClr val="B48A5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210050" y="44958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7F3EA"/>
                </a:solidFill>
              </a:defRPr>
            </a:pPr>
            <a:r>
              <a:rPr sz="1500" b="1">
                <a:solidFill>
                  <a:srgbClr val="F7F3EA"/>
                </a:solidFill>
              </a:rPr>
              <a:t>采购物流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210050" y="48768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B8C1BA"/>
                </a:solidFill>
              </a:defRPr>
            </a:pPr>
            <a:r>
              <a:rPr sz="1050" b="0">
                <a:solidFill>
                  <a:srgbClr val="B8C1BA"/>
                </a:solidFill>
              </a:rPr>
              <a:t>order · logistics · procurement_message</a:t>
            </a: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7848600" y="4324350"/>
            <a:ext cx="3143250" cy="0"/>
          </a:xfrm>
          <a:prstGeom prst="line">
            <a:avLst/>
          </a:prstGeom>
          <a:noFill/>
          <a:ln w="28575">
            <a:solidFill>
              <a:srgbClr val="B48A55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848600" y="44958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7F3EA"/>
                </a:solidFill>
              </a:defRPr>
            </a:pPr>
            <a:r>
              <a:rPr sz="1500" b="1">
                <a:solidFill>
                  <a:srgbClr val="F7F3EA"/>
                </a:solidFill>
              </a:rPr>
              <a:t>文件治理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848600" y="487680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B8C1BA"/>
                </a:solidFill>
              </a:defRPr>
            </a:pPr>
            <a:r>
              <a:rPr sz="1050" b="0">
                <a:solidFill>
                  <a:srgbClr val="B8C1BA"/>
                </a:solidFill>
              </a:rPr>
              <a:t>stored_file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62000" y="5372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5E8074"/>
                </a:solidFill>
              </a:defRPr>
            </a:pPr>
            <a:r>
              <a:rPr sz="1500" b="1">
                <a:solidFill>
                  <a:srgbClr val="5E8074"/>
                </a:solidFill>
              </a:rPr>
              <a:t>MySQL 是最终事实来源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A74A3C"/>
                </a:solidFill>
              </a:defRPr>
            </a:pPr>
            <a:r>
              <a:rPr sz="900" b="1">
                <a:solidFill>
                  <a:srgbClr val="A74A3C"/>
                </a:solidFill>
              </a:rPr>
              <a:t>11 · RELIABILITY</a:t>
            </a:r>
          </a:p>
        </p:txBody>
      </p:sp>
      <p:sp>
        <p:nvSpPr>
          <p:cNvPr id="3" name="slide-12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C"/>
                </a:solidFill>
              </a:defRPr>
            </a:pPr>
            <a:r>
              <a:rPr sz="2700" b="1">
                <a:solidFill>
                  <a:srgbClr val="17201C"/>
                </a:solidFill>
              </a:rPr>
              <a:t>中间件能加速系统，但不能决定系统能否工作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766F"/>
                </a:solidFill>
              </a:defRPr>
            </a:pPr>
            <a:r>
              <a:rPr sz="1200" b="0">
                <a:solidFill>
                  <a:srgbClr val="6E766F"/>
                </a:solidFill>
              </a:rPr>
              <a:t>正常时走增强路径，故障时自动回到 MySQL、内存或补偿任务。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AAA29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AAA294"/>
                </a:solidFill>
              </a:defRPr>
            </a:pPr>
            <a:r>
              <a:rPr sz="750" b="0">
                <a:solidFill>
                  <a:srgbClr val="AAA294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AAA294"/>
                </a:solidFill>
              </a:defRPr>
            </a:pPr>
            <a:r>
              <a:rPr sz="825" b="1">
                <a:solidFill>
                  <a:srgbClr val="AAA294"/>
                </a:solidFill>
              </a:rPr>
              <a:t>12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42950" y="1962150"/>
            <a:ext cx="3009900" cy="1028700"/>
          </a:xfrm>
          <a:prstGeom prst="roundRect">
            <a:avLst>
              <a:gd name="adj" fmla="val 7407"/>
            </a:avLst>
          </a:prstGeom>
          <a:solidFill>
            <a:srgbClr val="D8E4DF"/>
          </a:solidFill>
          <a:ln w="9525">
            <a:solidFill>
              <a:srgbClr val="5E8074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7201C"/>
                </a:solidFill>
              </a:defRPr>
            </a:pPr>
            <a:r>
              <a:rPr sz="1275" b="1">
                <a:solidFill>
                  <a:srgbClr val="17201C"/>
                </a:solidFill>
              </a:rPr>
              <a:t>Redis 正常</a:t>
            </a:r>
          </a:p>
          <a:p>
            <a:pPr algn="ctr">
              <a:buNone/>
              <a:defRPr sz="1275" b="1">
                <a:solidFill>
                  <a:srgbClr val="17201C"/>
                </a:solidFill>
              </a:defRPr>
            </a:pPr>
            <a:r>
              <a:rPr sz="1275" b="1">
                <a:solidFill>
                  <a:srgbClr val="17201C"/>
                </a:solidFill>
              </a:rPr>
              <a:t>验证码 TTL · 登录风控 · 查询缓存</a:t>
            </a: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591050" y="1962150"/>
            <a:ext cx="3200400" cy="1028700"/>
          </a:xfrm>
          <a:prstGeom prst="roundRect">
            <a:avLst>
              <a:gd name="adj" fmla="val 7407"/>
            </a:avLst>
          </a:prstGeom>
          <a:solidFill>
            <a:srgbClr val="F0E6DA"/>
          </a:solidFill>
          <a:ln w="9525">
            <a:solidFill>
              <a:srgbClr val="B48A55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7201C"/>
                </a:solidFill>
              </a:defRPr>
            </a:pPr>
            <a:r>
              <a:rPr sz="1275" b="1">
                <a:solidFill>
                  <a:srgbClr val="17201C"/>
                </a:solidFill>
              </a:rPr>
              <a:t>Redis 故障</a:t>
            </a:r>
          </a:p>
          <a:p>
            <a:pPr algn="ctr">
              <a:buNone/>
              <a:defRPr sz="1275" b="1">
                <a:solidFill>
                  <a:srgbClr val="17201C"/>
                </a:solidFill>
              </a:defRPr>
            </a:pPr>
            <a:r>
              <a:rPr sz="1275" b="1">
                <a:solidFill>
                  <a:srgbClr val="17201C"/>
                </a:solidFill>
              </a:rPr>
              <a:t>内存验证码 · 内存计数 · 直接查 MySQL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629650" y="2152650"/>
            <a:ext cx="2628900" cy="647700"/>
          </a:xfrm>
          <a:prstGeom prst="roundRect">
            <a:avLst>
              <a:gd name="adj" fmla="val 11765"/>
            </a:avLst>
          </a:prstGeom>
          <a:solidFill>
            <a:srgbClr val="F6F2E9"/>
          </a:solidFill>
          <a:ln w="9525">
            <a:solidFill>
              <a:srgbClr val="A74A3C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201C"/>
                </a:solidFill>
              </a:defRPr>
            </a:pPr>
            <a:r>
              <a:rPr sz="1350" b="1">
                <a:solidFill>
                  <a:srgbClr val="17201C"/>
                </a:solidFill>
              </a:rPr>
              <a:t>核心登录与查询继续</a:t>
            </a:r>
          </a:p>
        </p:txBody>
      </p:sp>
      <p:cxnSp>
        <p:nvCxnSpPr>
          <p:cNvPr id="156" name="直接箭头连接符 27"/>
          <p:cNvCxnSpPr>
            <a:stCxn id="7" idx="3"/>
            <a:endCxn id="8" idx="1"/>
          </p:cNvCxnSpPr>
          <p:nvPr/>
        </p:nvCxnSpPr>
        <p:spPr>
          <a:xfrm>
            <a:off x="3752850" y="2476500"/>
            <a:ext cx="838200" cy="0"/>
          </a:xfrm>
          <a:prstGeom prst="straightConnector1">
            <a:avLst/>
          </a:prstGeom>
          <a:ln w="19050">
            <a:solidFill>
              <a:srgbClr val="5E8074"/>
            </a:solidFill>
            <a:prstDash val="solid"/>
            <a:tailEnd type="arrow" w="med" len="med"/>
          </a:ln>
        </p:spPr>
      </p:cxnSp>
      <p:cxnSp>
        <p:nvCxnSpPr>
          <p:cNvPr id="157" name="直接箭头连接符 28"/>
          <p:cNvCxnSpPr>
            <a:stCxn id="8" idx="3"/>
            <a:endCxn id="9" idx="1"/>
          </p:cNvCxnSpPr>
          <p:nvPr/>
        </p:nvCxnSpPr>
        <p:spPr>
          <a:xfrm>
            <a:off x="7791450" y="2476500"/>
            <a:ext cx="838200" cy="0"/>
          </a:xfrm>
          <a:prstGeom prst="straightConnector1">
            <a:avLst/>
          </a:prstGeom>
          <a:ln w="19050">
            <a:solidFill>
              <a:srgbClr val="A74A3C"/>
            </a:solidFill>
            <a:prstDash val="solid"/>
            <a:tailEnd type="arrow" w="med" len="med"/>
          </a:ln>
        </p:spPr>
      </p:cxnSp>
      <p:sp>
        <p:nvSpPr>
          <p:cNvPr id="12" name="圆角矩形 11"/>
          <p:cNvSpPr>
            <a:spLocks noGrp="1"/>
          </p:cNvSpPr>
          <p:nvPr/>
        </p:nvSpPr>
        <p:spPr>
          <a:xfrm>
            <a:off x="742950" y="3752850"/>
            <a:ext cx="3009900" cy="1028700"/>
          </a:xfrm>
          <a:prstGeom prst="roundRect">
            <a:avLst>
              <a:gd name="adj" fmla="val 7407"/>
            </a:avLst>
          </a:prstGeom>
          <a:solidFill>
            <a:srgbClr val="D8E4DF"/>
          </a:solidFill>
          <a:ln w="9525">
            <a:solidFill>
              <a:srgbClr val="5E8074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7201C"/>
                </a:solidFill>
              </a:defRPr>
            </a:pPr>
            <a:r>
              <a:rPr sz="1275" b="1">
                <a:solidFill>
                  <a:srgbClr val="17201C"/>
                </a:solidFill>
              </a:rPr>
              <a:t>RabbitMQ 正常</a:t>
            </a:r>
          </a:p>
          <a:p>
            <a:pPr algn="ctr">
              <a:buNone/>
              <a:defRPr sz="1275" b="1">
                <a:solidFill>
                  <a:srgbClr val="17201C"/>
                </a:solidFill>
              </a:defRPr>
            </a:pPr>
            <a:r>
              <a:rPr sz="1275" b="1">
                <a:solidFill>
                  <a:srgbClr val="17201C"/>
                </a:solidFill>
              </a:rPr>
              <a:t>预约事件 · 通知异步消费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591050" y="3752850"/>
            <a:ext cx="3200400" cy="1028700"/>
          </a:xfrm>
          <a:prstGeom prst="roundRect">
            <a:avLst>
              <a:gd name="adj" fmla="val 7407"/>
            </a:avLst>
          </a:prstGeom>
          <a:solidFill>
            <a:srgbClr val="F0E6DA"/>
          </a:solidFill>
          <a:ln w="9525">
            <a:solidFill>
              <a:srgbClr val="B48A55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7201C"/>
                </a:solidFill>
              </a:defRPr>
            </a:pPr>
            <a:r>
              <a:rPr sz="1275" b="1">
                <a:solidFill>
                  <a:srgbClr val="17201C"/>
                </a:solidFill>
              </a:rPr>
              <a:t>RabbitMQ / 邮件故障</a:t>
            </a:r>
          </a:p>
          <a:p>
            <a:pPr algn="ctr">
              <a:buNone/>
              <a:defRPr sz="1275" b="1">
                <a:solidFill>
                  <a:srgbClr val="17201C"/>
                </a:solidFill>
              </a:defRPr>
            </a:pPr>
            <a:r>
              <a:rPr sz="1275" b="1">
                <a:solidFill>
                  <a:srgbClr val="17201C"/>
                </a:solidFill>
              </a:rPr>
              <a:t>核心事务完成 · 通知任务补偿</a:t>
            </a: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629650" y="3943350"/>
            <a:ext cx="2628900" cy="647700"/>
          </a:xfrm>
          <a:prstGeom prst="roundRect">
            <a:avLst>
              <a:gd name="adj" fmla="val 11765"/>
            </a:avLst>
          </a:prstGeom>
          <a:solidFill>
            <a:srgbClr val="F6F2E9"/>
          </a:solidFill>
          <a:ln w="9525">
            <a:solidFill>
              <a:srgbClr val="A74A3C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201C"/>
                </a:solidFill>
              </a:defRPr>
            </a:pPr>
            <a:r>
              <a:rPr sz="1350" b="1">
                <a:solidFill>
                  <a:srgbClr val="17201C"/>
                </a:solidFill>
              </a:rPr>
              <a:t>借还与预约事务成功</a:t>
            </a:r>
          </a:p>
        </p:txBody>
      </p:sp>
      <p:cxnSp>
        <p:nvCxnSpPr>
          <p:cNvPr id="161" name="直接箭头连接符 32"/>
          <p:cNvCxnSpPr>
            <a:stCxn id="12" idx="3"/>
            <a:endCxn id="13" idx="1"/>
          </p:cNvCxnSpPr>
          <p:nvPr/>
        </p:nvCxnSpPr>
        <p:spPr>
          <a:xfrm>
            <a:off x="3752850" y="4267200"/>
            <a:ext cx="838200" cy="0"/>
          </a:xfrm>
          <a:prstGeom prst="straightConnector1">
            <a:avLst/>
          </a:prstGeom>
          <a:ln w="19050">
            <a:solidFill>
              <a:srgbClr val="5E8074"/>
            </a:solidFill>
            <a:prstDash val="solid"/>
            <a:tailEnd type="arrow" w="med" len="med"/>
          </a:ln>
        </p:spPr>
      </p:cxnSp>
      <p:cxnSp>
        <p:nvCxnSpPr>
          <p:cNvPr id="162" name="直接箭头连接符 33"/>
          <p:cNvCxnSpPr>
            <a:stCxn id="13" idx="3"/>
            <a:endCxn id="14" idx="1"/>
          </p:cNvCxnSpPr>
          <p:nvPr/>
        </p:nvCxnSpPr>
        <p:spPr>
          <a:xfrm>
            <a:off x="7791450" y="4267200"/>
            <a:ext cx="838200" cy="0"/>
          </a:xfrm>
          <a:prstGeom prst="straightConnector1">
            <a:avLst/>
          </a:prstGeom>
          <a:ln w="19050">
            <a:solidFill>
              <a:srgbClr val="A74A3C"/>
            </a:solidFill>
            <a:prstDash val="solid"/>
            <a:tailEnd type="arrow" w="med" len="med"/>
          </a:ln>
        </p:spPr>
      </p:cxnSp>
      <p:sp>
        <p:nvSpPr>
          <p:cNvPr id="17" name="圆角矩形 16"/>
          <p:cNvSpPr>
            <a:spLocks noGrp="1"/>
          </p:cNvSpPr>
          <p:nvPr/>
        </p:nvSpPr>
        <p:spPr>
          <a:xfrm>
            <a:off x="742950" y="5372100"/>
            <a:ext cx="10515600" cy="571500"/>
          </a:xfrm>
          <a:prstGeom prst="roundRect">
            <a:avLst>
              <a:gd name="adj" fmla="val 6667"/>
            </a:avLst>
          </a:prstGeom>
          <a:solidFill>
            <a:srgbClr val="E4DED0"/>
          </a:solidFill>
          <a:ln w="9525">
            <a:solidFill>
              <a:srgbClr val="B8B0A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23950" y="5534025"/>
            <a:ext cx="975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6352F"/>
                </a:solidFill>
              </a:defRPr>
            </a:pPr>
            <a:r>
              <a:rPr sz="1350" b="1">
                <a:solidFill>
                  <a:srgbClr val="26352F"/>
                </a:solidFill>
              </a:rPr>
              <a:t>原则：消息通知可以晚到，但库存、借阅记录和权限判断不能失真。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B48A55"/>
                </a:solidFill>
              </a:defRPr>
            </a:pPr>
            <a:r>
              <a:rPr sz="900" b="1">
                <a:solidFill>
                  <a:srgbClr val="B48A55"/>
                </a:solidFill>
              </a:rPr>
              <a:t>12 · SAFETY</a:t>
            </a:r>
          </a:p>
        </p:txBody>
      </p:sp>
      <p:sp>
        <p:nvSpPr>
          <p:cNvPr id="3" name="slide-13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F7F3EA"/>
                </a:solidFill>
              </a:defRPr>
            </a:pPr>
            <a:r>
              <a:rPr sz="2700" b="1">
                <a:solidFill>
                  <a:srgbClr val="F7F3EA"/>
                </a:solidFill>
              </a:rPr>
              <a:t>安全不是一个登录框，而是一组连续边界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身份、输入、文件、导出和关键操作都必须能够被追溯。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66736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736C"/>
                </a:solidFill>
              </a:defRPr>
            </a:pPr>
            <a:r>
              <a:rPr sz="750" b="0">
                <a:solidFill>
                  <a:srgbClr val="66736C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66736C"/>
                </a:solidFill>
              </a:defRPr>
            </a:pPr>
            <a:r>
              <a:rPr sz="825" b="1">
                <a:solidFill>
                  <a:srgbClr val="66736C"/>
                </a:solidFill>
              </a:rPr>
              <a:t>13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A74A3C"/>
                </a:solidFill>
              </a:defRPr>
            </a:pPr>
            <a:r>
              <a:rPr sz="1500" b="1">
                <a:solidFill>
                  <a:srgbClr val="A74A3C"/>
                </a:solidFill>
              </a:rPr>
              <a:t>身份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95450" y="1838325"/>
            <a:ext cx="4343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BCrypt · JWT · 数学验证码 · 邮箱验证码用途隔离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2609850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B48A55"/>
                </a:solidFill>
              </a:defRPr>
            </a:pPr>
            <a:r>
              <a:rPr sz="1500" b="1">
                <a:solidFill>
                  <a:srgbClr val="B48A55"/>
                </a:solidFill>
              </a:rPr>
              <a:t>风控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695450" y="2619375"/>
            <a:ext cx="4343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连续失败锁定 · 频率限制 · 可信代理显式开启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3390900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5E8074"/>
                </a:solidFill>
              </a:defRPr>
            </a:pPr>
            <a:r>
              <a:rPr sz="1500" b="1">
                <a:solidFill>
                  <a:srgbClr val="5E8074"/>
                </a:solidFill>
              </a:rPr>
              <a:t>内容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95450" y="3400425"/>
            <a:ext cx="4343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长度限制 · Jsoup 净化 · 富文本白名单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4171950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8296A8"/>
                </a:solidFill>
              </a:defRPr>
            </a:pPr>
            <a:r>
              <a:rPr sz="1500" b="1">
                <a:solidFill>
                  <a:srgbClr val="8296A8"/>
                </a:solidFill>
              </a:rPr>
              <a:t>文件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95450" y="4181475"/>
            <a:ext cx="4343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MIME/扩展名校验 · 权限下载 · HTML 强制下载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2000" y="4953000"/>
            <a:ext cx="91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A997AD"/>
                </a:solidFill>
              </a:defRPr>
            </a:pPr>
            <a:r>
              <a:rPr sz="1500" b="1">
                <a:solidFill>
                  <a:srgbClr val="A997AD"/>
                </a:solidFill>
              </a:rPr>
              <a:t>审计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95450" y="4962525"/>
            <a:ext cx="4343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B8C1BA"/>
                </a:solidFill>
              </a:defRPr>
            </a:pPr>
            <a:r>
              <a:rPr sz="1125" b="0">
                <a:solidFill>
                  <a:srgbClr val="B8C1BA"/>
                </a:solidFill>
              </a:rPr>
              <a:t>角色变化 · 内容审核 · 采购物流 · 文件清理留痕</a:t>
            </a: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496050" y="1676400"/>
            <a:ext cx="4914900" cy="4400550"/>
          </a:xfrm>
          <a:prstGeom prst="roundRect">
            <a:avLst>
              <a:gd name="adj" fmla="val 0"/>
            </a:avLst>
          </a:prstGeom>
          <a:solidFill>
            <a:srgbClr val="26322C"/>
          </a:solidFill>
          <a:ln w="9525">
            <a:solidFill>
              <a:srgbClr val="536259"/>
            </a:solidFill>
            <a:prstDash val="solid"/>
          </a:ln>
        </p:spPr>
      </p:sp>
      <p:pic>
        <p:nvPicPr>
          <p:cNvPr id="38" name="图片 3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53200" y="2011442"/>
            <a:ext cx="4800600" cy="3730466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7124700" y="5753100"/>
            <a:ext cx="3657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B48A55"/>
                </a:solidFill>
              </a:defRPr>
            </a:pPr>
            <a:r>
              <a:rPr sz="1125" b="1">
                <a:solidFill>
                  <a:srgbClr val="B48A55"/>
                </a:solidFill>
              </a:rPr>
              <a:t>动态提示让隐性规则变得可见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A74A3C"/>
                </a:solidFill>
              </a:defRPr>
            </a:pPr>
            <a:r>
              <a:rPr sz="900" b="1">
                <a:solidFill>
                  <a:srgbClr val="A74A3C"/>
                </a:solidFill>
              </a:rPr>
              <a:t>13 · INTERFACE</a:t>
            </a:r>
          </a:p>
        </p:txBody>
      </p:sp>
      <p:sp>
        <p:nvSpPr>
          <p:cNvPr id="3" name="slide-14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C"/>
                </a:solidFill>
              </a:defRPr>
            </a:pPr>
            <a:r>
              <a:rPr sz="2700" b="1">
                <a:solidFill>
                  <a:srgbClr val="17201C"/>
                </a:solidFill>
              </a:rPr>
              <a:t>前台有气质，后台有效率，两者不必长得一样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766F"/>
                </a:solidFill>
              </a:defRPr>
            </a:pPr>
            <a:r>
              <a:rPr sz="1200" b="0">
                <a:solidFill>
                  <a:srgbClr val="6E766F"/>
                </a:solidFill>
              </a:rPr>
              <a:t>同一套书卷语言，用在不同任务上必须有不同密度。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AAA29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AAA294"/>
                </a:solidFill>
              </a:defRPr>
            </a:pPr>
            <a:r>
              <a:rPr sz="750" b="0">
                <a:solidFill>
                  <a:srgbClr val="AAA294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AAA294"/>
                </a:solidFill>
              </a:defRPr>
            </a:pPr>
            <a:r>
              <a:rPr sz="825" b="1">
                <a:solidFill>
                  <a:srgbClr val="AAA294"/>
                </a:solidFill>
              </a:rPr>
              <a:t>14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47700" y="1695450"/>
            <a:ext cx="5219700" cy="3848100"/>
          </a:xfrm>
          <a:prstGeom prst="roundRect">
            <a:avLst>
              <a:gd name="adj" fmla="val 0"/>
            </a:avLst>
          </a:prstGeom>
          <a:solidFill>
            <a:srgbClr val="E4DED0"/>
          </a:solidFill>
          <a:ln w="9525">
            <a:solidFill>
              <a:srgbClr val="B8B0A2"/>
            </a:solidFill>
            <a:prstDash val="solid"/>
          </a:ln>
        </p:spPr>
      </p:sp>
      <p:pic>
        <p:nvPicPr>
          <p:cNvPr id="25" name="图片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4850" y="1752600"/>
            <a:ext cx="5105400" cy="3733800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6324600" y="1695450"/>
            <a:ext cx="5219700" cy="3848100"/>
          </a:xfrm>
          <a:prstGeom prst="roundRect">
            <a:avLst>
              <a:gd name="adj" fmla="val 0"/>
            </a:avLst>
          </a:prstGeom>
          <a:solidFill>
            <a:srgbClr val="E4DED0"/>
          </a:solidFill>
          <a:ln w="9525">
            <a:solidFill>
              <a:srgbClr val="B8B0A2"/>
            </a:solidFill>
            <a:prstDash val="solid"/>
          </a:ln>
        </p:spPr>
      </p:sp>
      <p:pic>
        <p:nvPicPr>
          <p:cNvPr id="27" name="图片 2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384977" y="1752600"/>
            <a:ext cx="3098946" cy="373380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781050" y="5772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A74A3C"/>
                </a:solidFill>
              </a:defRPr>
            </a:pPr>
            <a:r>
              <a:rPr sz="1500" b="1">
                <a:solidFill>
                  <a:srgbClr val="A74A3C"/>
                </a:solidFill>
              </a:rPr>
              <a:t>资料页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28800" y="5791200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66F"/>
                </a:solidFill>
              </a:defRPr>
            </a:pPr>
            <a:r>
              <a:rPr sz="1125" b="0">
                <a:solidFill>
                  <a:srgbClr val="6E766F"/>
                </a:solidFill>
              </a:rPr>
              <a:t>纸面表单、清楚提示、封蜡红保存按钮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0" y="5772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5E8074"/>
                </a:solidFill>
              </a:defRPr>
            </a:pPr>
            <a:r>
              <a:rPr sz="1500" b="1">
                <a:solidFill>
                  <a:srgbClr val="5E8074"/>
                </a:solidFill>
              </a:rPr>
              <a:t>管理端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524750" y="5791200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E766F"/>
                </a:solidFill>
              </a:defRPr>
            </a:pPr>
            <a:r>
              <a:rPr sz="1125" b="0">
                <a:solidFill>
                  <a:srgbClr val="6E766F"/>
                </a:solidFill>
              </a:rPr>
              <a:t>顶部导航、宣纸/竹简主题、清晰表格与图表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57750" y="61912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B48A55"/>
                </a:solidFill>
              </a:defRPr>
            </a:pPr>
            <a:r>
              <a:rPr sz="975" b="1">
                <a:solidFill>
                  <a:srgbClr val="B48A55"/>
                </a:solidFill>
              </a:rPr>
              <a:t>Vite 8 · 86 路由零异常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B48A55"/>
                </a:solidFill>
              </a:defRPr>
            </a:pPr>
            <a:r>
              <a:rPr sz="900" b="1">
                <a:solidFill>
                  <a:srgbClr val="B48A55"/>
                </a:solidFill>
              </a:rPr>
              <a:t>14 · EVIDENCE</a:t>
            </a:r>
          </a:p>
        </p:txBody>
      </p:sp>
      <p:sp>
        <p:nvSpPr>
          <p:cNvPr id="3" name="slide-15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F7F3EA"/>
                </a:solidFill>
              </a:defRPr>
            </a:pPr>
            <a:r>
              <a:rPr sz="2700" b="1">
                <a:solidFill>
                  <a:srgbClr val="F7F3EA"/>
                </a:solidFill>
              </a:rPr>
              <a:t>功能很多不等于可靠；可靠必须有可重复证据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自动测试、真实 API、并发、浏览器与数据库共同给出证据。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66736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736C"/>
                </a:solidFill>
              </a:defRPr>
            </a:pPr>
            <a:r>
              <a:rPr sz="750" b="0">
                <a:solidFill>
                  <a:srgbClr val="66736C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66736C"/>
                </a:solidFill>
              </a:defRPr>
            </a:pPr>
            <a:r>
              <a:rPr sz="825" b="1">
                <a:solidFill>
                  <a:srgbClr val="66736C"/>
                </a:solidFill>
              </a:rPr>
              <a:t>15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180975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200" b="1">
                <a:solidFill>
                  <a:srgbClr val="A74A3C"/>
                </a:solidFill>
              </a:defRPr>
            </a:pPr>
            <a:r>
              <a:rPr sz="4200" b="1">
                <a:solidFill>
                  <a:srgbClr val="A74A3C"/>
                </a:solidFill>
              </a:rPr>
              <a:t>225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667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B8C1BA"/>
                </a:solidFill>
              </a:defRPr>
            </a:pPr>
            <a:r>
              <a:rPr sz="1200" b="1">
                <a:solidFill>
                  <a:srgbClr val="B8C1BA"/>
                </a:solidFill>
              </a:rPr>
              <a:t>后端测试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429000" y="180975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200" b="1">
                <a:solidFill>
                  <a:srgbClr val="5E8074"/>
                </a:solidFill>
              </a:defRPr>
            </a:pPr>
            <a:r>
              <a:rPr sz="4200" b="1">
                <a:solidFill>
                  <a:srgbClr val="5E8074"/>
                </a:solidFill>
              </a:rPr>
              <a:t>31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29000" y="2667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B8C1BA"/>
                </a:solidFill>
              </a:defRPr>
            </a:pPr>
            <a:r>
              <a:rPr sz="1200" b="1">
                <a:solidFill>
                  <a:srgbClr val="B8C1BA"/>
                </a:solidFill>
              </a:rPr>
              <a:t>前端单元测试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34100" y="180975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200" b="1">
                <a:solidFill>
                  <a:srgbClr val="B48A55"/>
                </a:solidFill>
              </a:defRPr>
            </a:pPr>
            <a:r>
              <a:rPr sz="4200" b="1">
                <a:solidFill>
                  <a:srgbClr val="B48A55"/>
                </a:solidFill>
              </a:rPr>
              <a:t>5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34100" y="2667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B8C1BA"/>
                </a:solidFill>
              </a:defRPr>
            </a:pPr>
            <a:r>
              <a:rPr sz="1200" b="1">
                <a:solidFill>
                  <a:srgbClr val="B8C1BA"/>
                </a:solidFill>
              </a:rPr>
              <a:t>角色 E2E 身份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839200" y="180975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200" b="1">
                <a:solidFill>
                  <a:srgbClr val="8896A7"/>
                </a:solidFill>
              </a:defRPr>
            </a:pPr>
            <a:r>
              <a:rPr sz="4200" b="1">
                <a:solidFill>
                  <a:srgbClr val="8896A7"/>
                </a:solidFill>
              </a:rPr>
              <a:t>0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839200" y="2667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B8C1BA"/>
                </a:solidFill>
              </a:defRPr>
            </a:pPr>
            <a:r>
              <a:rPr sz="1200" b="1">
                <a:solidFill>
                  <a:srgbClr val="B8C1BA"/>
                </a:solidFill>
              </a:rPr>
              <a:t>当前失败 / 错误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23900" y="3390900"/>
            <a:ext cx="5086350" cy="2171700"/>
          </a:xfrm>
          <a:prstGeom prst="roundRect">
            <a:avLst>
              <a:gd name="adj" fmla="val 2632"/>
            </a:avLst>
          </a:prstGeom>
          <a:solidFill>
            <a:srgbClr val="0D1310"/>
          </a:solidFill>
          <a:ln w="9525">
            <a:solidFill>
              <a:srgbClr val="3F504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90600" y="36385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F7F3EA"/>
                </a:solidFill>
              </a:defRPr>
            </a:pPr>
            <a:r>
              <a:rPr sz="1575" b="1">
                <a:solidFill>
                  <a:srgbClr val="F7F3EA"/>
                </a:solidFill>
              </a:rPr>
              <a:t>已覆盖的关键风险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90600" y="4095750"/>
            <a:ext cx="43243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• 库存为 1 的并发抢借</a:t>
            </a:r>
          </a:p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• 五角色权限绕过</a:t>
            </a:r>
          </a:p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• 文件类型与下载权限</a:t>
            </a:r>
          </a:p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• 预约、续借、罚款和重复入库</a:t>
            </a:r>
          </a:p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• 输入净化、导出字段与审计日志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229350" y="3390900"/>
            <a:ext cx="5048250" cy="2171700"/>
          </a:xfrm>
          <a:prstGeom prst="roundRect">
            <a:avLst>
              <a:gd name="adj" fmla="val 2632"/>
            </a:avLst>
          </a:prstGeom>
          <a:solidFill>
            <a:srgbClr val="202E27"/>
          </a:solidFill>
          <a:ln w="9525">
            <a:solidFill>
              <a:srgbClr val="4B5B53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515100" y="36385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F7F3EA"/>
                </a:solidFill>
              </a:defRPr>
            </a:pPr>
            <a:r>
              <a:rPr sz="1575" b="1">
                <a:solidFill>
                  <a:srgbClr val="F7F3EA"/>
                </a:solidFill>
              </a:rPr>
              <a:t>真实环境还验证了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15100" y="4095750"/>
            <a:ext cx="4286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>
              <a:buNone/>
            </a:pPr>
            <a:r>
              <a:rPr lang="en-US" altLang="zh-CN" sz="1200">
                <a:solidFill>
                  <a:srgbClr val="B8C1BA"/>
                </a:solidFill>
              </a:rPr>
              <a:t>Redis TTL</a:t>
            </a:r>
            <a:r>
              <a:rPr lang="zh-CN" altLang="en-US" sz="1200">
                <a:solidFill>
                  <a:srgbClr val="B8C1BA"/>
                </a:solidFill>
              </a:rPr>
              <a:t>、故障恢复与队列消费通过</a:t>
            </a:r>
          </a:p>
          <a:p>
            <a:pPr marL="0" indent="0">
              <a:buNone/>
            </a:pPr>
            <a:r>
              <a:rPr lang="zh-CN" altLang="en-US" sz="1200">
                <a:solidFill>
                  <a:srgbClr val="B8C1BA"/>
                </a:solidFill>
              </a:rPr>
              <a:t>五角色完成 </a:t>
            </a:r>
            <a:r>
              <a:rPr lang="en-US" altLang="zh-CN" sz="1200">
                <a:solidFill>
                  <a:srgbClr val="B8C1BA"/>
                </a:solidFill>
              </a:rPr>
              <a:t>75 </a:t>
            </a:r>
            <a:r>
              <a:rPr lang="zh-CN" altLang="en-US" sz="1200">
                <a:solidFill>
                  <a:srgbClr val="B8C1BA"/>
                </a:solidFill>
              </a:rPr>
              <a:t>次真实 </a:t>
            </a:r>
            <a:r>
              <a:rPr lang="en-US" altLang="zh-CN" sz="1200">
                <a:solidFill>
                  <a:srgbClr val="B8C1BA"/>
                </a:solidFill>
              </a:rPr>
              <a:t>API </a:t>
            </a:r>
            <a:r>
              <a:rPr lang="zh-CN" altLang="en-US" sz="1200">
                <a:solidFill>
                  <a:srgbClr val="B8C1BA"/>
                </a:solidFill>
              </a:rPr>
              <a:t>响应</a:t>
            </a:r>
          </a:p>
          <a:p>
            <a:pPr marL="0" indent="0">
              <a:buNone/>
            </a:pPr>
            <a:r>
              <a:rPr lang="zh-CN" altLang="en-US" sz="1200">
                <a:solidFill>
                  <a:srgbClr val="B8C1BA"/>
                </a:solidFill>
              </a:rPr>
              <a:t>单实例：</a:t>
            </a:r>
            <a:r>
              <a:rPr lang="en-US" altLang="zh-CN" sz="1200">
                <a:solidFill>
                  <a:srgbClr val="B8C1BA"/>
                </a:solidFill>
              </a:rPr>
              <a:t>20 </a:t>
            </a:r>
            <a:r>
              <a:rPr lang="zh-CN" altLang="en-US" sz="1200">
                <a:solidFill>
                  <a:srgbClr val="B8C1BA"/>
                </a:solidFill>
              </a:rPr>
              <a:t>场景 </a:t>
            </a:r>
            <a:r>
              <a:rPr lang="en-US" altLang="zh-CN" sz="1200">
                <a:solidFill>
                  <a:srgbClr val="B8C1BA"/>
                </a:solidFill>
              </a:rPr>
              <a:t>/ 393 </a:t>
            </a:r>
            <a:r>
              <a:rPr lang="zh-CN" altLang="en-US" sz="1200">
                <a:solidFill>
                  <a:srgbClr val="B8C1BA"/>
                </a:solidFill>
              </a:rPr>
              <a:t>请求 </a:t>
            </a:r>
            <a:r>
              <a:rPr lang="en-US" altLang="zh-CN" sz="1200">
                <a:solidFill>
                  <a:srgbClr val="B8C1BA"/>
                </a:solidFill>
              </a:rPr>
              <a:t>/ P95 117 ms</a:t>
            </a:r>
          </a:p>
          <a:p>
            <a:pPr marL="0" indent="0">
              <a:buNone/>
            </a:pPr>
            <a:r>
              <a:rPr lang="zh-CN" altLang="en-US" sz="1200">
                <a:solidFill>
                  <a:srgbClr val="B8C1BA"/>
                </a:solidFill>
              </a:rPr>
              <a:t>双实例：</a:t>
            </a:r>
            <a:r>
              <a:rPr lang="en-US" altLang="zh-CN" sz="1200">
                <a:solidFill>
                  <a:srgbClr val="B8C1BA"/>
                </a:solidFill>
              </a:rPr>
              <a:t>6 </a:t>
            </a:r>
            <a:r>
              <a:rPr lang="zh-CN" altLang="en-US" sz="1200">
                <a:solidFill>
                  <a:srgbClr val="B8C1BA"/>
                </a:solidFill>
              </a:rPr>
              <a:t>场景 </a:t>
            </a:r>
            <a:r>
              <a:rPr lang="en-US" altLang="zh-CN" sz="1200">
                <a:solidFill>
                  <a:srgbClr val="B8C1BA"/>
                </a:solidFill>
              </a:rPr>
              <a:t>/ 125 </a:t>
            </a:r>
            <a:r>
              <a:rPr lang="zh-CN" altLang="en-US" sz="1200">
                <a:solidFill>
                  <a:srgbClr val="B8C1BA"/>
                </a:solidFill>
              </a:rPr>
              <a:t>请求 </a:t>
            </a:r>
            <a:r>
              <a:rPr lang="en-US" altLang="zh-CN" sz="1200">
                <a:solidFill>
                  <a:srgbClr val="B8C1BA"/>
                </a:solidFill>
              </a:rPr>
              <a:t>/ P95 119 ms</a:t>
            </a:r>
          </a:p>
          <a:p>
            <a:pPr marL="0" indent="0">
              <a:buNone/>
            </a:pPr>
            <a:r>
              <a:rPr lang="en-US" altLang="zh-CN" sz="1200">
                <a:solidFill>
                  <a:srgbClr val="B8C1BA"/>
                </a:solidFill>
              </a:rPr>
              <a:t>86 </a:t>
            </a:r>
            <a:r>
              <a:rPr lang="zh-CN" altLang="en-US" sz="1200">
                <a:solidFill>
                  <a:srgbClr val="B8C1BA"/>
                </a:solidFill>
              </a:rPr>
              <a:t>路由 </a:t>
            </a:r>
            <a:r>
              <a:rPr lang="en-US" altLang="zh-CN" sz="1200">
                <a:solidFill>
                  <a:srgbClr val="B8C1BA"/>
                </a:solidFill>
              </a:rPr>
              <a:t>/ 248 API / </a:t>
            </a:r>
            <a:r>
              <a:rPr lang="zh-CN" altLang="en-US" sz="1200">
                <a:solidFill>
                  <a:srgbClr val="B8C1BA"/>
                </a:solidFill>
              </a:rPr>
              <a:t>浏览器异常为 </a:t>
            </a:r>
            <a:r>
              <a:rPr lang="en-US" altLang="zh-CN" sz="1200">
                <a:solidFill>
                  <a:srgbClr val="B8C1BA"/>
                </a:solidFill>
              </a:rPr>
              <a:t>0</a:t>
            </a:r>
            <a:endParaRPr sz="1200">
              <a:solidFill>
                <a:srgbClr val="B8C1B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20150" y="59245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6E7B74"/>
                </a:solidFill>
              </a:defRPr>
            </a:pPr>
            <a:r>
              <a:rPr sz="825" b="0">
                <a:solidFill>
                  <a:srgbClr val="6E7B74"/>
                </a:solidFill>
              </a:rPr>
              <a:t>验证日期：2026-07-27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A74A3C"/>
                </a:solidFill>
              </a:defRPr>
            </a:pPr>
            <a:r>
              <a:rPr sz="900" b="1">
                <a:solidFill>
                  <a:srgbClr val="A74A3C"/>
                </a:solidFill>
              </a:rPr>
              <a:t>15 · DELIVERY</a:t>
            </a:r>
          </a:p>
        </p:txBody>
      </p:sp>
      <p:sp>
        <p:nvSpPr>
          <p:cNvPr id="3" name="slide-16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201C"/>
                </a:solidFill>
              </a:defRPr>
            </a:pPr>
            <a:r>
              <a:rPr sz="2700" b="1">
                <a:solidFill>
                  <a:srgbClr val="17201C"/>
                </a:solidFill>
              </a:rPr>
              <a:t>一个新手也能在四步内把系统跑起来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766F"/>
                </a:solidFill>
              </a:defRPr>
            </a:pPr>
            <a:r>
              <a:rPr sz="1200" b="0">
                <a:solidFill>
                  <a:srgbClr val="6E766F"/>
                </a:solidFill>
              </a:rPr>
              <a:t>SQL 只有一个入口，中间件默认关闭，先跑通核心功能再启用增强。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AAA29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AAA294"/>
                </a:solidFill>
              </a:defRPr>
            </a:pPr>
            <a:r>
              <a:rPr sz="750" b="0">
                <a:solidFill>
                  <a:srgbClr val="AAA294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AAA294"/>
                </a:solidFill>
              </a:defRPr>
            </a:pPr>
            <a:r>
              <a:rPr sz="825" b="1">
                <a:solidFill>
                  <a:srgbClr val="AAA294"/>
                </a:solidFill>
              </a:rPr>
              <a:t>16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2076450"/>
            <a:ext cx="2209800" cy="1962150"/>
          </a:xfrm>
          <a:prstGeom prst="roundRect">
            <a:avLst>
              <a:gd name="adj" fmla="val 2913"/>
            </a:avLst>
          </a:prstGeom>
          <a:solidFill>
            <a:srgbClr val="F9F6EF"/>
          </a:solidFill>
          <a:ln w="9525">
            <a:solidFill>
              <a:srgbClr val="A74A3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2266950"/>
            <a:ext cx="62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A74A3C"/>
                </a:solidFill>
              </a:defRPr>
            </a:pPr>
            <a:r>
              <a:rPr sz="1800" b="1">
                <a:solidFill>
                  <a:srgbClr val="A74A3C"/>
                </a:solidFill>
              </a:rPr>
              <a:t>01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28003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17201C"/>
                </a:solidFill>
              </a:defRPr>
            </a:pPr>
            <a:r>
              <a:rPr sz="1575" b="1">
                <a:solidFill>
                  <a:srgbClr val="17201C"/>
                </a:solidFill>
              </a:rPr>
              <a:t>初始化 MySQL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3450" y="3333750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6E766F"/>
                </a:solidFill>
              </a:defRPr>
            </a:pPr>
            <a:r>
              <a:rPr sz="1050" b="0">
                <a:solidFill>
                  <a:srgbClr val="6E766F"/>
                </a:solidFill>
              </a:rPr>
              <a:t>执行 sql/init-dark-room-library.sql</a:t>
            </a: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429000" y="2076450"/>
            <a:ext cx="2209800" cy="1962150"/>
          </a:xfrm>
          <a:prstGeom prst="roundRect">
            <a:avLst>
              <a:gd name="adj" fmla="val 2913"/>
            </a:avLst>
          </a:prstGeom>
          <a:solidFill>
            <a:srgbClr val="E6E0D3"/>
          </a:solidFill>
          <a:ln w="9525">
            <a:solidFill>
              <a:srgbClr val="B8B0A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38550" y="2266950"/>
            <a:ext cx="62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5E8074"/>
                </a:solidFill>
              </a:defRPr>
            </a:pPr>
            <a:r>
              <a:rPr sz="1800" b="1">
                <a:solidFill>
                  <a:srgbClr val="5E8074"/>
                </a:solidFill>
              </a:rPr>
              <a:t>02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38550" y="28003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17201C"/>
                </a:solidFill>
              </a:defRPr>
            </a:pPr>
            <a:r>
              <a:rPr sz="1575" b="1">
                <a:solidFill>
                  <a:srgbClr val="17201C"/>
                </a:solidFill>
              </a:rPr>
              <a:t>启动后端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38550" y="3333750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6E766F"/>
                </a:solidFill>
              </a:defRPr>
            </a:pPr>
            <a:r>
              <a:rPr sz="1050" b="0">
                <a:solidFill>
                  <a:srgbClr val="6E766F"/>
                </a:solidFill>
              </a:rPr>
              <a:t>mvn spring-boot:run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134100" y="2076450"/>
            <a:ext cx="2209800" cy="1962150"/>
          </a:xfrm>
          <a:prstGeom prst="roundRect">
            <a:avLst>
              <a:gd name="adj" fmla="val 2913"/>
            </a:avLst>
          </a:prstGeom>
          <a:solidFill>
            <a:srgbClr val="F9F6EF"/>
          </a:solidFill>
          <a:ln w="9525">
            <a:solidFill>
              <a:srgbClr val="B8B0A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343650" y="2266950"/>
            <a:ext cx="62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5E8074"/>
                </a:solidFill>
              </a:defRPr>
            </a:pPr>
            <a:r>
              <a:rPr sz="1800" b="1">
                <a:solidFill>
                  <a:srgbClr val="5E8074"/>
                </a:solidFill>
              </a:rPr>
              <a:t>03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43650" y="28003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17201C"/>
                </a:solidFill>
              </a:defRPr>
            </a:pPr>
            <a:r>
              <a:rPr sz="1575" b="1">
                <a:solidFill>
                  <a:srgbClr val="17201C"/>
                </a:solidFill>
              </a:rPr>
              <a:t>启动前端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43650" y="3333750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6E766F"/>
                </a:solidFill>
              </a:defRPr>
            </a:pPr>
            <a:r>
              <a:rPr sz="1050" b="0">
                <a:solidFill>
                  <a:srgbClr val="6E766F"/>
                </a:solidFill>
              </a:rPr>
              <a:t>npm ci  /  npm run dev</a:t>
            </a: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839200" y="2076450"/>
            <a:ext cx="2209800" cy="1962150"/>
          </a:xfrm>
          <a:prstGeom prst="roundRect">
            <a:avLst>
              <a:gd name="adj" fmla="val 2913"/>
            </a:avLst>
          </a:prstGeom>
          <a:solidFill>
            <a:srgbClr val="E6E0D3"/>
          </a:solidFill>
          <a:ln w="9525">
            <a:solidFill>
              <a:srgbClr val="B8B0A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048750" y="2266950"/>
            <a:ext cx="62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5E8074"/>
                </a:solidFill>
              </a:defRPr>
            </a:pPr>
            <a:r>
              <a:rPr sz="1800" b="1">
                <a:solidFill>
                  <a:srgbClr val="5E8074"/>
                </a:solidFill>
              </a:rPr>
              <a:t>04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48750" y="28003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17201C"/>
                </a:solidFill>
              </a:defRPr>
            </a:pPr>
            <a:r>
              <a:rPr sz="1575" b="1">
                <a:solidFill>
                  <a:srgbClr val="17201C"/>
                </a:solidFill>
              </a:rPr>
              <a:t>打开浏览器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48750" y="3333750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6E766F"/>
                </a:solidFill>
              </a:defRPr>
            </a:pPr>
            <a:r>
              <a:rPr sz="1050" b="0">
                <a:solidFill>
                  <a:srgbClr val="6E766F"/>
                </a:solidFill>
              </a:rPr>
              <a:t>http://localhost:5175</a:t>
            </a:r>
          </a:p>
        </p:txBody>
      </p:sp>
      <p:cxnSp>
        <p:nvCxnSpPr>
          <p:cNvPr id="251" name="直接箭头连接符 50"/>
          <p:cNvCxnSpPr>
            <a:stCxn id="7" idx="3"/>
            <a:endCxn id="11" idx="1"/>
          </p:cNvCxnSpPr>
          <p:nvPr/>
        </p:nvCxnSpPr>
        <p:spPr>
          <a:xfrm>
            <a:off x="2933700" y="3057525"/>
            <a:ext cx="495300" cy="0"/>
          </a:xfrm>
          <a:prstGeom prst="straightConnector1">
            <a:avLst/>
          </a:prstGeom>
          <a:ln w="19050">
            <a:solidFill>
              <a:srgbClr val="87978F"/>
            </a:solidFill>
            <a:prstDash val="solid"/>
            <a:tailEnd type="arrow" w="med" len="med"/>
          </a:ln>
        </p:spPr>
      </p:cxnSp>
      <p:cxnSp>
        <p:nvCxnSpPr>
          <p:cNvPr id="252" name="直接箭头连接符 51"/>
          <p:cNvCxnSpPr>
            <a:stCxn id="11" idx="3"/>
            <a:endCxn id="15" idx="1"/>
          </p:cNvCxnSpPr>
          <p:nvPr/>
        </p:nvCxnSpPr>
        <p:spPr>
          <a:xfrm>
            <a:off x="5638800" y="3057525"/>
            <a:ext cx="495300" cy="0"/>
          </a:xfrm>
          <a:prstGeom prst="straightConnector1">
            <a:avLst/>
          </a:prstGeom>
          <a:ln w="19050">
            <a:solidFill>
              <a:srgbClr val="87978F"/>
            </a:solidFill>
            <a:prstDash val="solid"/>
            <a:tailEnd type="arrow" w="med" len="med"/>
          </a:ln>
        </p:spPr>
      </p:cxnSp>
      <p:cxnSp>
        <p:nvCxnSpPr>
          <p:cNvPr id="253" name="直接箭头连接符 52"/>
          <p:cNvCxnSpPr>
            <a:stCxn id="15" idx="3"/>
            <a:endCxn id="19" idx="1"/>
          </p:cNvCxnSpPr>
          <p:nvPr/>
        </p:nvCxnSpPr>
        <p:spPr>
          <a:xfrm>
            <a:off x="8343900" y="3057525"/>
            <a:ext cx="495300" cy="0"/>
          </a:xfrm>
          <a:prstGeom prst="straightConnector1">
            <a:avLst/>
          </a:prstGeom>
          <a:ln w="19050">
            <a:solidFill>
              <a:srgbClr val="87978F"/>
            </a:solidFill>
            <a:prstDash val="solid"/>
            <a:tailEnd type="arrow" w="med" len="med"/>
          </a:ln>
        </p:spPr>
      </p:cxnSp>
      <p:sp>
        <p:nvSpPr>
          <p:cNvPr id="26" name="圆角矩形 25"/>
          <p:cNvSpPr>
            <a:spLocks noGrp="1"/>
          </p:cNvSpPr>
          <p:nvPr/>
        </p:nvSpPr>
        <p:spPr>
          <a:xfrm>
            <a:off x="723900" y="4705350"/>
            <a:ext cx="10477500" cy="1066800"/>
          </a:xfrm>
          <a:prstGeom prst="roundRect">
            <a:avLst>
              <a:gd name="adj" fmla="val 4464"/>
            </a:avLst>
          </a:prstGeom>
          <a:solidFill>
            <a:srgbClr val="E4DED0"/>
          </a:solidFill>
          <a:ln w="9525">
            <a:solidFill>
              <a:srgbClr val="B8B0A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09650" y="49339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7201C"/>
                </a:solidFill>
              </a:defRPr>
            </a:pPr>
            <a:r>
              <a:rPr lang="zh-CN" altLang="en-US" sz="1350" b="1">
                <a:solidFill>
                  <a:srgbClr val="17201C"/>
                </a:solidFill>
              </a:rPr>
              <a:t>演示账号由初始化 </a:t>
            </a:r>
            <a:r>
              <a:rPr lang="en-US" altLang="zh-CN" sz="1350" b="1">
                <a:solidFill>
                  <a:srgbClr val="17201C"/>
                </a:solidFill>
              </a:rPr>
              <a:t>SQL </a:t>
            </a:r>
            <a:r>
              <a:rPr lang="zh-CN" altLang="en-US" sz="1350" b="1">
                <a:solidFill>
                  <a:srgbClr val="17201C"/>
                </a:solidFill>
              </a:rPr>
              <a:t>写入，仅用于本地验收</a:t>
            </a:r>
            <a:endParaRPr sz="1350" b="1">
              <a:solidFill>
                <a:srgbClr val="17201C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09650" y="5314950"/>
            <a:ext cx="790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E766F"/>
                </a:solidFill>
              </a:defRPr>
            </a:pPr>
            <a:r>
              <a:rPr lang="zh-CN" altLang="en-US" sz="1200" b="0">
                <a:solidFill>
                  <a:srgbClr val="6E766F"/>
                </a:solidFill>
              </a:rPr>
              <a:t>统一密码见 </a:t>
            </a:r>
            <a:r>
              <a:rPr lang="en-US" altLang="zh-CN" sz="1200" b="0">
                <a:solidFill>
                  <a:srgbClr val="6E766F"/>
                </a:solidFill>
              </a:rPr>
              <a:t>README</a:t>
            </a:r>
            <a:r>
              <a:rPr lang="zh-CN" altLang="en-US" sz="1200" b="0">
                <a:solidFill>
                  <a:srgbClr val="6E766F"/>
                </a:solidFill>
              </a:rPr>
              <a:t>；公网部署前删除或改密，中间件按需启用。</a:t>
            </a:r>
            <a:endParaRPr sz="1200" b="0">
              <a:solidFill>
                <a:srgbClr val="6E766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B48A55"/>
                </a:solidFill>
              </a:defRPr>
            </a:pPr>
            <a:r>
              <a:rPr sz="900" b="1">
                <a:solidFill>
                  <a:srgbClr val="B48A55"/>
                </a:solidFill>
              </a:rPr>
              <a:t>16 · ENGINEERING JUDGMENT</a:t>
            </a:r>
          </a:p>
        </p:txBody>
      </p:sp>
      <p:sp>
        <p:nvSpPr>
          <p:cNvPr id="3" name="slide-17-title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F7F3EA"/>
                </a:solidFill>
              </a:defRPr>
            </a:pPr>
            <a:r>
              <a:rPr sz="2700" b="1">
                <a:solidFill>
                  <a:srgbClr val="F7F3EA"/>
                </a:solidFill>
              </a:rPr>
              <a:t>有意识地统一边界，才让项目保持可维护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276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技术选择、版本与公开说明都必须服从可验证事实。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685800" y="6486525"/>
            <a:ext cx="10820400" cy="0"/>
          </a:xfrm>
          <a:prstGeom prst="line">
            <a:avLst/>
          </a:prstGeom>
          <a:noFill/>
          <a:ln w="9525">
            <a:solidFill>
              <a:srgbClr val="66736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5532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6736C"/>
                </a:solidFill>
              </a:defRPr>
            </a:pPr>
            <a:r>
              <a:rPr sz="750" b="0">
                <a:solidFill>
                  <a:srgbClr val="66736C"/>
                </a:solidFill>
              </a:rPr>
              <a:t>DARKROOM LIBRARY · PROJECT OVERVIEW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53750" y="65436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1">
                <a:solidFill>
                  <a:srgbClr val="66736C"/>
                </a:solidFill>
              </a:defRPr>
            </a:pPr>
            <a:r>
              <a:rPr sz="825" b="1">
                <a:solidFill>
                  <a:srgbClr val="66736C"/>
                </a:solidFill>
              </a:rPr>
              <a:t>17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8097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A74A3C"/>
                </a:solidFill>
              </a:defRPr>
            </a:pPr>
            <a:r>
              <a:rPr sz="1575" b="1">
                <a:solidFill>
                  <a:srgbClr val="A74A3C"/>
                </a:solidFill>
              </a:rPr>
              <a:t>不保留 Vue 2 双轨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86150" y="1819275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前端统一到 Vue 3 + Vite，避免两套脚手架长期并存</a:t>
            </a: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781050" y="2343150"/>
            <a:ext cx="10325100" cy="0"/>
          </a:xfrm>
          <a:prstGeom prst="line">
            <a:avLst/>
          </a:prstGeom>
          <a:noFill/>
          <a:ln w="9525">
            <a:solidFill>
              <a:srgbClr val="33413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26479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B48A55"/>
                </a:solidFill>
              </a:defRPr>
            </a:pPr>
            <a:r>
              <a:rPr sz="1575" b="1">
                <a:solidFill>
                  <a:srgbClr val="B48A55"/>
                </a:solidFill>
              </a:rPr>
              <a:t>不伪造 Git 历史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86150" y="2657475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Git 中途加入，首次提交只代表审查后的公开基线</a:t>
            </a: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781050" y="3181350"/>
            <a:ext cx="10325100" cy="0"/>
          </a:xfrm>
          <a:prstGeom prst="line">
            <a:avLst/>
          </a:prstGeom>
          <a:noFill/>
          <a:ln w="9525">
            <a:solidFill>
              <a:srgbClr val="33413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3486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5E8074"/>
                </a:solidFill>
              </a:defRPr>
            </a:pPr>
            <a:r>
              <a:rPr sz="1575" b="1">
                <a:solidFill>
                  <a:srgbClr val="5E8074"/>
                </a:solidFill>
              </a:rPr>
              <a:t>不引入 TCC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86150" y="3495675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当前事务边界在单库内，补偿复杂度没有收益</a:t>
            </a: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781050" y="4019550"/>
            <a:ext cx="10325100" cy="0"/>
          </a:xfrm>
          <a:prstGeom prst="line">
            <a:avLst/>
          </a:prstGeom>
          <a:noFill/>
          <a:ln w="9525">
            <a:solidFill>
              <a:srgbClr val="33413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43243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8CA0B0"/>
                </a:solidFill>
              </a:defRPr>
            </a:pPr>
            <a:r>
              <a:rPr sz="1575" b="1">
                <a:solidFill>
                  <a:srgbClr val="8CA0B0"/>
                </a:solidFill>
              </a:rPr>
              <a:t>不强上 Elasticsearch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486150" y="4333875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现有数据规模用 MySQL 检索足够，先保留演进空间</a:t>
            </a: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81050" y="4857750"/>
            <a:ext cx="10325100" cy="0"/>
          </a:xfrm>
          <a:prstGeom prst="line">
            <a:avLst/>
          </a:prstGeom>
          <a:noFill/>
          <a:ln w="9525">
            <a:solidFill>
              <a:srgbClr val="334139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51625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AE9CB4"/>
                </a:solidFill>
              </a:defRPr>
            </a:pPr>
            <a:r>
              <a:rPr sz="1575" b="1">
                <a:solidFill>
                  <a:srgbClr val="AE9CB4"/>
                </a:solidFill>
              </a:rPr>
              <a:t>大模型不直写数据库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486150" y="5172075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B8C1BA"/>
                </a:solidFill>
              </a:defRPr>
            </a:pPr>
            <a:r>
              <a:rPr sz="1200" b="0">
                <a:solidFill>
                  <a:srgbClr val="B8C1BA"/>
                </a:solidFill>
              </a:rPr>
              <a:t>未来可做只读馆员助手，核心业务仍由确定性规则控制</a:t>
            </a: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781050" y="5695950"/>
            <a:ext cx="10325100" cy="0"/>
          </a:xfrm>
          <a:prstGeom prst="line">
            <a:avLst/>
          </a:prstGeom>
          <a:noFill/>
          <a:ln w="9525">
            <a:solidFill>
              <a:srgbClr val="334139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781050" y="5810250"/>
            <a:ext cx="10325100" cy="342900"/>
          </a:xfrm>
          <a:prstGeom prst="roundRect">
            <a:avLst>
              <a:gd name="adj" fmla="val 8333"/>
            </a:avLst>
          </a:prstGeom>
          <a:solidFill>
            <a:srgbClr val="202E27"/>
          </a:solidFill>
          <a:ln w="9525">
            <a:solidFill>
              <a:srgbClr val="46574E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143000" y="5886450"/>
            <a:ext cx="960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7F3EA"/>
                </a:solidFill>
              </a:defRPr>
            </a:pPr>
            <a:r>
              <a:rPr sz="1125" b="1">
                <a:solidFill>
                  <a:srgbClr val="F7F3EA"/>
                </a:solidFill>
              </a:rPr>
              <a:t>复杂度和叙事都必须服从可验证的事实。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A74A3C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781050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B48A55"/>
                </a:solidFill>
              </a:defRPr>
            </a:pPr>
            <a:r>
              <a:rPr sz="3150" b="1">
                <a:solidFill>
                  <a:srgbClr val="B48A55"/>
                </a:solidFill>
              </a:rPr>
              <a:t>暗室藏书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94310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F7F3EA"/>
                </a:solidFill>
              </a:defRPr>
            </a:pPr>
            <a:r>
              <a:rPr sz="2700" b="1">
                <a:solidFill>
                  <a:srgbClr val="F7F3EA"/>
                </a:solidFill>
              </a:rPr>
              <a:t>项目的价值，不是功能多，</a:t>
            </a:r>
          </a:p>
          <a:p>
            <a:pPr algn="l">
              <a:buNone/>
              <a:defRPr sz="2700" b="1">
                <a:solidFill>
                  <a:srgbClr val="F7F3EA"/>
                </a:solidFill>
              </a:defRPr>
            </a:pPr>
            <a:r>
              <a:rPr sz="2700" b="1">
                <a:solidFill>
                  <a:srgbClr val="F7F3EA"/>
                </a:solidFill>
              </a:rPr>
              <a:t>而是每条链路都有开始、有结果、有证据。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800100" y="3714750"/>
            <a:ext cx="6096000" cy="0"/>
          </a:xfrm>
          <a:prstGeom prst="line">
            <a:avLst/>
          </a:prstGeom>
          <a:noFill/>
          <a:ln w="19050">
            <a:solidFill>
              <a:srgbClr val="53635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41148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A74A3C"/>
                </a:solidFill>
              </a:defRPr>
            </a:pPr>
            <a:r>
              <a:rPr sz="1725" b="1">
                <a:solidFill>
                  <a:srgbClr val="A74A3C"/>
                </a:solidFill>
              </a:rPr>
              <a:t>业务闭环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667000" y="41148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5E8074"/>
                </a:solidFill>
              </a:defRPr>
            </a:pPr>
            <a:r>
              <a:rPr sz="1725" b="1">
                <a:solidFill>
                  <a:srgbClr val="5E8074"/>
                </a:solidFill>
              </a:rPr>
              <a:t>可降级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76750" y="41148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B48A55"/>
                </a:solidFill>
              </a:defRPr>
            </a:pPr>
            <a:r>
              <a:rPr sz="1725" b="1">
                <a:solidFill>
                  <a:srgbClr val="B48A55"/>
                </a:solidFill>
              </a:rPr>
              <a:t>可验证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41148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9AA8B8"/>
                </a:solidFill>
              </a:defRPr>
            </a:pPr>
            <a:r>
              <a:rPr sz="1725" b="1">
                <a:solidFill>
                  <a:srgbClr val="9AA8B8"/>
                </a:solidFill>
              </a:rPr>
              <a:t>可交付</a:t>
            </a: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9525000" y="1790700"/>
            <a:ext cx="1428750" cy="1428750"/>
          </a:xfrm>
          <a:prstGeom prst="ellipse">
            <a:avLst/>
          </a:prstGeom>
          <a:noFill/>
          <a:ln w="38100">
            <a:solidFill>
              <a:srgbClr val="A74A3C"/>
            </a:solidFill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A74A3C"/>
                </a:solidFill>
              </a:defRPr>
            </a:pPr>
            <a:r>
              <a:rPr sz="2250" b="1">
                <a:solidFill>
                  <a:srgbClr val="A74A3C"/>
                </a:solidFill>
              </a:rPr>
              <a:t>DRL</a:t>
            </a:r>
          </a:p>
          <a:p>
            <a:pPr algn="ctr">
              <a:buNone/>
              <a:defRPr sz="2250" b="1">
                <a:solidFill>
                  <a:srgbClr val="A74A3C"/>
                </a:solidFill>
              </a:defRPr>
            </a:pPr>
            <a:r>
              <a:rPr sz="2250" b="1">
                <a:solidFill>
                  <a:srgbClr val="A74A3C"/>
                </a:solidFill>
              </a:rPr>
              <a:t>完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525780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B8C1BA"/>
                </a:solidFill>
              </a:defRPr>
            </a:pPr>
            <a:r>
              <a:rPr sz="1500" b="0">
                <a:solidFill>
                  <a:srgbClr val="B8C1BA"/>
                </a:solidFill>
              </a:rPr>
              <a:t>一套能运行、能解释、能维护，也诚实说明来路的系统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59436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68756E"/>
                </a:solidFill>
              </a:defRPr>
            </a:pPr>
            <a:r>
              <a:rPr sz="975" b="0">
                <a:solidFill>
                  <a:srgbClr val="68756E"/>
                </a:solidFill>
              </a:rPr>
              <a:t>DarkRoomLibrary · 2026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1913</Words>
  <Application>Microsoft Office PowerPoint</Application>
  <PresentationFormat>宽屏</PresentationFormat>
  <Paragraphs>390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药 药</cp:lastModifiedBy>
  <cp:revision>3</cp:revision>
  <dcterms:created xsi:type="dcterms:W3CDTF">2026-07-27T09:54:56Z</dcterms:created>
  <dcterms:modified xsi:type="dcterms:W3CDTF">2026-07-27T10:45:34Z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30A6E4D009D84E038A67E12062F87921_12</vt:lpwstr>
  </property>
  <property fmtid="{D5CDD505-2E9C-101B-9397-08002B2CF9AE}" pid="3" name="KSOProductBuildVer">
    <vt:lpwstr>2052-12.1.0.26895</vt:lpwstr>
  </property>
</Properties>
</file>